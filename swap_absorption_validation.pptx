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4bdf722c-6915-9a6e-8db1-a8849d42a860}">
          <p14:sldIdLst>
            <p14:sldId id="256"/>
            <p14:sldId id="257"/>
          </p14:sldIdLst>
        </p14:section>
        <p14:section name="The pass" id="{72a84f57-45d5-cad5-2e57-a0a1af84cc95}">
          <p14:sldIdLst>
            <p14:sldId id="258"/>
            <p14:sldId id="259"/>
          </p14:sldIdLst>
        </p14:section>
        <p14:section name="The comparison" id="{24f68c97-1f76-f096-a546-84e8cc24df0a}">
          <p14:sldIdLst>
            <p14:sldId id="260"/>
            <p14:sldId id="261"/>
          </p14:sldIdLst>
        </p14:section>
        <p14:section name="Provenance" id="{7ee1b671-94fa-74fe-a3da-374177834d6f}">
          <p14:sldIdLst>
            <p14:sldId id="262"/>
            <p14:sldId id="263"/>
          </p14:sldIdLst>
        </p14:section>
        <p14:section name="How a case runs" id="{8fce4021-14be-e8b4-6efc-10c86e933cd0}">
          <p14:sldIdLst>
            <p14:sldId id="264"/>
            <p14:sldId id="265"/>
            <p14:sldId id="266"/>
          </p14:sldIdLst>
        </p14:section>
        <p14:section name="The checks" id="{95cb0d5b-4a54-5207-e4b4-e7da0631c0ed}">
          <p14:sldIdLst>
            <p14:sldId id="267"/>
            <p14:sldId id="268"/>
            <p14:sldId id="269"/>
            <p14:sldId id="270"/>
            <p14:sldId id="271"/>
          </p14:sldIdLst>
        </p14:section>
        <p14:section name="Evidence" id="{9ad1460d-ada9-8efe-50ed-b91958456de7}">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walks through what the validation repository checks, how one case runs twice (absorption enabled and disabled), what counts as a changed circuit, why the comparison is strict equality, and how the recorded evidence is tied to the exact revision and compiled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claims: correctness of the complete preset pipeline with and without the pass, and a real effect of the pass in every case. Both are checked against the same input, in the same checkout,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swaps cost three CX each; a swap followed by an interaction on the same pair can be synthesized together more cheaply. The pass moves the interaction exactly, across operations it commutes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never calls the pass directly in the main matrix. It builds the real preset pass manager and lets the pass run where users meet it: first task of the translation stage. The disabled run is the same pipeline with that one task made a no-op.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case transpiles the same prepared input twice in the same process: once with the real pass, once with the pass patched to return its input unchanged. Both outputs must be exact; then the two outputs are compared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changed circuit means a different gate DAG, not a different phase or layout. Every case must change; gate counts and depth are recorded for both runs but are not required to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Python environment can substitute for the checkout: the venv has no qiskit package at all. The runner puts the checkout first on sys.path and checks, before building a circuit, that it imported exactly that tree. Both runs of every case use this one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Rebuilding from the current source on 2026-10-28 reproduced the exact binary the validation loads, and the 2026-10-29 run records the same hash, so the results describe the Rust code at this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case is one fixture, one seed and one level, transpiled twice. It is recorded whether it passes or not; a fixture that fails to build is recorded as failing for every seed instead of aborting the run. A failure of either output, or of the change check, fails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settings pin layout and routing so the final permutation comes from routing alone, demand exact synthesis, and require correctness for arbitrary input states. Both runs of a case use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algorithms chosen and embedded so that every seed at both levels makes at least one absorption move: diagonal interactions, CX-rich arithmetic and phase-heavy ansätze. Five earlier random and quantum-volume families were removed after the baseline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reviewer asked for assertEqual instead of equiv. The repository compares with ==, which includes global phase, for the enabled output and for the disabled control alike; this slide shows what each comparison certifies.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comparison in the repository is strict, both outputs of every case go through it, and from_circuit is what makes the comparison layout-aware.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that can never fail proves nothing, so a passing case with a real permutation is broken twice, and both breaks must be detected. The reporter checks that the chosen case really is a passing one with a non-identity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checks pin down the preset placement and the four kinds of unit the pass moves, independently of routing.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guards: a non-commuting gate, a barrier, a terminal wire, and an intervening swap each block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reporter treats the results file as evidence to audit: it recomputes totals from the case records, refuses a file that a run left incomplete, and refuses PASS unless the records form exactly the expected matrix with moves and changes in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repository folder. The validation needs the checkout to be built; the reporter and the unit tests need only a standard Python. Chain the two scripts with &amp;&amp; so a failed run never regenerates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deck described a two-checkout comparison over 16 circuits and 192 cases. The suite now isolates the pass within one checkout, requires an effect in every case, and audits its own evidence more strictly.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run on the machine that holds the checkout; the full matrix on 2026-10-29, the unit tests and report regeneration on 2026-10-29, the rebuild and Qiskit's own tests on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SWAP-Absorption Validation  ·  2026-10-29</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A1F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74520"/>
            <a:ext cx="1051560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A1F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731520"/>
            <a:ext cx="105156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554480"/>
            <a:ext cx="7315200" cy="274320"/>
          </a:xfrm>
          <a:prstGeom prst="rect">
            <a:avLst/>
          </a:prstGeom>
          <a:noFill/>
          <a:ln/>
        </p:spPr>
        <p:txBody>
          <a:bodyPr wrap="square" lIns="0" tIns="0" rIns="0" bIns="0" rtlCol="0" anchor="t"/>
          <a:lstStyle/>
          <a:p>
            <a:pPr algn="l" indent="0" marL="0">
              <a:buNone/>
            </a:pPr>
            <a:r>
              <a:rPr lang="en-US" sz="1100" b="1" dirty="0">
                <a:solidFill>
                  <a:schemeClr val="accent5"/>
                </a:solidFill>
              </a:rPr>
              <a:t>REPOSITORY WALKTHROUGH</a:t>
            </a:r>
            <a:endParaRPr lang="en-US" sz="1100" dirty="0"/>
          </a:p>
        </p:txBody>
      </p:sp>
      <p:sp>
        <p:nvSpPr>
          <p:cNvPr id="3" name="Text 0"/>
          <p:cNvSpPr/>
          <p:nvPr>
            <p:ph idx="100" type="title" hasCustomPrompt="1"/>
          </p:nvPr>
        </p:nvSpPr>
        <p:spPr>
          <a:xfrm>
            <a:off x="822960" y="1874520"/>
            <a:ext cx="10515600" cy="914400"/>
          </a:xfrm>
          <a:prstGeom prst="rect">
            <a:avLst/>
          </a:prstGeom>
          <a:noFill/>
          <a:ln/>
        </p:spPr>
        <p:txBody>
          <a:bodyPr wrap="square" lIns="0" tIns="0" rIns="0" bIns="0" rtlCol="0" anchor="ctr"/>
          <a:lstStyle/>
          <a:p>
            <a:pPr algn="l" indent="0" marL="0">
              <a:buNone/>
            </a:pPr>
            <a:r>
              <a:rPr lang="en-US" sz="4400" b="1" dirty="0">
                <a:solidFill>
                  <a:schemeClr val="bg1"/>
                </a:solidFill>
              </a:rPr>
              <a:t>SWAP-Absorption Validation</a:t>
            </a:r>
            <a:endParaRPr lang="en-US" sz="4400" dirty="0"/>
          </a:p>
        </p:txBody>
      </p:sp>
      <p:sp>
        <p:nvSpPr>
          <p:cNvPr id="4" name="Text 2"/>
          <p:cNvSpPr txBox="1"/>
          <p:nvPr/>
        </p:nvSpPr>
        <p:spPr>
          <a:xfrm>
            <a:off x="822960" y="2926080"/>
            <a:ext cx="9326880" cy="1097280"/>
          </a:xfrm>
          <a:prstGeom prst="rect">
            <a:avLst/>
          </a:prstGeom>
          <a:noFill/>
          <a:ln/>
        </p:spPr>
        <p:txBody>
          <a:bodyPr wrap="square" lIns="0" tIns="0" rIns="0" bIns="0" rtlCol="0" anchor="t"/>
          <a:lstStyle/>
          <a:p>
            <a:pPr algn="l" indent="0" marL="0">
              <a:lnSpc>
                <a:spcPct val="110000"/>
              </a:lnSpc>
              <a:buNone/>
            </a:pPr>
            <a:r>
              <a:rPr lang="en-US" sz="1800" dirty="0">
                <a:solidFill>
                  <a:schemeClr val="accent5"/>
                </a:solidFill>
              </a:rPr>
              <a:t>How the validation harness proves that Qiskit's swap-absorption pass keeps the preset transpilation pipeline exact and really changes the circuits it touches, by running the same pipeline with the pass enabled and disabled inside one checkout.</a:t>
            </a:r>
            <a:endParaRPr lang="en-US" sz="1800" dirty="0"/>
          </a:p>
        </p:txBody>
      </p:sp>
      <p:sp>
        <p:nvSpPr>
          <p:cNvPr id="5" name="Shape 3"/>
          <p:cNvSpPr/>
          <p:nvPr/>
        </p:nvSpPr>
        <p:spPr>
          <a:xfrm>
            <a:off x="822960" y="4434840"/>
            <a:ext cx="2057400" cy="365760"/>
          </a:xfrm>
          <a:prstGeom prst="roundRect">
            <a:avLst>
              <a:gd name="adj" fmla="val 50000"/>
            </a:avLst>
          </a:prstGeom>
          <a:solidFill>
            <a:schemeClr val="accent3"/>
          </a:solidFill>
          <a:ln w="12700">
            <a:solidFill>
              <a:schemeClr val="accent3"/>
            </a:solidFill>
            <a:prstDash val="solid"/>
          </a:ln>
        </p:spPr>
      </p:sp>
      <p:sp>
        <p:nvSpPr>
          <p:cNvPr id="6" name="Text 4"/>
          <p:cNvSpPr txBox="1"/>
          <p:nvPr/>
        </p:nvSpPr>
        <p:spPr>
          <a:xfrm>
            <a:off x="822960" y="4434840"/>
            <a:ext cx="2057400" cy="365760"/>
          </a:xfrm>
          <a:prstGeom prst="rect">
            <a:avLst/>
          </a:prstGeom>
          <a:noFill/>
          <a:ln/>
        </p:spPr>
        <p:txBody>
          <a:bodyPr wrap="square" lIns="0" tIns="0" rIns="0" bIns="0" rtlCol="0" anchor="ctr"/>
          <a:lstStyle/>
          <a:p>
            <a:pPr algn="ctr" indent="0" marL="0">
              <a:buNone/>
            </a:pPr>
            <a:r>
              <a:rPr lang="en-US" sz="1200" b="1" dirty="0">
                <a:solidFill>
                  <a:schemeClr val="bg1"/>
                </a:solidFill>
              </a:rPr>
              <a:t>PASS 132 / 132 cases</a:t>
            </a:r>
            <a:endParaRPr lang="en-US" sz="1200" dirty="0"/>
          </a:p>
        </p:txBody>
      </p:sp>
      <p:sp>
        <p:nvSpPr>
          <p:cNvPr id="7" name="Shape 5"/>
          <p:cNvSpPr/>
          <p:nvPr/>
        </p:nvSpPr>
        <p:spPr>
          <a:xfrm>
            <a:off x="3044952" y="4434840"/>
            <a:ext cx="1828800" cy="365760"/>
          </a:xfrm>
          <a:prstGeom prst="roundRect">
            <a:avLst>
              <a:gd name="adj" fmla="val 50000"/>
            </a:avLst>
          </a:prstGeom>
          <a:solidFill>
            <a:srgbClr val="1A1F23"/>
          </a:solidFill>
          <a:ln w="12700">
            <a:solidFill>
              <a:schemeClr val="accent5"/>
            </a:solidFill>
            <a:prstDash val="solid"/>
          </a:ln>
        </p:spPr>
      </p:sp>
      <p:sp>
        <p:nvSpPr>
          <p:cNvPr id="8" name="Text 6"/>
          <p:cNvSpPr txBox="1"/>
          <p:nvPr/>
        </p:nvSpPr>
        <p:spPr>
          <a:xfrm>
            <a:off x="3044952" y="4434840"/>
            <a:ext cx="1828800" cy="365760"/>
          </a:xfrm>
          <a:prstGeom prst="rect">
            <a:avLst/>
          </a:prstGeom>
          <a:noFill/>
          <a:ln/>
        </p:spPr>
        <p:txBody>
          <a:bodyPr wrap="square" lIns="0" tIns="0" rIns="0" bIns="0" rtlCol="0" anchor="ctr"/>
          <a:lstStyle/>
          <a:p>
            <a:pPr algn="ctr" indent="0" marL="0">
              <a:buNone/>
            </a:pPr>
            <a:r>
              <a:rPr lang="en-US" sz="1200" dirty="0">
                <a:solidFill>
                  <a:schemeClr val="accent5"/>
                </a:solidFill>
              </a:rPr>
              <a:t>Revision 6b5145d2e</a:t>
            </a:r>
            <a:endParaRPr lang="en-US" sz="1200" dirty="0"/>
          </a:p>
        </p:txBody>
      </p:sp>
      <p:sp>
        <p:nvSpPr>
          <p:cNvPr id="9" name="Shape 7"/>
          <p:cNvSpPr/>
          <p:nvPr/>
        </p:nvSpPr>
        <p:spPr>
          <a:xfrm>
            <a:off x="5038344" y="4434840"/>
            <a:ext cx="2377440" cy="365760"/>
          </a:xfrm>
          <a:prstGeom prst="roundRect">
            <a:avLst>
              <a:gd name="adj" fmla="val 50000"/>
            </a:avLst>
          </a:prstGeom>
          <a:solidFill>
            <a:srgbClr val="1A1F23"/>
          </a:solidFill>
          <a:ln w="12700">
            <a:solidFill>
              <a:schemeClr val="accent5"/>
            </a:solidFill>
            <a:prstDash val="solid"/>
          </a:ln>
        </p:spPr>
      </p:sp>
      <p:sp>
        <p:nvSpPr>
          <p:cNvPr id="10" name="Text 8"/>
          <p:cNvSpPr txBox="1"/>
          <p:nvPr/>
        </p:nvSpPr>
        <p:spPr>
          <a:xfrm>
            <a:off x="5038344" y="4434840"/>
            <a:ext cx="2377440" cy="365760"/>
          </a:xfrm>
          <a:prstGeom prst="rect">
            <a:avLst/>
          </a:prstGeom>
          <a:noFill/>
          <a:ln/>
        </p:spPr>
        <p:txBody>
          <a:bodyPr wrap="square" lIns="0" tIns="0" rIns="0" bIns="0" rtlCol="0" anchor="ctr"/>
          <a:lstStyle/>
          <a:p>
            <a:pPr algn="ctr" indent="0" marL="0">
              <a:buNone/>
            </a:pPr>
            <a:r>
              <a:rPr lang="en-US" sz="1200" dirty="0">
                <a:solidFill>
                  <a:schemeClr val="accent5"/>
                </a:solidFill>
              </a:rPr>
              <a:t>Qiskit 2.7.0.dev0+6b5145d</a:t>
            </a:r>
            <a:endParaRPr lang="en-US" sz="1200" dirty="0"/>
          </a:p>
        </p:txBody>
      </p:sp>
      <p:sp>
        <p:nvSpPr>
          <p:cNvPr id="11" name="Shape 9"/>
          <p:cNvSpPr/>
          <p:nvPr/>
        </p:nvSpPr>
        <p:spPr>
          <a:xfrm>
            <a:off x="7580376" y="4434840"/>
            <a:ext cx="1463040" cy="365760"/>
          </a:xfrm>
          <a:prstGeom prst="roundRect">
            <a:avLst>
              <a:gd name="adj" fmla="val 50000"/>
            </a:avLst>
          </a:prstGeom>
          <a:solidFill>
            <a:srgbClr val="1A1F23"/>
          </a:solidFill>
          <a:ln w="12700">
            <a:solidFill>
              <a:schemeClr val="accent5"/>
            </a:solidFill>
            <a:prstDash val="solid"/>
          </a:ln>
        </p:spPr>
      </p:sp>
      <p:sp>
        <p:nvSpPr>
          <p:cNvPr id="12" name="Text 10"/>
          <p:cNvSpPr txBox="1"/>
          <p:nvPr/>
        </p:nvSpPr>
        <p:spPr>
          <a:xfrm>
            <a:off x="7580376" y="4434840"/>
            <a:ext cx="1463040" cy="365760"/>
          </a:xfrm>
          <a:prstGeom prst="rect">
            <a:avLst/>
          </a:prstGeom>
          <a:noFill/>
          <a:ln/>
        </p:spPr>
        <p:txBody>
          <a:bodyPr wrap="square" lIns="0" tIns="0" rIns="0" bIns="0" rtlCol="0" anchor="ctr"/>
          <a:lstStyle/>
          <a:p>
            <a:pPr algn="ctr" indent="0" marL="0">
              <a:buNone/>
            </a:pPr>
            <a:r>
              <a:rPr lang="en-US" sz="1200" dirty="0">
                <a:solidFill>
                  <a:schemeClr val="accent5"/>
                </a:solidFill>
              </a:rPr>
              <a:t>Python 3.11.8</a:t>
            </a:r>
            <a:endParaRPr lang="en-US" sz="1200" dirty="0"/>
          </a:p>
        </p:txBody>
      </p:sp>
      <p:sp>
        <p:nvSpPr>
          <p:cNvPr id="13" name="Shape 11"/>
          <p:cNvSpPr/>
          <p:nvPr/>
        </p:nvSpPr>
        <p:spPr>
          <a:xfrm>
            <a:off x="9208008" y="4434840"/>
            <a:ext cx="1920240" cy="365760"/>
          </a:xfrm>
          <a:prstGeom prst="roundRect">
            <a:avLst>
              <a:gd name="adj" fmla="val 50000"/>
            </a:avLst>
          </a:prstGeom>
          <a:solidFill>
            <a:srgbClr val="1A1F23"/>
          </a:solidFill>
          <a:ln w="12700">
            <a:solidFill>
              <a:schemeClr val="accent5"/>
            </a:solidFill>
            <a:prstDash val="solid"/>
          </a:ln>
        </p:spPr>
      </p:sp>
      <p:sp>
        <p:nvSpPr>
          <p:cNvPr id="14" name="Text 12"/>
          <p:cNvSpPr txBox="1"/>
          <p:nvPr/>
        </p:nvSpPr>
        <p:spPr>
          <a:xfrm>
            <a:off x="9208008" y="4434840"/>
            <a:ext cx="1920240" cy="365760"/>
          </a:xfrm>
          <a:prstGeom prst="rect">
            <a:avLst/>
          </a:prstGeom>
          <a:noFill/>
          <a:ln/>
        </p:spPr>
        <p:txBody>
          <a:bodyPr wrap="square" lIns="0" tIns="0" rIns="0" bIns="0" rtlCol="0" anchor="ctr"/>
          <a:lstStyle/>
          <a:p>
            <a:pPr algn="ctr" indent="0" marL="0">
              <a:buNone/>
            </a:pPr>
            <a:r>
              <a:rPr lang="en-US" sz="1200" dirty="0">
                <a:solidFill>
                  <a:schemeClr val="accent5"/>
                </a:solidFill>
              </a:rPr>
              <a:t>Extension 627034a6…</a:t>
            </a:r>
            <a:endParaRPr lang="en-US" sz="1200" dirty="0"/>
          </a:p>
        </p:txBody>
      </p:sp>
      <p:sp>
        <p:nvSpPr>
          <p:cNvPr id="15" name="Text 13"/>
          <p:cNvSpPr txBox="1"/>
          <p:nvPr/>
        </p:nvSpPr>
        <p:spPr>
          <a:xfrm>
            <a:off x="822960" y="5943600"/>
            <a:ext cx="10515600" cy="274320"/>
          </a:xfrm>
          <a:prstGeom prst="rect">
            <a:avLst/>
          </a:prstGeom>
          <a:noFill/>
          <a:ln/>
        </p:spPr>
        <p:txBody>
          <a:bodyPr wrap="square" lIns="0" tIns="0" rIns="0" bIns="0" rtlCol="0" anchor="t"/>
          <a:lstStyle/>
          <a:p>
            <a:pPr algn="l" indent="0" marL="0">
              <a:buNone/>
            </a:pPr>
            <a:r>
              <a:rPr lang="en-US" sz="1100" dirty="0">
                <a:solidFill>
                  <a:schemeClr val="tx2"/>
                </a:solidFill>
              </a:rPr>
              <a:t>Harness: qiskit-swap-absorption-validation-simplified  ·  Code under test: ../qiskit-swap-absorption  ·  Run: 2026-10-29 04:05 UTC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What the repository proves</a:t>
            </a:r>
            <a:endParaRPr lang="en-US" sz="3000" dirty="0"/>
          </a:p>
        </p:txBody>
      </p:sp>
      <p:sp>
        <p:nvSpPr>
          <p:cNvPr id="4" name="Text 1"/>
          <p:cNvSpPr txBox="1"/>
          <p:nvPr/>
        </p:nvSpPr>
        <p:spPr>
          <a:xfrm>
            <a:off x="548640" y="1371600"/>
            <a:ext cx="5212080" cy="1325880"/>
          </a:xfrm>
          <a:prstGeom prst="rect">
            <a:avLst/>
          </a:prstGeom>
          <a:noFill/>
          <a:ln/>
        </p:spPr>
        <p:txBody>
          <a:bodyPr wrap="square" lIns="0" tIns="0" rIns="0" bIns="0" rtlCol="0" anchor="t"/>
          <a:lstStyle/>
          <a:p>
            <a:pPr algn="l" indent="0" marL="0">
              <a:lnSpc>
                <a:spcPct val="110000"/>
              </a:lnSpc>
              <a:buNone/>
            </a:pPr>
            <a:r>
              <a:rPr lang="en-US" sz="1500" dirty="0">
                <a:solidFill>
                  <a:schemeClr val="tx1"/>
                </a:solidFill>
              </a:rPr>
              <a:t>Qiskit's preset pass managers at optimization levels 2 and 3 now start their translation stage with _AbsorbIntoSwaps. The pass moves a two-qubit interaction next to a routing swap on the same qubit pair so that two-qubit synthesis can merge the two into one block.</a:t>
            </a:r>
            <a:endParaRPr lang="en-US" sz="1500" dirty="0"/>
          </a:p>
        </p:txBody>
      </p:sp>
      <p:sp>
        <p:nvSpPr>
          <p:cNvPr id="5" name="Text 2"/>
          <p:cNvSpPr txBox="1"/>
          <p:nvPr/>
        </p:nvSpPr>
        <p:spPr>
          <a:xfrm>
            <a:off x="548640" y="2743200"/>
            <a:ext cx="5212080" cy="1645920"/>
          </a:xfrm>
          <a:prstGeom prst="rect">
            <a:avLst/>
          </a:prstGeom>
          <a:noFill/>
          <a:ln/>
        </p:spPr>
        <p:txBody>
          <a:bodyPr wrap="square" lIns="0" tIns="0" rIns="0" bIns="0" rtlCol="0" anchor="t"/>
          <a:lstStyle/>
          <a:p>
            <a:pPr algn="l" indent="0" marL="0">
              <a:lnSpc>
                <a:spcPct val="110000"/>
              </a:lnSpc>
              <a:buNone/>
            </a:pPr>
            <a:r>
              <a:rPr lang="en-US" sz="1500" b="1" dirty="0">
                <a:solidFill>
                  <a:schemeClr val="tx1"/>
                </a:solidFill>
              </a:rPr>
              <a:t>Correctness: </a:t>
            </a:r>
            <a:pPr algn="l" indent="0" marL="0">
              <a:lnSpc>
                <a:spcPct val="110000"/>
              </a:lnSpc>
              <a:buNone/>
            </a:pPr>
            <a:r>
              <a:rPr lang="en-US" sz="1500" dirty="0">
                <a:solidFill>
                  <a:schemeClr val="tx1"/>
                </a:solidFill>
              </a:rPr>
              <a:t>with the pass enabled and with it disabled, the complete preset pipeline produces a circuit with exactly the same unitary as its input, global phase included, once the qubit layout is accounted for. </a:t>
            </a:r>
            <a:pPr algn="l" indent="0" marL="0">
              <a:lnSpc>
                <a:spcPct val="110000"/>
              </a:lnSpc>
              <a:buNone/>
            </a:pPr>
            <a:r>
              <a:rPr lang="en-US" sz="1500" b="1" dirty="0">
                <a:solidFill>
                  <a:schemeClr val="tx1"/>
                </a:solidFill>
              </a:rPr>
              <a:t>Effect: </a:t>
            </a:r>
            <a:pPr algn="l" indent="0" marL="0">
              <a:lnSpc>
                <a:spcPct val="110000"/>
              </a:lnSpc>
              <a:buNone/>
            </a:pPr>
            <a:r>
              <a:rPr lang="en-US" sz="1500" dirty="0">
                <a:solidFill>
                  <a:schemeClr val="tx1"/>
                </a:solidFill>
              </a:rPr>
              <a:t>in every case the pass selects at least one move, and the enabled output has a different gate structure from the disabled one.</a:t>
            </a:r>
            <a:endParaRPr lang="en-US" sz="1500" dirty="0"/>
          </a:p>
        </p:txBody>
      </p:sp>
      <p:sp>
        <p:nvSpPr>
          <p:cNvPr id="6" name="Text 3"/>
          <p:cNvSpPr txBox="1"/>
          <p:nvPr/>
        </p:nvSpPr>
        <p:spPr>
          <a:xfrm>
            <a:off x="548640" y="4526280"/>
            <a:ext cx="5212080" cy="1097280"/>
          </a:xfrm>
          <a:prstGeom prst="rect">
            <a:avLst/>
          </a:prstGeom>
          <a:noFill/>
          <a:ln/>
        </p:spPr>
        <p:txBody>
          <a:bodyPr wrap="square" lIns="0" tIns="0" rIns="0" bIns="0" rtlCol="0" anchor="t"/>
          <a:lstStyle/>
          <a:p>
            <a:pPr algn="l" indent="0" marL="0">
              <a:lnSpc>
                <a:spcPct val="110000"/>
              </a:lnSpc>
              <a:buNone/>
            </a:pPr>
            <a:r>
              <a:rPr lang="en-US" sz="1300" dirty="0">
                <a:solidFill>
                  <a:schemeClr val="tx2"/>
                </a:solidFill>
              </a:rPr>
              <a:t>A correctness suite for the integration, not a benchmark and not a proof: 11 ten-qubit circuits, six transpiler seeds, both levels, negative controls that must fail, and focused checks of the pass's own rules.</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26480" y="1371600"/>
          <a:ext cx="5513832" cy="914400"/>
        </p:xfrm>
        <a:graphic>
          <a:graphicData uri="http://schemas.openxmlformats.org/drawingml/2006/table">
            <a:tbl>
              <a:tblPr/>
              <a:tblGrid>
                <a:gridCol w="3291840"/>
                <a:gridCol w="2221992"/>
              </a:tblGrid>
              <a:tr h="0">
                <a:tc>
                  <a:txBody>
                    <a:bodyPr/>
                    <a:lstStyle/>
                    <a:p>
                      <a:pPr indent="0" marL="0">
                        <a:buNone/>
                      </a:pPr>
                      <a:r>
                        <a:rPr lang="en-US" sz="1000" b="1" dirty="0">
                          <a:solidFill>
                            <a:schemeClr val="tx2"/>
                          </a:solidFill>
                        </a:rPr>
                        <a:t>Check</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00" b="1" dirty="0">
                          <a:solidFill>
                            <a:schemeClr val="tx2"/>
                          </a:solidFill>
                        </a:rPr>
                        <a:t>Recorded result</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Full-pipeline cases (11 circuits × 6 seeds × 2 levels), both outputs exact</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b="1" dirty="0">
                          <a:solidFill>
                            <a:schemeClr val="accent3"/>
                          </a:solidFill>
                        </a:rPr>
                        <a:t>132 / 132 pass</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Enabled output structurally different from the disabled output</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b="1" dirty="0">
                          <a:solidFill>
                            <a:schemeClr val="accent3"/>
                          </a:solidFill>
                        </a:rPr>
                        <a:t>132 / 132 changed</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Negative self-checks (two per level, must be detected)</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b="1" dirty="0">
                          <a:solidFill>
                            <a:schemeClr val="accent3"/>
                          </a:solidFill>
                        </a:rPr>
                        <a:t>4 / 4 detected</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Focused checks of the pass and its preset placement</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b="1" dirty="0">
                          <a:solidFill>
                            <a:schemeClr val="accent3"/>
                          </a:solidFill>
                        </a:rPr>
                        <a:t>10 / 10 pass</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Pass executions observed</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66 per level, one per case</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Moves selected in total</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435 per level; 1 to 51 per case</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Two-qubit gates, absorption disabled → enabled</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18 187 → 17 405 per level</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Outputs ending with a non-identity qubit permutation</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130 of 132</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8" name="Text 4"/>
          <p:cNvSpPr txBox="1"/>
          <p:nvPr/>
        </p:nvSpPr>
        <p:spPr>
          <a:xfrm>
            <a:off x="6126480" y="5349240"/>
            <a:ext cx="5513832" cy="914400"/>
          </a:xfrm>
          <a:prstGeom prst="rect">
            <a:avLst/>
          </a:prstGeom>
          <a:noFill/>
          <a:ln/>
        </p:spPr>
        <p:txBody>
          <a:bodyPr wrap="square" lIns="0" tIns="0" rIns="0" bIns="0" rtlCol="0" anchor="t"/>
          <a:lstStyle/>
          <a:p>
            <a:pPr algn="l" indent="0" marL="0">
              <a:lnSpc>
                <a:spcPct val="110000"/>
              </a:lnSpc>
              <a:buNone/>
            </a:pPr>
            <a:r>
              <a:rPr lang="en-US" sz="1150" dirty="0">
                <a:solidFill>
                  <a:schemeClr val="tx2"/>
                </a:solidFill>
              </a:rPr>
              <a:t>Every number comes from results/results.jsonl. report.md is regenerated from that file and refuses to say PASS unless the case matrix is complete, every record passed, and every case both made moves and changed the circuit.</a:t>
            </a:r>
            <a:endParaRPr lang="en-US" sz="11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The pass under test</a:t>
            </a:r>
            <a:endParaRPr lang="en-US" sz="3000" dirty="0"/>
          </a:p>
        </p:txBody>
      </p:sp>
      <p:sp>
        <p:nvSpPr>
          <p:cNvPr id="4" name="Text 1"/>
          <p:cNvSpPr txBox="1"/>
          <p:nvPr/>
        </p:nvSpPr>
        <p:spPr>
          <a:xfrm>
            <a:off x="640080" y="1280160"/>
            <a:ext cx="4846320" cy="274320"/>
          </a:xfrm>
          <a:prstGeom prst="rect">
            <a:avLst/>
          </a:prstGeom>
          <a:noFill/>
          <a:ln/>
        </p:spPr>
        <p:txBody>
          <a:bodyPr wrap="square" lIns="0" tIns="0" rIns="0" bIns="0" rtlCol="0" anchor="ctr"/>
          <a:lstStyle/>
          <a:p>
            <a:pPr algn="ctr" indent="0" marL="0">
              <a:buNone/>
            </a:pPr>
            <a:r>
              <a:rPr lang="en-US" sz="1300" b="1" dirty="0">
                <a:solidFill>
                  <a:schemeClr val="tx1"/>
                </a:solidFill>
              </a:rPr>
              <a:t>Before the pass</a:t>
            </a:r>
            <a:endParaRPr lang="en-US" sz="1300" dirty="0"/>
          </a:p>
        </p:txBody>
      </p:sp>
      <p:sp>
        <p:nvSpPr>
          <p:cNvPr id="5" name="Text 2"/>
          <p:cNvSpPr txBox="1"/>
          <p:nvPr/>
        </p:nvSpPr>
        <p:spPr>
          <a:xfrm>
            <a:off x="6309360" y="1280160"/>
            <a:ext cx="4846320" cy="274320"/>
          </a:xfrm>
          <a:prstGeom prst="rect">
            <a:avLst/>
          </a:prstGeom>
          <a:noFill/>
          <a:ln/>
        </p:spPr>
        <p:txBody>
          <a:bodyPr wrap="square" lIns="0" tIns="0" rIns="0" bIns="0" rtlCol="0" anchor="ctr"/>
          <a:lstStyle/>
          <a:p>
            <a:pPr algn="ctr" indent="0" marL="0">
              <a:buNone/>
            </a:pPr>
            <a:r>
              <a:rPr lang="en-US" sz="1300" b="1" dirty="0">
                <a:solidFill>
                  <a:schemeClr val="tx1"/>
                </a:solidFill>
              </a:rPr>
              <a:t>After the pass</a:t>
            </a:r>
            <a:endParaRPr lang="en-US" sz="1300" dirty="0"/>
          </a:p>
        </p:txBody>
      </p:sp>
      <p:sp>
        <p:nvSpPr>
          <p:cNvPr id="6" name="Shape 3"/>
          <p:cNvSpPr/>
          <p:nvPr/>
        </p:nvSpPr>
        <p:spPr>
          <a:xfrm>
            <a:off x="6949440" y="1536192"/>
            <a:ext cx="1371600" cy="1097280"/>
          </a:xfrm>
          <a:prstGeom prst="roundRect">
            <a:avLst>
              <a:gd name="adj" fmla="val 8333"/>
            </a:avLst>
          </a:prstGeom>
          <a:solidFill>
            <a:schemeClr val="accent5"/>
          </a:solidFill>
          <a:ln w="12700">
            <a:solidFill>
              <a:schemeClr val="accent1"/>
            </a:solidFill>
            <a:prstDash val="dash"/>
          </a:ln>
        </p:spPr>
      </p:sp>
      <p:sp>
        <p:nvSpPr>
          <p:cNvPr id="7" name="Text 4"/>
          <p:cNvSpPr txBox="1"/>
          <p:nvPr/>
        </p:nvSpPr>
        <p:spPr>
          <a:xfrm>
            <a:off x="640080" y="167335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q0</a:t>
            </a:r>
            <a:endParaRPr lang="en-US" sz="1100" dirty="0"/>
          </a:p>
        </p:txBody>
      </p:sp>
      <p:sp>
        <p:nvSpPr>
          <p:cNvPr id="8" name="Text 5"/>
          <p:cNvSpPr txBox="1"/>
          <p:nvPr/>
        </p:nvSpPr>
        <p:spPr>
          <a:xfrm>
            <a:off x="640080" y="217627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q1</a:t>
            </a:r>
            <a:endParaRPr lang="en-US" sz="1100" dirty="0"/>
          </a:p>
        </p:txBody>
      </p:sp>
      <p:sp>
        <p:nvSpPr>
          <p:cNvPr id="9" name="Text 6"/>
          <p:cNvSpPr txBox="1"/>
          <p:nvPr/>
        </p:nvSpPr>
        <p:spPr>
          <a:xfrm>
            <a:off x="640080" y="267919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q2</a:t>
            </a:r>
            <a:endParaRPr lang="en-US" sz="1100" dirty="0"/>
          </a:p>
        </p:txBody>
      </p:sp>
      <p:sp>
        <p:nvSpPr>
          <p:cNvPr id="10" name="Shape 7"/>
          <p:cNvSpPr/>
          <p:nvPr/>
        </p:nvSpPr>
        <p:spPr>
          <a:xfrm>
            <a:off x="1097280" y="1783080"/>
            <a:ext cx="4389120" cy="0"/>
          </a:xfrm>
          <a:prstGeom prst="line">
            <a:avLst/>
          </a:prstGeom>
          <a:noFill/>
          <a:ln w="15875">
            <a:solidFill>
              <a:schemeClr val="tx1"/>
            </a:solidFill>
            <a:prstDash val="solid"/>
          </a:ln>
        </p:spPr>
      </p:sp>
      <p:sp>
        <p:nvSpPr>
          <p:cNvPr id="11" name="Shape 8"/>
          <p:cNvSpPr/>
          <p:nvPr/>
        </p:nvSpPr>
        <p:spPr>
          <a:xfrm>
            <a:off x="1097280" y="2286000"/>
            <a:ext cx="4389120" cy="0"/>
          </a:xfrm>
          <a:prstGeom prst="line">
            <a:avLst/>
          </a:prstGeom>
          <a:noFill/>
          <a:ln w="15875">
            <a:solidFill>
              <a:schemeClr val="tx1"/>
            </a:solidFill>
            <a:prstDash val="solid"/>
          </a:ln>
        </p:spPr>
      </p:sp>
      <p:sp>
        <p:nvSpPr>
          <p:cNvPr id="12" name="Shape 9"/>
          <p:cNvSpPr/>
          <p:nvPr/>
        </p:nvSpPr>
        <p:spPr>
          <a:xfrm>
            <a:off x="1097280" y="2788920"/>
            <a:ext cx="4389120" cy="0"/>
          </a:xfrm>
          <a:prstGeom prst="line">
            <a:avLst/>
          </a:prstGeom>
          <a:noFill/>
          <a:ln w="15875">
            <a:solidFill>
              <a:schemeClr val="tx1"/>
            </a:solidFill>
            <a:prstDash val="solid"/>
          </a:ln>
        </p:spPr>
      </p:sp>
      <p:sp>
        <p:nvSpPr>
          <p:cNvPr id="13" name="Shape 10"/>
          <p:cNvSpPr/>
          <p:nvPr/>
        </p:nvSpPr>
        <p:spPr>
          <a:xfrm>
            <a:off x="1554480" y="1783080"/>
            <a:ext cx="0" cy="502920"/>
          </a:xfrm>
          <a:prstGeom prst="line">
            <a:avLst/>
          </a:prstGeom>
          <a:noFill/>
          <a:ln w="19050">
            <a:solidFill>
              <a:schemeClr val="tx1"/>
            </a:solidFill>
            <a:prstDash val="solid"/>
          </a:ln>
        </p:spPr>
      </p:sp>
      <p:sp>
        <p:nvSpPr>
          <p:cNvPr id="14" name="Shape 11"/>
          <p:cNvSpPr/>
          <p:nvPr/>
        </p:nvSpPr>
        <p:spPr>
          <a:xfrm>
            <a:off x="1481328" y="1709928"/>
            <a:ext cx="146304" cy="146304"/>
          </a:xfrm>
          <a:prstGeom prst="line">
            <a:avLst/>
          </a:prstGeom>
          <a:noFill/>
          <a:ln w="19050">
            <a:solidFill>
              <a:schemeClr val="tx1"/>
            </a:solidFill>
            <a:prstDash val="solid"/>
          </a:ln>
        </p:spPr>
      </p:sp>
      <p:sp>
        <p:nvSpPr>
          <p:cNvPr id="15" name="Shape 12"/>
          <p:cNvSpPr/>
          <p:nvPr/>
        </p:nvSpPr>
        <p:spPr>
          <a:xfrm flipV="1">
            <a:off x="1481328" y="1709928"/>
            <a:ext cx="146304" cy="146304"/>
          </a:xfrm>
          <a:prstGeom prst="line">
            <a:avLst/>
          </a:prstGeom>
          <a:noFill/>
          <a:ln w="19050">
            <a:solidFill>
              <a:schemeClr val="tx1"/>
            </a:solidFill>
            <a:prstDash val="solid"/>
          </a:ln>
        </p:spPr>
      </p:sp>
      <p:sp>
        <p:nvSpPr>
          <p:cNvPr id="16" name="Shape 13"/>
          <p:cNvSpPr/>
          <p:nvPr/>
        </p:nvSpPr>
        <p:spPr>
          <a:xfrm>
            <a:off x="1481328" y="2212848"/>
            <a:ext cx="146304" cy="146304"/>
          </a:xfrm>
          <a:prstGeom prst="line">
            <a:avLst/>
          </a:prstGeom>
          <a:noFill/>
          <a:ln w="19050">
            <a:solidFill>
              <a:schemeClr val="tx1"/>
            </a:solidFill>
            <a:prstDash val="solid"/>
          </a:ln>
        </p:spPr>
      </p:sp>
      <p:sp>
        <p:nvSpPr>
          <p:cNvPr id="17" name="Shape 14"/>
          <p:cNvSpPr/>
          <p:nvPr/>
        </p:nvSpPr>
        <p:spPr>
          <a:xfrm flipV="1">
            <a:off x="1481328" y="2212848"/>
            <a:ext cx="146304" cy="146304"/>
          </a:xfrm>
          <a:prstGeom prst="line">
            <a:avLst/>
          </a:prstGeom>
          <a:noFill/>
          <a:ln w="19050">
            <a:solidFill>
              <a:schemeClr val="tx1"/>
            </a:solidFill>
            <a:prstDash val="solid"/>
          </a:ln>
        </p:spPr>
      </p:sp>
      <p:sp>
        <p:nvSpPr>
          <p:cNvPr id="18" name="Shape 15"/>
          <p:cNvSpPr/>
          <p:nvPr/>
        </p:nvSpPr>
        <p:spPr>
          <a:xfrm>
            <a:off x="2377440" y="1783080"/>
            <a:ext cx="0" cy="1005840"/>
          </a:xfrm>
          <a:prstGeom prst="line">
            <a:avLst/>
          </a:prstGeom>
          <a:noFill/>
          <a:ln w="19050">
            <a:solidFill>
              <a:schemeClr val="tx1"/>
            </a:solidFill>
            <a:prstDash val="solid"/>
          </a:ln>
        </p:spPr>
      </p:sp>
      <p:sp>
        <p:nvSpPr>
          <p:cNvPr id="19" name="Shape 16"/>
          <p:cNvSpPr/>
          <p:nvPr/>
        </p:nvSpPr>
        <p:spPr>
          <a:xfrm>
            <a:off x="2313432" y="1719072"/>
            <a:ext cx="128016" cy="128016"/>
          </a:xfrm>
          <a:prstGeom prst="ellipse">
            <a:avLst/>
          </a:prstGeom>
          <a:solidFill>
            <a:schemeClr val="tx1"/>
          </a:solidFill>
          <a:ln w="6350">
            <a:solidFill>
              <a:schemeClr val="tx1"/>
            </a:solidFill>
            <a:prstDash val="solid"/>
          </a:ln>
        </p:spPr>
      </p:sp>
      <p:sp>
        <p:nvSpPr>
          <p:cNvPr id="20" name="Shape 17"/>
          <p:cNvSpPr/>
          <p:nvPr/>
        </p:nvSpPr>
        <p:spPr>
          <a:xfrm>
            <a:off x="2313432" y="2724912"/>
            <a:ext cx="128016" cy="128016"/>
          </a:xfrm>
          <a:prstGeom prst="ellipse">
            <a:avLst/>
          </a:prstGeom>
          <a:solidFill>
            <a:schemeClr val="tx1"/>
          </a:solidFill>
          <a:ln w="6350">
            <a:solidFill>
              <a:schemeClr val="tx1"/>
            </a:solidFill>
            <a:prstDash val="solid"/>
          </a:ln>
        </p:spPr>
      </p:sp>
      <p:sp>
        <p:nvSpPr>
          <p:cNvPr id="21" name="Shape 18"/>
          <p:cNvSpPr/>
          <p:nvPr/>
        </p:nvSpPr>
        <p:spPr>
          <a:xfrm>
            <a:off x="3200400" y="1783080"/>
            <a:ext cx="0" cy="502920"/>
          </a:xfrm>
          <a:prstGeom prst="line">
            <a:avLst/>
          </a:prstGeom>
          <a:noFill/>
          <a:ln w="19050">
            <a:solidFill>
              <a:schemeClr val="tx1"/>
            </a:solidFill>
            <a:prstDash val="solid"/>
          </a:ln>
        </p:spPr>
      </p:sp>
      <p:sp>
        <p:nvSpPr>
          <p:cNvPr id="22" name="Shape 19"/>
          <p:cNvSpPr/>
          <p:nvPr/>
        </p:nvSpPr>
        <p:spPr>
          <a:xfrm>
            <a:off x="3136392" y="1719072"/>
            <a:ext cx="128016" cy="128016"/>
          </a:xfrm>
          <a:prstGeom prst="ellipse">
            <a:avLst/>
          </a:prstGeom>
          <a:solidFill>
            <a:schemeClr val="tx1"/>
          </a:solidFill>
          <a:ln w="6350">
            <a:solidFill>
              <a:schemeClr val="tx1"/>
            </a:solidFill>
            <a:prstDash val="solid"/>
          </a:ln>
        </p:spPr>
      </p:sp>
      <p:sp>
        <p:nvSpPr>
          <p:cNvPr id="23" name="Shape 20"/>
          <p:cNvSpPr/>
          <p:nvPr/>
        </p:nvSpPr>
        <p:spPr>
          <a:xfrm>
            <a:off x="3008376" y="2139696"/>
            <a:ext cx="384048" cy="292608"/>
          </a:xfrm>
          <a:prstGeom prst="roundRect">
            <a:avLst>
              <a:gd name="adj" fmla="val 15625"/>
            </a:avLst>
          </a:prstGeom>
          <a:solidFill>
            <a:schemeClr val="bg1"/>
          </a:solidFill>
          <a:ln w="15875">
            <a:solidFill>
              <a:schemeClr val="tx1"/>
            </a:solidFill>
            <a:prstDash val="solid"/>
          </a:ln>
        </p:spPr>
      </p:sp>
      <p:sp>
        <p:nvSpPr>
          <p:cNvPr id="24" name="Text 21"/>
          <p:cNvSpPr txBox="1"/>
          <p:nvPr/>
        </p:nvSpPr>
        <p:spPr>
          <a:xfrm>
            <a:off x="3008376" y="2139696"/>
            <a:ext cx="384048" cy="29260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cp</a:t>
            </a:r>
            <a:endParaRPr lang="en-US" sz="1000" dirty="0"/>
          </a:p>
        </p:txBody>
      </p:sp>
      <p:sp>
        <p:nvSpPr>
          <p:cNvPr id="25" name="Shape 22"/>
          <p:cNvSpPr/>
          <p:nvPr/>
        </p:nvSpPr>
        <p:spPr>
          <a:xfrm>
            <a:off x="4023360" y="1783080"/>
            <a:ext cx="0" cy="1005840"/>
          </a:xfrm>
          <a:prstGeom prst="line">
            <a:avLst/>
          </a:prstGeom>
          <a:noFill/>
          <a:ln w="19050">
            <a:solidFill>
              <a:schemeClr val="tx1"/>
            </a:solidFill>
            <a:prstDash val="solid"/>
          </a:ln>
        </p:spPr>
      </p:sp>
      <p:sp>
        <p:nvSpPr>
          <p:cNvPr id="26" name="Shape 23"/>
          <p:cNvSpPr/>
          <p:nvPr/>
        </p:nvSpPr>
        <p:spPr>
          <a:xfrm>
            <a:off x="3959352" y="1719072"/>
            <a:ext cx="128016" cy="128016"/>
          </a:xfrm>
          <a:prstGeom prst="ellipse">
            <a:avLst/>
          </a:prstGeom>
          <a:solidFill>
            <a:schemeClr val="tx1"/>
          </a:solidFill>
          <a:ln w="6350">
            <a:solidFill>
              <a:schemeClr val="tx1"/>
            </a:solidFill>
            <a:prstDash val="solid"/>
          </a:ln>
        </p:spPr>
      </p:sp>
      <p:sp>
        <p:nvSpPr>
          <p:cNvPr id="27" name="Shape 24"/>
          <p:cNvSpPr/>
          <p:nvPr/>
        </p:nvSpPr>
        <p:spPr>
          <a:xfrm>
            <a:off x="3904488" y="2670048"/>
            <a:ext cx="237744" cy="237744"/>
          </a:xfrm>
          <a:prstGeom prst="ellipse">
            <a:avLst/>
          </a:prstGeom>
          <a:solidFill>
            <a:schemeClr val="bg1"/>
          </a:solidFill>
          <a:ln w="15875">
            <a:solidFill>
              <a:schemeClr val="tx1"/>
            </a:solidFill>
            <a:prstDash val="solid"/>
          </a:ln>
        </p:spPr>
      </p:sp>
      <p:sp>
        <p:nvSpPr>
          <p:cNvPr id="28" name="Shape 25"/>
          <p:cNvSpPr/>
          <p:nvPr/>
        </p:nvSpPr>
        <p:spPr>
          <a:xfrm>
            <a:off x="3904488" y="2788920"/>
            <a:ext cx="237744" cy="0"/>
          </a:xfrm>
          <a:prstGeom prst="line">
            <a:avLst/>
          </a:prstGeom>
          <a:noFill/>
          <a:ln w="15875">
            <a:solidFill>
              <a:schemeClr val="tx1"/>
            </a:solidFill>
            <a:prstDash val="solid"/>
          </a:ln>
        </p:spPr>
      </p:sp>
      <p:sp>
        <p:nvSpPr>
          <p:cNvPr id="29" name="Shape 26"/>
          <p:cNvSpPr/>
          <p:nvPr/>
        </p:nvSpPr>
        <p:spPr>
          <a:xfrm>
            <a:off x="4023360" y="2670048"/>
            <a:ext cx="0" cy="237744"/>
          </a:xfrm>
          <a:prstGeom prst="line">
            <a:avLst/>
          </a:prstGeom>
          <a:noFill/>
          <a:ln w="15875">
            <a:solidFill>
              <a:schemeClr val="tx1"/>
            </a:solidFill>
            <a:prstDash val="solid"/>
          </a:ln>
        </p:spPr>
      </p:sp>
      <p:sp>
        <p:nvSpPr>
          <p:cNvPr id="30" name="Shape 27"/>
          <p:cNvSpPr/>
          <p:nvPr/>
        </p:nvSpPr>
        <p:spPr>
          <a:xfrm>
            <a:off x="4846320" y="2286000"/>
            <a:ext cx="0" cy="502920"/>
          </a:xfrm>
          <a:prstGeom prst="line">
            <a:avLst/>
          </a:prstGeom>
          <a:noFill/>
          <a:ln w="19050">
            <a:solidFill>
              <a:schemeClr val="tx1"/>
            </a:solidFill>
            <a:prstDash val="solid"/>
          </a:ln>
        </p:spPr>
      </p:sp>
      <p:sp>
        <p:nvSpPr>
          <p:cNvPr id="31" name="Shape 28"/>
          <p:cNvSpPr/>
          <p:nvPr/>
        </p:nvSpPr>
        <p:spPr>
          <a:xfrm>
            <a:off x="4782312" y="2221992"/>
            <a:ext cx="128016" cy="128016"/>
          </a:xfrm>
          <a:prstGeom prst="ellipse">
            <a:avLst/>
          </a:prstGeom>
          <a:solidFill>
            <a:schemeClr val="tx1"/>
          </a:solidFill>
          <a:ln w="6350">
            <a:solidFill>
              <a:schemeClr val="tx1"/>
            </a:solidFill>
            <a:prstDash val="solid"/>
          </a:ln>
        </p:spPr>
      </p:sp>
      <p:sp>
        <p:nvSpPr>
          <p:cNvPr id="32" name="Shape 29"/>
          <p:cNvSpPr/>
          <p:nvPr/>
        </p:nvSpPr>
        <p:spPr>
          <a:xfrm>
            <a:off x="4727448" y="2670048"/>
            <a:ext cx="237744" cy="237744"/>
          </a:xfrm>
          <a:prstGeom prst="ellipse">
            <a:avLst/>
          </a:prstGeom>
          <a:solidFill>
            <a:schemeClr val="bg1"/>
          </a:solidFill>
          <a:ln w="15875">
            <a:solidFill>
              <a:schemeClr val="tx1"/>
            </a:solidFill>
            <a:prstDash val="solid"/>
          </a:ln>
        </p:spPr>
      </p:sp>
      <p:sp>
        <p:nvSpPr>
          <p:cNvPr id="33" name="Shape 30"/>
          <p:cNvSpPr/>
          <p:nvPr/>
        </p:nvSpPr>
        <p:spPr>
          <a:xfrm>
            <a:off x="4727448" y="2788920"/>
            <a:ext cx="237744" cy="0"/>
          </a:xfrm>
          <a:prstGeom prst="line">
            <a:avLst/>
          </a:prstGeom>
          <a:noFill/>
          <a:ln w="15875">
            <a:solidFill>
              <a:schemeClr val="tx1"/>
            </a:solidFill>
            <a:prstDash val="solid"/>
          </a:ln>
        </p:spPr>
      </p:sp>
      <p:sp>
        <p:nvSpPr>
          <p:cNvPr id="34" name="Shape 31"/>
          <p:cNvSpPr/>
          <p:nvPr/>
        </p:nvSpPr>
        <p:spPr>
          <a:xfrm>
            <a:off x="4846320" y="2670048"/>
            <a:ext cx="0" cy="237744"/>
          </a:xfrm>
          <a:prstGeom prst="line">
            <a:avLst/>
          </a:prstGeom>
          <a:noFill/>
          <a:ln w="15875">
            <a:solidFill>
              <a:schemeClr val="tx1"/>
            </a:solidFill>
            <a:prstDash val="solid"/>
          </a:ln>
        </p:spPr>
      </p:sp>
      <p:sp>
        <p:nvSpPr>
          <p:cNvPr id="35" name="Text 32"/>
          <p:cNvSpPr txBox="1"/>
          <p:nvPr/>
        </p:nvSpPr>
        <p:spPr>
          <a:xfrm>
            <a:off x="6309360" y="167335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q0</a:t>
            </a:r>
            <a:endParaRPr lang="en-US" sz="1100" dirty="0"/>
          </a:p>
        </p:txBody>
      </p:sp>
      <p:sp>
        <p:nvSpPr>
          <p:cNvPr id="36" name="Text 33"/>
          <p:cNvSpPr txBox="1"/>
          <p:nvPr/>
        </p:nvSpPr>
        <p:spPr>
          <a:xfrm>
            <a:off x="6309360" y="217627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q1</a:t>
            </a:r>
            <a:endParaRPr lang="en-US" sz="1100" dirty="0"/>
          </a:p>
        </p:txBody>
      </p:sp>
      <p:sp>
        <p:nvSpPr>
          <p:cNvPr id="37" name="Text 34"/>
          <p:cNvSpPr txBox="1"/>
          <p:nvPr/>
        </p:nvSpPr>
        <p:spPr>
          <a:xfrm>
            <a:off x="6309360" y="2679192"/>
            <a:ext cx="365760" cy="219456"/>
          </a:xfrm>
          <a:prstGeom prst="rect">
            <a:avLst/>
          </a:prstGeom>
          <a:noFill/>
          <a:ln/>
        </p:spPr>
        <p:txBody>
          <a:bodyPr wrap="square" lIns="0" tIns="0" rIns="0" bIns="0" rtlCol="0" anchor="ctr"/>
          <a:lstStyle/>
          <a:p>
            <a:pPr algn="r" indent="0" marL="0">
              <a:buNone/>
            </a:pPr>
            <a:r>
              <a:rPr lang="en-US" sz="1100" dirty="0">
                <a:solidFill>
                  <a:schemeClr val="tx2"/>
                </a:solidFill>
                <a:latin typeface="Courier New" pitchFamily="34" charset="0"/>
                <a:ea typeface="Courier New" pitchFamily="34" charset="-122"/>
                <a:cs typeface="Courier New" pitchFamily="34" charset="-120"/>
              </a:rPr>
              <a:t>q2</a:t>
            </a:r>
            <a:endParaRPr lang="en-US" sz="1100" dirty="0"/>
          </a:p>
        </p:txBody>
      </p:sp>
      <p:sp>
        <p:nvSpPr>
          <p:cNvPr id="38" name="Shape 35"/>
          <p:cNvSpPr/>
          <p:nvPr/>
        </p:nvSpPr>
        <p:spPr>
          <a:xfrm>
            <a:off x="6766560" y="1783080"/>
            <a:ext cx="4389120" cy="0"/>
          </a:xfrm>
          <a:prstGeom prst="line">
            <a:avLst/>
          </a:prstGeom>
          <a:noFill/>
          <a:ln w="15875">
            <a:solidFill>
              <a:schemeClr val="tx1"/>
            </a:solidFill>
            <a:prstDash val="solid"/>
          </a:ln>
        </p:spPr>
      </p:sp>
      <p:sp>
        <p:nvSpPr>
          <p:cNvPr id="39" name="Shape 36"/>
          <p:cNvSpPr/>
          <p:nvPr/>
        </p:nvSpPr>
        <p:spPr>
          <a:xfrm>
            <a:off x="6766560" y="2286000"/>
            <a:ext cx="4389120" cy="0"/>
          </a:xfrm>
          <a:prstGeom prst="line">
            <a:avLst/>
          </a:prstGeom>
          <a:noFill/>
          <a:ln w="15875">
            <a:solidFill>
              <a:schemeClr val="tx1"/>
            </a:solidFill>
            <a:prstDash val="solid"/>
          </a:ln>
        </p:spPr>
      </p:sp>
      <p:sp>
        <p:nvSpPr>
          <p:cNvPr id="40" name="Shape 37"/>
          <p:cNvSpPr/>
          <p:nvPr/>
        </p:nvSpPr>
        <p:spPr>
          <a:xfrm>
            <a:off x="6766560" y="2788920"/>
            <a:ext cx="4389120" cy="0"/>
          </a:xfrm>
          <a:prstGeom prst="line">
            <a:avLst/>
          </a:prstGeom>
          <a:noFill/>
          <a:ln w="15875">
            <a:solidFill>
              <a:schemeClr val="tx1"/>
            </a:solidFill>
            <a:prstDash val="solid"/>
          </a:ln>
        </p:spPr>
      </p:sp>
      <p:sp>
        <p:nvSpPr>
          <p:cNvPr id="41" name="Shape 38"/>
          <p:cNvSpPr/>
          <p:nvPr/>
        </p:nvSpPr>
        <p:spPr>
          <a:xfrm>
            <a:off x="7223760" y="1783080"/>
            <a:ext cx="0" cy="502920"/>
          </a:xfrm>
          <a:prstGeom prst="line">
            <a:avLst/>
          </a:prstGeom>
          <a:noFill/>
          <a:ln w="19050">
            <a:solidFill>
              <a:schemeClr val="tx1"/>
            </a:solidFill>
            <a:prstDash val="solid"/>
          </a:ln>
        </p:spPr>
      </p:sp>
      <p:sp>
        <p:nvSpPr>
          <p:cNvPr id="42" name="Shape 39"/>
          <p:cNvSpPr/>
          <p:nvPr/>
        </p:nvSpPr>
        <p:spPr>
          <a:xfrm>
            <a:off x="7150608" y="1709928"/>
            <a:ext cx="146304" cy="146304"/>
          </a:xfrm>
          <a:prstGeom prst="line">
            <a:avLst/>
          </a:prstGeom>
          <a:noFill/>
          <a:ln w="19050">
            <a:solidFill>
              <a:schemeClr val="tx1"/>
            </a:solidFill>
            <a:prstDash val="solid"/>
          </a:ln>
        </p:spPr>
      </p:sp>
      <p:sp>
        <p:nvSpPr>
          <p:cNvPr id="43" name="Shape 40"/>
          <p:cNvSpPr/>
          <p:nvPr/>
        </p:nvSpPr>
        <p:spPr>
          <a:xfrm flipV="1">
            <a:off x="7150608" y="1709928"/>
            <a:ext cx="146304" cy="146304"/>
          </a:xfrm>
          <a:prstGeom prst="line">
            <a:avLst/>
          </a:prstGeom>
          <a:noFill/>
          <a:ln w="19050">
            <a:solidFill>
              <a:schemeClr val="tx1"/>
            </a:solidFill>
            <a:prstDash val="solid"/>
          </a:ln>
        </p:spPr>
      </p:sp>
      <p:sp>
        <p:nvSpPr>
          <p:cNvPr id="44" name="Shape 41"/>
          <p:cNvSpPr/>
          <p:nvPr/>
        </p:nvSpPr>
        <p:spPr>
          <a:xfrm>
            <a:off x="7150608" y="2212848"/>
            <a:ext cx="146304" cy="146304"/>
          </a:xfrm>
          <a:prstGeom prst="line">
            <a:avLst/>
          </a:prstGeom>
          <a:noFill/>
          <a:ln w="19050">
            <a:solidFill>
              <a:schemeClr val="tx1"/>
            </a:solidFill>
            <a:prstDash val="solid"/>
          </a:ln>
        </p:spPr>
      </p:sp>
      <p:sp>
        <p:nvSpPr>
          <p:cNvPr id="45" name="Shape 42"/>
          <p:cNvSpPr/>
          <p:nvPr/>
        </p:nvSpPr>
        <p:spPr>
          <a:xfrm flipV="1">
            <a:off x="7150608" y="2212848"/>
            <a:ext cx="146304" cy="146304"/>
          </a:xfrm>
          <a:prstGeom prst="line">
            <a:avLst/>
          </a:prstGeom>
          <a:noFill/>
          <a:ln w="19050">
            <a:solidFill>
              <a:schemeClr val="tx1"/>
            </a:solidFill>
            <a:prstDash val="solid"/>
          </a:ln>
        </p:spPr>
      </p:sp>
      <p:sp>
        <p:nvSpPr>
          <p:cNvPr id="46" name="Shape 43"/>
          <p:cNvSpPr/>
          <p:nvPr/>
        </p:nvSpPr>
        <p:spPr>
          <a:xfrm>
            <a:off x="8046720" y="1783080"/>
            <a:ext cx="0" cy="502920"/>
          </a:xfrm>
          <a:prstGeom prst="line">
            <a:avLst/>
          </a:prstGeom>
          <a:noFill/>
          <a:ln w="19050">
            <a:solidFill>
              <a:schemeClr val="accent2"/>
            </a:solidFill>
            <a:prstDash val="solid"/>
          </a:ln>
        </p:spPr>
      </p:sp>
      <p:sp>
        <p:nvSpPr>
          <p:cNvPr id="47" name="Shape 44"/>
          <p:cNvSpPr/>
          <p:nvPr/>
        </p:nvSpPr>
        <p:spPr>
          <a:xfrm>
            <a:off x="7982712" y="1719072"/>
            <a:ext cx="128016" cy="128016"/>
          </a:xfrm>
          <a:prstGeom prst="ellipse">
            <a:avLst/>
          </a:prstGeom>
          <a:solidFill>
            <a:schemeClr val="accent2"/>
          </a:solidFill>
          <a:ln w="6350">
            <a:solidFill>
              <a:schemeClr val="accent2"/>
            </a:solidFill>
            <a:prstDash val="solid"/>
          </a:ln>
        </p:spPr>
      </p:sp>
      <p:sp>
        <p:nvSpPr>
          <p:cNvPr id="48" name="Shape 45"/>
          <p:cNvSpPr/>
          <p:nvPr/>
        </p:nvSpPr>
        <p:spPr>
          <a:xfrm>
            <a:off x="7854696" y="2139696"/>
            <a:ext cx="384048" cy="292608"/>
          </a:xfrm>
          <a:prstGeom prst="roundRect">
            <a:avLst>
              <a:gd name="adj" fmla="val 15625"/>
            </a:avLst>
          </a:prstGeom>
          <a:solidFill>
            <a:schemeClr val="accent6"/>
          </a:solidFill>
          <a:ln w="15875">
            <a:solidFill>
              <a:schemeClr val="accent2"/>
            </a:solidFill>
            <a:prstDash val="solid"/>
          </a:ln>
        </p:spPr>
      </p:sp>
      <p:sp>
        <p:nvSpPr>
          <p:cNvPr id="49" name="Text 46"/>
          <p:cNvSpPr txBox="1"/>
          <p:nvPr/>
        </p:nvSpPr>
        <p:spPr>
          <a:xfrm>
            <a:off x="7854696" y="2139696"/>
            <a:ext cx="384048" cy="292608"/>
          </a:xfrm>
          <a:prstGeom prst="rect">
            <a:avLst/>
          </a:prstGeom>
          <a:noFill/>
          <a:ln/>
        </p:spPr>
        <p:txBody>
          <a:bodyPr wrap="square" lIns="0" tIns="0" rIns="0" bIns="0" rtlCol="0" anchor="ctr"/>
          <a:lstStyle/>
          <a:p>
            <a:pPr algn="ctr" indent="0" marL="0">
              <a:buNone/>
            </a:pPr>
            <a:r>
              <a:rPr lang="en-US" sz="1000" b="1" dirty="0">
                <a:solidFill>
                  <a:schemeClr val="accent2"/>
                </a:solidFill>
                <a:latin typeface="Courier New" pitchFamily="34" charset="0"/>
                <a:ea typeface="Courier New" pitchFamily="34" charset="-122"/>
                <a:cs typeface="Courier New" pitchFamily="34" charset="-120"/>
              </a:rPr>
              <a:t>cp</a:t>
            </a:r>
            <a:endParaRPr lang="en-US" sz="1000" dirty="0"/>
          </a:p>
        </p:txBody>
      </p:sp>
      <p:sp>
        <p:nvSpPr>
          <p:cNvPr id="50" name="Shape 47"/>
          <p:cNvSpPr/>
          <p:nvPr/>
        </p:nvSpPr>
        <p:spPr>
          <a:xfrm>
            <a:off x="8869680" y="1783080"/>
            <a:ext cx="0" cy="1005840"/>
          </a:xfrm>
          <a:prstGeom prst="line">
            <a:avLst/>
          </a:prstGeom>
          <a:noFill/>
          <a:ln w="19050">
            <a:solidFill>
              <a:schemeClr val="tx1"/>
            </a:solidFill>
            <a:prstDash val="solid"/>
          </a:ln>
        </p:spPr>
      </p:sp>
      <p:sp>
        <p:nvSpPr>
          <p:cNvPr id="51" name="Shape 48"/>
          <p:cNvSpPr/>
          <p:nvPr/>
        </p:nvSpPr>
        <p:spPr>
          <a:xfrm>
            <a:off x="8805672" y="1719072"/>
            <a:ext cx="128016" cy="128016"/>
          </a:xfrm>
          <a:prstGeom prst="ellipse">
            <a:avLst/>
          </a:prstGeom>
          <a:solidFill>
            <a:schemeClr val="tx1"/>
          </a:solidFill>
          <a:ln w="6350">
            <a:solidFill>
              <a:schemeClr val="tx1"/>
            </a:solidFill>
            <a:prstDash val="solid"/>
          </a:ln>
        </p:spPr>
      </p:sp>
      <p:sp>
        <p:nvSpPr>
          <p:cNvPr id="52" name="Shape 49"/>
          <p:cNvSpPr/>
          <p:nvPr/>
        </p:nvSpPr>
        <p:spPr>
          <a:xfrm>
            <a:off x="8805672" y="2724912"/>
            <a:ext cx="128016" cy="128016"/>
          </a:xfrm>
          <a:prstGeom prst="ellipse">
            <a:avLst/>
          </a:prstGeom>
          <a:solidFill>
            <a:schemeClr val="tx1"/>
          </a:solidFill>
          <a:ln w="6350">
            <a:solidFill>
              <a:schemeClr val="tx1"/>
            </a:solidFill>
            <a:prstDash val="solid"/>
          </a:ln>
        </p:spPr>
      </p:sp>
      <p:sp>
        <p:nvSpPr>
          <p:cNvPr id="53" name="Shape 50"/>
          <p:cNvSpPr/>
          <p:nvPr/>
        </p:nvSpPr>
        <p:spPr>
          <a:xfrm>
            <a:off x="9692640" y="1783080"/>
            <a:ext cx="0" cy="1005840"/>
          </a:xfrm>
          <a:prstGeom prst="line">
            <a:avLst/>
          </a:prstGeom>
          <a:noFill/>
          <a:ln w="19050">
            <a:solidFill>
              <a:schemeClr val="tx1"/>
            </a:solidFill>
            <a:prstDash val="solid"/>
          </a:ln>
        </p:spPr>
      </p:sp>
      <p:sp>
        <p:nvSpPr>
          <p:cNvPr id="54" name="Shape 51"/>
          <p:cNvSpPr/>
          <p:nvPr/>
        </p:nvSpPr>
        <p:spPr>
          <a:xfrm>
            <a:off x="9628632" y="1719072"/>
            <a:ext cx="128016" cy="128016"/>
          </a:xfrm>
          <a:prstGeom prst="ellipse">
            <a:avLst/>
          </a:prstGeom>
          <a:solidFill>
            <a:schemeClr val="tx1"/>
          </a:solidFill>
          <a:ln w="6350">
            <a:solidFill>
              <a:schemeClr val="tx1"/>
            </a:solidFill>
            <a:prstDash val="solid"/>
          </a:ln>
        </p:spPr>
      </p:sp>
      <p:sp>
        <p:nvSpPr>
          <p:cNvPr id="55" name="Shape 52"/>
          <p:cNvSpPr/>
          <p:nvPr/>
        </p:nvSpPr>
        <p:spPr>
          <a:xfrm>
            <a:off x="9573768" y="2670048"/>
            <a:ext cx="237744" cy="237744"/>
          </a:xfrm>
          <a:prstGeom prst="ellipse">
            <a:avLst/>
          </a:prstGeom>
          <a:solidFill>
            <a:schemeClr val="bg1"/>
          </a:solidFill>
          <a:ln w="15875">
            <a:solidFill>
              <a:schemeClr val="tx1"/>
            </a:solidFill>
            <a:prstDash val="solid"/>
          </a:ln>
        </p:spPr>
      </p:sp>
      <p:sp>
        <p:nvSpPr>
          <p:cNvPr id="56" name="Shape 53"/>
          <p:cNvSpPr/>
          <p:nvPr/>
        </p:nvSpPr>
        <p:spPr>
          <a:xfrm>
            <a:off x="9573768" y="2788920"/>
            <a:ext cx="237744" cy="0"/>
          </a:xfrm>
          <a:prstGeom prst="line">
            <a:avLst/>
          </a:prstGeom>
          <a:noFill/>
          <a:ln w="15875">
            <a:solidFill>
              <a:schemeClr val="tx1"/>
            </a:solidFill>
            <a:prstDash val="solid"/>
          </a:ln>
        </p:spPr>
      </p:sp>
      <p:sp>
        <p:nvSpPr>
          <p:cNvPr id="57" name="Shape 54"/>
          <p:cNvSpPr/>
          <p:nvPr/>
        </p:nvSpPr>
        <p:spPr>
          <a:xfrm>
            <a:off x="9692640" y="2670048"/>
            <a:ext cx="0" cy="237744"/>
          </a:xfrm>
          <a:prstGeom prst="line">
            <a:avLst/>
          </a:prstGeom>
          <a:noFill/>
          <a:ln w="15875">
            <a:solidFill>
              <a:schemeClr val="tx1"/>
            </a:solidFill>
            <a:prstDash val="solid"/>
          </a:ln>
        </p:spPr>
      </p:sp>
      <p:sp>
        <p:nvSpPr>
          <p:cNvPr id="58" name="Shape 55"/>
          <p:cNvSpPr/>
          <p:nvPr/>
        </p:nvSpPr>
        <p:spPr>
          <a:xfrm>
            <a:off x="10515600" y="2286000"/>
            <a:ext cx="0" cy="502920"/>
          </a:xfrm>
          <a:prstGeom prst="line">
            <a:avLst/>
          </a:prstGeom>
          <a:noFill/>
          <a:ln w="19050">
            <a:solidFill>
              <a:schemeClr val="tx1"/>
            </a:solidFill>
            <a:prstDash val="solid"/>
          </a:ln>
        </p:spPr>
      </p:sp>
      <p:sp>
        <p:nvSpPr>
          <p:cNvPr id="59" name="Shape 56"/>
          <p:cNvSpPr/>
          <p:nvPr/>
        </p:nvSpPr>
        <p:spPr>
          <a:xfrm>
            <a:off x="10451592" y="2221992"/>
            <a:ext cx="128016" cy="128016"/>
          </a:xfrm>
          <a:prstGeom prst="ellipse">
            <a:avLst/>
          </a:prstGeom>
          <a:solidFill>
            <a:schemeClr val="tx1"/>
          </a:solidFill>
          <a:ln w="6350">
            <a:solidFill>
              <a:schemeClr val="tx1"/>
            </a:solidFill>
            <a:prstDash val="solid"/>
          </a:ln>
        </p:spPr>
      </p:sp>
      <p:sp>
        <p:nvSpPr>
          <p:cNvPr id="60" name="Shape 57"/>
          <p:cNvSpPr/>
          <p:nvPr/>
        </p:nvSpPr>
        <p:spPr>
          <a:xfrm>
            <a:off x="10396728" y="2670048"/>
            <a:ext cx="237744" cy="237744"/>
          </a:xfrm>
          <a:prstGeom prst="ellipse">
            <a:avLst/>
          </a:prstGeom>
          <a:solidFill>
            <a:schemeClr val="bg1"/>
          </a:solidFill>
          <a:ln w="15875">
            <a:solidFill>
              <a:schemeClr val="tx1"/>
            </a:solidFill>
            <a:prstDash val="solid"/>
          </a:ln>
        </p:spPr>
      </p:sp>
      <p:sp>
        <p:nvSpPr>
          <p:cNvPr id="61" name="Shape 58"/>
          <p:cNvSpPr/>
          <p:nvPr/>
        </p:nvSpPr>
        <p:spPr>
          <a:xfrm>
            <a:off x="10396728" y="2788920"/>
            <a:ext cx="237744" cy="0"/>
          </a:xfrm>
          <a:prstGeom prst="line">
            <a:avLst/>
          </a:prstGeom>
          <a:noFill/>
          <a:ln w="15875">
            <a:solidFill>
              <a:schemeClr val="tx1"/>
            </a:solidFill>
            <a:prstDash val="solid"/>
          </a:ln>
        </p:spPr>
      </p:sp>
      <p:sp>
        <p:nvSpPr>
          <p:cNvPr id="62" name="Shape 59"/>
          <p:cNvSpPr/>
          <p:nvPr/>
        </p:nvSpPr>
        <p:spPr>
          <a:xfrm>
            <a:off x="10515600" y="2670048"/>
            <a:ext cx="0" cy="237744"/>
          </a:xfrm>
          <a:prstGeom prst="line">
            <a:avLst/>
          </a:prstGeom>
          <a:noFill/>
          <a:ln w="15875">
            <a:solidFill>
              <a:schemeClr val="tx1"/>
            </a:solidFill>
            <a:prstDash val="solid"/>
          </a:ln>
        </p:spPr>
      </p:sp>
      <p:sp>
        <p:nvSpPr>
          <p:cNvPr id="63" name="Shape 60"/>
          <p:cNvSpPr/>
          <p:nvPr/>
        </p:nvSpPr>
        <p:spPr>
          <a:xfrm>
            <a:off x="1554480" y="2999232"/>
            <a:ext cx="0" cy="73152"/>
          </a:xfrm>
          <a:prstGeom prst="line">
            <a:avLst/>
          </a:prstGeom>
          <a:noFill/>
          <a:ln w="12700">
            <a:solidFill>
              <a:schemeClr val="tx1"/>
            </a:solidFill>
            <a:prstDash val="solid"/>
          </a:ln>
        </p:spPr>
      </p:sp>
      <p:sp>
        <p:nvSpPr>
          <p:cNvPr id="64" name="Shape 61"/>
          <p:cNvSpPr/>
          <p:nvPr/>
        </p:nvSpPr>
        <p:spPr>
          <a:xfrm>
            <a:off x="1554480" y="3072384"/>
            <a:ext cx="1645920" cy="0"/>
          </a:xfrm>
          <a:prstGeom prst="line">
            <a:avLst/>
          </a:prstGeom>
          <a:noFill/>
          <a:ln w="12700">
            <a:solidFill>
              <a:schemeClr val="tx1"/>
            </a:solidFill>
            <a:prstDash val="solid"/>
          </a:ln>
        </p:spPr>
      </p:sp>
      <p:sp>
        <p:nvSpPr>
          <p:cNvPr id="65" name="Shape 62"/>
          <p:cNvSpPr/>
          <p:nvPr/>
        </p:nvSpPr>
        <p:spPr>
          <a:xfrm>
            <a:off x="3200400" y="2999232"/>
            <a:ext cx="0" cy="73152"/>
          </a:xfrm>
          <a:prstGeom prst="line">
            <a:avLst/>
          </a:prstGeom>
          <a:noFill/>
          <a:ln w="12700">
            <a:solidFill>
              <a:schemeClr val="tx1"/>
            </a:solidFill>
            <a:prstDash val="solid"/>
          </a:ln>
        </p:spPr>
      </p:sp>
      <p:sp>
        <p:nvSpPr>
          <p:cNvPr id="66" name="Text 63"/>
          <p:cNvSpPr txBox="1"/>
          <p:nvPr/>
        </p:nvSpPr>
        <p:spPr>
          <a:xfrm>
            <a:off x="822960" y="3127248"/>
            <a:ext cx="3291840" cy="237744"/>
          </a:xfrm>
          <a:prstGeom prst="rect">
            <a:avLst/>
          </a:prstGeom>
          <a:noFill/>
          <a:ln/>
        </p:spPr>
        <p:txBody>
          <a:bodyPr wrap="square" lIns="0" tIns="0" rIns="0" bIns="0" rtlCol="0" anchor="ctr"/>
          <a:lstStyle/>
          <a:p>
            <a:pPr algn="ctr" indent="0" marL="0">
              <a:buNone/>
            </a:pPr>
            <a:r>
              <a:rPr lang="en-US" sz="1050" dirty="0">
                <a:solidFill>
                  <a:schemeClr val="tx2"/>
                </a:solidFill>
              </a:rPr>
              <a:t>cz(0,2) in between commutes with cp: Z on q0 for both</a:t>
            </a:r>
            <a:endParaRPr lang="en-US" sz="1050" dirty="0"/>
          </a:p>
        </p:txBody>
      </p:sp>
      <p:sp>
        <p:nvSpPr>
          <p:cNvPr id="67" name="Text 64"/>
          <p:cNvSpPr txBox="1"/>
          <p:nvPr/>
        </p:nvSpPr>
        <p:spPr>
          <a:xfrm>
            <a:off x="6400800" y="3127248"/>
            <a:ext cx="3108960" cy="237744"/>
          </a:xfrm>
          <a:prstGeom prst="rect">
            <a:avLst/>
          </a:prstGeom>
          <a:noFill/>
          <a:ln/>
        </p:spPr>
        <p:txBody>
          <a:bodyPr wrap="square" lIns="0" tIns="0" rIns="0" bIns="0" rtlCol="0" anchor="ctr"/>
          <a:lstStyle/>
          <a:p>
            <a:pPr algn="ctr" indent="0" marL="0">
              <a:buNone/>
            </a:pPr>
            <a:r>
              <a:rPr lang="en-US" sz="1100" b="1" dirty="0">
                <a:solidFill>
                  <a:schemeClr val="accent1"/>
                </a:solidFill>
              </a:rPr>
              <a:t>swap + cp: one block for two-qubit synthesis</a:t>
            </a:r>
            <a:endParaRPr lang="en-US" sz="1100" dirty="0"/>
          </a:p>
        </p:txBody>
      </p:sp>
      <p:sp>
        <p:nvSpPr>
          <p:cNvPr id="68" name="Text 65"/>
          <p:cNvSpPr txBox="1"/>
          <p:nvPr/>
        </p:nvSpPr>
        <p:spPr>
          <a:xfrm>
            <a:off x="548640" y="3611880"/>
            <a:ext cx="11091672" cy="265176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300" b="1" dirty="0">
                <a:solidFill>
                  <a:schemeClr val="tx1"/>
                </a:solidFill>
              </a:rPr>
              <a:t>Units: </a:t>
            </a:r>
            <a:pPr indent="0" marL="0">
              <a:lnSpc>
                <a:spcPct val="105000"/>
              </a:lnSpc>
              <a:spcAft>
                <a:spcPts val="500"/>
              </a:spcAft>
              <a:buNone/>
            </a:pPr>
            <a:r>
              <a:rPr lang="en-US" sz="1300" dirty="0">
                <a:solidFill>
                  <a:schemeClr val="tx1"/>
                </a:solidFill>
              </a:rPr>
              <a:t>an allow-listed standard gate whose commuting Pauli is known on every wire (Z for rz, cz, cp, …; X for rx, sx; ZX for cx), a diagonal two-qubit UnitaryGate, or the block cx(a,b) · D(b) · cx(a,b) with D diagonal.</a:t>
            </a:r>
            <a:endParaRPr lang="en-US" sz="1300" dirty="0"/>
          </a:p>
          <a:p>
            <a:pPr marL="342900" indent="-342900">
              <a:lnSpc>
                <a:spcPct val="105000"/>
              </a:lnSpc>
              <a:spcAft>
                <a:spcPts val="500"/>
              </a:spcAft>
              <a:buSzPct val="100000"/>
              <a:buChar char="•"/>
            </a:pPr>
            <a:r>
              <a:rPr lang="en-US" sz="1300" b="1" dirty="0">
                <a:solidFill>
                  <a:schemeClr val="tx1"/>
                </a:solidFill>
              </a:rPr>
              <a:t>Path: </a:t>
            </a:r>
            <a:pPr indent="0" marL="0">
              <a:lnSpc>
                <a:spcPct val="105000"/>
              </a:lnSpc>
              <a:spcAft>
                <a:spcPts val="500"/>
              </a:spcAft>
              <a:buNone/>
            </a:pPr>
            <a:r>
              <a:rPr lang="en-US" sz="1300" dirty="0">
                <a:solidFill>
                  <a:schemeClr val="tx1"/>
                </a:solidFill>
              </a:rPr>
              <a:t>the unit may cross only operations that commute with the same Pauli on every shared wire, and never another swap.</a:t>
            </a:r>
            <a:endParaRPr lang="en-US" sz="1300" dirty="0"/>
          </a:p>
          <a:p>
            <a:pPr marL="342900" indent="-342900">
              <a:lnSpc>
                <a:spcPct val="105000"/>
              </a:lnSpc>
              <a:spcAft>
                <a:spcPts val="500"/>
              </a:spcAft>
              <a:buSzPct val="100000"/>
              <a:buChar char="•"/>
            </a:pPr>
            <a:r>
              <a:rPr lang="en-US" sz="1300" b="1" dirty="0">
                <a:solidFill>
                  <a:schemeClr val="tx1"/>
                </a:solidFill>
              </a:rPr>
              <a:t>Target: </a:t>
            </a:r>
            <a:pPr indent="0" marL="0">
              <a:lnSpc>
                <a:spcPct val="105000"/>
              </a:lnSpc>
              <a:spcAft>
                <a:spcPts val="500"/>
              </a:spcAft>
              <a:buNone/>
            </a:pPr>
            <a:r>
              <a:rPr lang="en-US" sz="1300" dirty="0">
                <a:solidFill>
                  <a:schemeClr val="tx1"/>
                </a:solidFill>
              </a:rPr>
              <a:t>both swap qubits must still do multi-qubit work later; otherwise the merged block's single-qubit remainder would idle until the end of the circuit. A barrier counts as such work.</a:t>
            </a:r>
            <a:endParaRPr lang="en-US" sz="1300" dirty="0"/>
          </a:p>
          <a:p>
            <a:pPr marL="342900" indent="-342900">
              <a:lnSpc>
                <a:spcPct val="105000"/>
              </a:lnSpc>
              <a:spcAft>
                <a:spcPts val="500"/>
              </a:spcAft>
              <a:buSzPct val="100000"/>
              <a:buChar char="•"/>
            </a:pPr>
            <a:r>
              <a:rPr lang="en-US" sz="1300" b="1" dirty="0">
                <a:solidFill>
                  <a:schemeClr val="tx1"/>
                </a:solidFill>
              </a:rPr>
              <a:t>Budget: </a:t>
            </a:r>
            <a:pPr indent="0" marL="0">
              <a:lnSpc>
                <a:spcPct val="105000"/>
              </a:lnSpc>
              <a:spcAft>
                <a:spcPts val="500"/>
              </a:spcAft>
              <a:buNone/>
            </a:pPr>
            <a:r>
              <a:rPr lang="en-US" sz="1300" dirty="0">
                <a:solidFill>
                  <a:schemeClr val="tx1"/>
                </a:solidFill>
              </a:rPr>
              <a:t>one unit per swap; a swap that already has a same-pair neighbour is left alone; a later candidate is preferred over an earlier one.</a:t>
            </a:r>
            <a:endParaRPr lang="en-US" sz="1300" dirty="0"/>
          </a:p>
          <a:p>
            <a:pPr marL="342900" indent="-342900">
              <a:lnSpc>
                <a:spcPct val="105000"/>
              </a:lnSpc>
              <a:spcAft>
                <a:spcPts val="500"/>
              </a:spcAft>
              <a:buSzPct val="100000"/>
              <a:buChar char="•"/>
            </a:pPr>
            <a:r>
              <a:rPr lang="en-US" sz="1300" b="1" dirty="0">
                <a:solidFill>
                  <a:schemeClr val="tx1"/>
                </a:solidFill>
              </a:rPr>
              <a:t>Application: </a:t>
            </a:r>
            <a:pPr indent="0" marL="0">
              <a:lnSpc>
                <a:spcPct val="105000"/>
              </a:lnSpc>
              <a:spcAft>
                <a:spcPts val="500"/>
              </a:spcAft>
              <a:buNone/>
            </a:pPr>
            <a:r>
              <a:rPr lang="en-US" sz="1300" dirty="0">
                <a:solidFill>
                  <a:schemeClr val="tx1"/>
                </a:solidFill>
              </a:rPr>
              <a:t>the swap node is replaced by a two-node block, swap · unit or unit · swap; the rest of the DAG is untouched.</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Where the pass runs in the pipeline</a:t>
            </a:r>
            <a:endParaRPr lang="en-US" sz="3000" dirty="0"/>
          </a:p>
        </p:txBody>
      </p:sp>
      <p:sp>
        <p:nvSpPr>
          <p:cNvPr id="4" name="Shape 1"/>
          <p:cNvSpPr/>
          <p:nvPr/>
        </p:nvSpPr>
        <p:spPr>
          <a:xfrm flipV="1">
            <a:off x="8709660" y="1481328"/>
            <a:ext cx="0" cy="301752"/>
          </a:xfrm>
          <a:prstGeom prst="line">
            <a:avLst/>
          </a:prstGeom>
          <a:noFill/>
          <a:ln w="15875">
            <a:solidFill>
              <a:schemeClr val="accent1"/>
            </a:solidFill>
            <a:prstDash val="dash"/>
          </a:ln>
        </p:spPr>
      </p:sp>
      <p:sp>
        <p:nvSpPr>
          <p:cNvPr id="5" name="Shape 2"/>
          <p:cNvSpPr/>
          <p:nvPr/>
        </p:nvSpPr>
        <p:spPr>
          <a:xfrm flipH="1">
            <a:off x="6880860" y="1481328"/>
            <a:ext cx="1828800" cy="0"/>
          </a:xfrm>
          <a:prstGeom prst="line">
            <a:avLst/>
          </a:prstGeom>
          <a:noFill/>
          <a:ln w="15875">
            <a:solidFill>
              <a:schemeClr val="accent1"/>
            </a:solidFill>
            <a:prstDash val="dash"/>
          </a:ln>
        </p:spPr>
      </p:sp>
      <p:sp>
        <p:nvSpPr>
          <p:cNvPr id="6" name="Shape 3"/>
          <p:cNvSpPr/>
          <p:nvPr/>
        </p:nvSpPr>
        <p:spPr>
          <a:xfrm>
            <a:off x="6880860" y="1481328"/>
            <a:ext cx="0" cy="283464"/>
          </a:xfrm>
          <a:prstGeom prst="line">
            <a:avLst/>
          </a:prstGeom>
          <a:noFill/>
          <a:ln w="15875">
            <a:solidFill>
              <a:schemeClr val="accent1"/>
            </a:solidFill>
            <a:prstDash val="dash"/>
            <a:tailEnd type="triangle"/>
          </a:ln>
        </p:spPr>
      </p:sp>
      <p:sp>
        <p:nvSpPr>
          <p:cNvPr id="7" name="Text 4"/>
          <p:cNvSpPr txBox="1"/>
          <p:nvPr/>
        </p:nvSpPr>
        <p:spPr>
          <a:xfrm>
            <a:off x="6446520" y="1225296"/>
            <a:ext cx="2743200" cy="237744"/>
          </a:xfrm>
          <a:prstGeom prst="rect">
            <a:avLst/>
          </a:prstGeom>
          <a:noFill/>
          <a:ln/>
        </p:spPr>
        <p:txBody>
          <a:bodyPr wrap="square" lIns="0" tIns="0" rIns="0" bIns="0" rtlCol="0" anchor="ctr"/>
          <a:lstStyle/>
          <a:p>
            <a:pPr algn="ctr" indent="0" marL="0">
              <a:buNone/>
            </a:pPr>
            <a:r>
              <a:rPr lang="en-US" sz="1050" dirty="0">
                <a:solidFill>
                  <a:schemeClr val="accent1"/>
                </a:solidFill>
              </a:rPr>
              <a:t>re-run while gates leave the basis</a:t>
            </a:r>
            <a:endParaRPr lang="en-US" sz="1050" dirty="0"/>
          </a:p>
        </p:txBody>
      </p:sp>
      <p:sp>
        <p:nvSpPr>
          <p:cNvPr id="8" name="Shape 5"/>
          <p:cNvSpPr/>
          <p:nvPr/>
        </p:nvSpPr>
        <p:spPr>
          <a:xfrm>
            <a:off x="685800" y="1783080"/>
            <a:ext cx="1417320" cy="548640"/>
          </a:xfrm>
          <a:prstGeom prst="roundRect">
            <a:avLst>
              <a:gd name="adj" fmla="val 10000"/>
            </a:avLst>
          </a:prstGeom>
          <a:solidFill>
            <a:schemeClr val="bg1"/>
          </a:solidFill>
          <a:ln w="12700">
            <a:solidFill>
              <a:schemeClr val="tx1"/>
            </a:solidFill>
            <a:prstDash val="solid"/>
          </a:ln>
        </p:spPr>
      </p:sp>
      <p:sp>
        <p:nvSpPr>
          <p:cNvPr id="9" name="Text 6"/>
          <p:cNvSpPr txBox="1"/>
          <p:nvPr/>
        </p:nvSpPr>
        <p:spPr>
          <a:xfrm>
            <a:off x="685800" y="1783080"/>
            <a:ext cx="1417320" cy="548640"/>
          </a:xfrm>
          <a:prstGeom prst="rect">
            <a:avLst/>
          </a:prstGeom>
          <a:noFill/>
          <a:ln/>
        </p:spPr>
        <p:txBody>
          <a:bodyPr wrap="square" lIns="0" tIns="0" rIns="0" bIns="0" rtlCol="0" anchor="ctr"/>
          <a:lstStyle/>
          <a:p>
            <a:pPr algn="ctr" indent="0" marL="0">
              <a:buNone/>
            </a:pPr>
            <a:r>
              <a:rPr lang="en-US" sz="1300" b="1" dirty="0">
                <a:solidFill>
                  <a:schemeClr val="tx1"/>
                </a:solidFill>
              </a:rPr>
              <a:t>init</a:t>
            </a:r>
            <a:endParaRPr lang="en-US" sz="1300" dirty="0"/>
          </a:p>
        </p:txBody>
      </p:sp>
      <p:sp>
        <p:nvSpPr>
          <p:cNvPr id="10" name="Shape 7"/>
          <p:cNvSpPr/>
          <p:nvPr/>
        </p:nvSpPr>
        <p:spPr>
          <a:xfrm>
            <a:off x="2139696" y="2057400"/>
            <a:ext cx="338328" cy="0"/>
          </a:xfrm>
          <a:prstGeom prst="line">
            <a:avLst/>
          </a:prstGeom>
          <a:noFill/>
          <a:ln w="15875">
            <a:solidFill>
              <a:schemeClr val="tx1"/>
            </a:solidFill>
            <a:prstDash val="solid"/>
            <a:tailEnd type="triangle"/>
          </a:ln>
        </p:spPr>
      </p:sp>
      <p:sp>
        <p:nvSpPr>
          <p:cNvPr id="11" name="Shape 8"/>
          <p:cNvSpPr/>
          <p:nvPr/>
        </p:nvSpPr>
        <p:spPr>
          <a:xfrm>
            <a:off x="2514600" y="1783080"/>
            <a:ext cx="1417320" cy="548640"/>
          </a:xfrm>
          <a:prstGeom prst="roundRect">
            <a:avLst>
              <a:gd name="adj" fmla="val 10000"/>
            </a:avLst>
          </a:prstGeom>
          <a:solidFill>
            <a:schemeClr val="bg1"/>
          </a:solidFill>
          <a:ln w="12700">
            <a:solidFill>
              <a:schemeClr val="tx1"/>
            </a:solidFill>
            <a:prstDash val="solid"/>
          </a:ln>
        </p:spPr>
      </p:sp>
      <p:sp>
        <p:nvSpPr>
          <p:cNvPr id="12" name="Text 9"/>
          <p:cNvSpPr txBox="1"/>
          <p:nvPr/>
        </p:nvSpPr>
        <p:spPr>
          <a:xfrm>
            <a:off x="2514600" y="1783080"/>
            <a:ext cx="1417320" cy="548640"/>
          </a:xfrm>
          <a:prstGeom prst="rect">
            <a:avLst/>
          </a:prstGeom>
          <a:noFill/>
          <a:ln/>
        </p:spPr>
        <p:txBody>
          <a:bodyPr wrap="square" lIns="0" tIns="0" rIns="0" bIns="0" rtlCol="0" anchor="ctr"/>
          <a:lstStyle/>
          <a:p>
            <a:pPr algn="ctr" indent="0" marL="0">
              <a:buNone/>
            </a:pPr>
            <a:r>
              <a:rPr lang="en-US" sz="1300" b="1" dirty="0">
                <a:solidFill>
                  <a:schemeClr val="tx1"/>
                </a:solidFill>
              </a:rPr>
              <a:t>layout</a:t>
            </a:r>
            <a:endParaRPr lang="en-US" sz="1300" dirty="0"/>
          </a:p>
        </p:txBody>
      </p:sp>
      <p:sp>
        <p:nvSpPr>
          <p:cNvPr id="13" name="Shape 10"/>
          <p:cNvSpPr/>
          <p:nvPr/>
        </p:nvSpPr>
        <p:spPr>
          <a:xfrm>
            <a:off x="3968496" y="2057400"/>
            <a:ext cx="338328" cy="0"/>
          </a:xfrm>
          <a:prstGeom prst="line">
            <a:avLst/>
          </a:prstGeom>
          <a:noFill/>
          <a:ln w="15875">
            <a:solidFill>
              <a:schemeClr val="tx1"/>
            </a:solidFill>
            <a:prstDash val="solid"/>
            <a:tailEnd type="triangle"/>
          </a:ln>
        </p:spPr>
      </p:sp>
      <p:sp>
        <p:nvSpPr>
          <p:cNvPr id="14" name="Shape 11"/>
          <p:cNvSpPr/>
          <p:nvPr/>
        </p:nvSpPr>
        <p:spPr>
          <a:xfrm>
            <a:off x="4343400" y="1783080"/>
            <a:ext cx="1417320" cy="548640"/>
          </a:xfrm>
          <a:prstGeom prst="roundRect">
            <a:avLst>
              <a:gd name="adj" fmla="val 10000"/>
            </a:avLst>
          </a:prstGeom>
          <a:solidFill>
            <a:schemeClr val="bg1"/>
          </a:solidFill>
          <a:ln w="12700">
            <a:solidFill>
              <a:schemeClr val="tx1"/>
            </a:solidFill>
            <a:prstDash val="solid"/>
          </a:ln>
        </p:spPr>
      </p:sp>
      <p:sp>
        <p:nvSpPr>
          <p:cNvPr id="15" name="Text 12"/>
          <p:cNvSpPr txBox="1"/>
          <p:nvPr/>
        </p:nvSpPr>
        <p:spPr>
          <a:xfrm>
            <a:off x="4343400" y="1783080"/>
            <a:ext cx="1417320" cy="548640"/>
          </a:xfrm>
          <a:prstGeom prst="rect">
            <a:avLst/>
          </a:prstGeom>
          <a:noFill/>
          <a:ln/>
        </p:spPr>
        <p:txBody>
          <a:bodyPr wrap="square" lIns="0" tIns="0" rIns="0" bIns="0" rtlCol="0" anchor="ctr"/>
          <a:lstStyle/>
          <a:p>
            <a:pPr algn="ctr" indent="0" marL="0">
              <a:buNone/>
            </a:pPr>
            <a:r>
              <a:rPr lang="en-US" sz="1300" b="1" dirty="0">
                <a:solidFill>
                  <a:schemeClr val="tx1"/>
                </a:solidFill>
              </a:rPr>
              <a:t>routing</a:t>
            </a:r>
            <a:endParaRPr lang="en-US" sz="1300" dirty="0"/>
          </a:p>
        </p:txBody>
      </p:sp>
      <p:sp>
        <p:nvSpPr>
          <p:cNvPr id="16" name="Shape 13"/>
          <p:cNvSpPr/>
          <p:nvPr/>
        </p:nvSpPr>
        <p:spPr>
          <a:xfrm>
            <a:off x="5797296" y="2057400"/>
            <a:ext cx="338328" cy="0"/>
          </a:xfrm>
          <a:prstGeom prst="line">
            <a:avLst/>
          </a:prstGeom>
          <a:noFill/>
          <a:ln w="15875">
            <a:solidFill>
              <a:schemeClr val="tx1"/>
            </a:solidFill>
            <a:prstDash val="solid"/>
            <a:tailEnd type="triangle"/>
          </a:ln>
        </p:spPr>
      </p:sp>
      <p:sp>
        <p:nvSpPr>
          <p:cNvPr id="17" name="Shape 14"/>
          <p:cNvSpPr/>
          <p:nvPr/>
        </p:nvSpPr>
        <p:spPr>
          <a:xfrm>
            <a:off x="6172200" y="1783080"/>
            <a:ext cx="1417320" cy="548640"/>
          </a:xfrm>
          <a:prstGeom prst="roundRect">
            <a:avLst>
              <a:gd name="adj" fmla="val 10000"/>
            </a:avLst>
          </a:prstGeom>
          <a:solidFill>
            <a:schemeClr val="accent5"/>
          </a:solidFill>
          <a:ln w="22225">
            <a:solidFill>
              <a:schemeClr val="accent1"/>
            </a:solidFill>
            <a:prstDash val="solid"/>
          </a:ln>
        </p:spPr>
      </p:sp>
      <p:sp>
        <p:nvSpPr>
          <p:cNvPr id="18" name="Text 15"/>
          <p:cNvSpPr txBox="1"/>
          <p:nvPr/>
        </p:nvSpPr>
        <p:spPr>
          <a:xfrm>
            <a:off x="6172200" y="1783080"/>
            <a:ext cx="1417320" cy="548640"/>
          </a:xfrm>
          <a:prstGeom prst="rect">
            <a:avLst/>
          </a:prstGeom>
          <a:noFill/>
          <a:ln/>
        </p:spPr>
        <p:txBody>
          <a:bodyPr wrap="square" lIns="0" tIns="0" rIns="0" bIns="0" rtlCol="0" anchor="ctr"/>
          <a:lstStyle/>
          <a:p>
            <a:pPr algn="ctr" indent="0" marL="0">
              <a:buNone/>
            </a:pPr>
            <a:r>
              <a:rPr lang="en-US" sz="1300" b="1" dirty="0">
                <a:solidFill>
                  <a:schemeClr val="accent1"/>
                </a:solidFill>
              </a:rPr>
              <a:t>translation</a:t>
            </a:r>
            <a:endParaRPr lang="en-US" sz="1300" dirty="0"/>
          </a:p>
        </p:txBody>
      </p:sp>
      <p:sp>
        <p:nvSpPr>
          <p:cNvPr id="19" name="Shape 16"/>
          <p:cNvSpPr/>
          <p:nvPr/>
        </p:nvSpPr>
        <p:spPr>
          <a:xfrm>
            <a:off x="7626096" y="2057400"/>
            <a:ext cx="338328" cy="0"/>
          </a:xfrm>
          <a:prstGeom prst="line">
            <a:avLst/>
          </a:prstGeom>
          <a:noFill/>
          <a:ln w="15875">
            <a:solidFill>
              <a:schemeClr val="tx1"/>
            </a:solidFill>
            <a:prstDash val="solid"/>
            <a:tailEnd type="triangle"/>
          </a:ln>
        </p:spPr>
      </p:sp>
      <p:sp>
        <p:nvSpPr>
          <p:cNvPr id="20" name="Shape 17"/>
          <p:cNvSpPr/>
          <p:nvPr/>
        </p:nvSpPr>
        <p:spPr>
          <a:xfrm>
            <a:off x="8001000" y="1783080"/>
            <a:ext cx="1417320" cy="548640"/>
          </a:xfrm>
          <a:prstGeom prst="roundRect">
            <a:avLst>
              <a:gd name="adj" fmla="val 10000"/>
            </a:avLst>
          </a:prstGeom>
          <a:solidFill>
            <a:schemeClr val="bg1"/>
          </a:solidFill>
          <a:ln w="12700">
            <a:solidFill>
              <a:schemeClr val="tx1"/>
            </a:solidFill>
            <a:prstDash val="solid"/>
          </a:ln>
        </p:spPr>
      </p:sp>
      <p:sp>
        <p:nvSpPr>
          <p:cNvPr id="21" name="Text 18"/>
          <p:cNvSpPr txBox="1"/>
          <p:nvPr/>
        </p:nvSpPr>
        <p:spPr>
          <a:xfrm>
            <a:off x="8001000" y="1783080"/>
            <a:ext cx="1417320" cy="548640"/>
          </a:xfrm>
          <a:prstGeom prst="rect">
            <a:avLst/>
          </a:prstGeom>
          <a:noFill/>
          <a:ln/>
        </p:spPr>
        <p:txBody>
          <a:bodyPr wrap="square" lIns="0" tIns="0" rIns="0" bIns="0" rtlCol="0" anchor="ctr"/>
          <a:lstStyle/>
          <a:p>
            <a:pPr algn="ctr" indent="0" marL="0">
              <a:buNone/>
            </a:pPr>
            <a:r>
              <a:rPr lang="en-US" sz="1300" b="1" dirty="0">
                <a:solidFill>
                  <a:schemeClr val="tx1"/>
                </a:solidFill>
              </a:rPr>
              <a:t>optimization</a:t>
            </a:r>
            <a:endParaRPr lang="en-US" sz="1300" dirty="0"/>
          </a:p>
        </p:txBody>
      </p:sp>
      <p:sp>
        <p:nvSpPr>
          <p:cNvPr id="22" name="Shape 19"/>
          <p:cNvSpPr/>
          <p:nvPr/>
        </p:nvSpPr>
        <p:spPr>
          <a:xfrm>
            <a:off x="9454896" y="2057400"/>
            <a:ext cx="338328" cy="0"/>
          </a:xfrm>
          <a:prstGeom prst="line">
            <a:avLst/>
          </a:prstGeom>
          <a:noFill/>
          <a:ln w="15875">
            <a:solidFill>
              <a:schemeClr val="tx1"/>
            </a:solidFill>
            <a:prstDash val="solid"/>
            <a:tailEnd type="triangle"/>
          </a:ln>
        </p:spPr>
      </p:sp>
      <p:sp>
        <p:nvSpPr>
          <p:cNvPr id="23" name="Shape 20"/>
          <p:cNvSpPr/>
          <p:nvPr/>
        </p:nvSpPr>
        <p:spPr>
          <a:xfrm>
            <a:off x="9829800" y="1783080"/>
            <a:ext cx="1417320" cy="548640"/>
          </a:xfrm>
          <a:prstGeom prst="roundRect">
            <a:avLst>
              <a:gd name="adj" fmla="val 10000"/>
            </a:avLst>
          </a:prstGeom>
          <a:solidFill>
            <a:schemeClr val="bg1"/>
          </a:solidFill>
          <a:ln w="12700">
            <a:solidFill>
              <a:schemeClr val="tx1"/>
            </a:solidFill>
            <a:prstDash val="solid"/>
          </a:ln>
        </p:spPr>
      </p:sp>
      <p:sp>
        <p:nvSpPr>
          <p:cNvPr id="24" name="Text 21"/>
          <p:cNvSpPr txBox="1"/>
          <p:nvPr/>
        </p:nvSpPr>
        <p:spPr>
          <a:xfrm>
            <a:off x="9829800" y="1783080"/>
            <a:ext cx="1417320" cy="548640"/>
          </a:xfrm>
          <a:prstGeom prst="rect">
            <a:avLst/>
          </a:prstGeom>
          <a:noFill/>
          <a:ln/>
        </p:spPr>
        <p:txBody>
          <a:bodyPr wrap="square" lIns="0" tIns="0" rIns="0" bIns="0" rtlCol="0" anchor="ctr"/>
          <a:lstStyle/>
          <a:p>
            <a:pPr algn="ctr" indent="0" marL="0">
              <a:buNone/>
            </a:pPr>
            <a:r>
              <a:rPr lang="en-US" sz="1300" b="1" dirty="0">
                <a:solidFill>
                  <a:schemeClr val="tx1"/>
                </a:solidFill>
              </a:rPr>
              <a:t>scheduling</a:t>
            </a:r>
            <a:endParaRPr lang="en-US" sz="1300" dirty="0"/>
          </a:p>
        </p:txBody>
      </p:sp>
      <p:sp>
        <p:nvSpPr>
          <p:cNvPr id="25" name="Text 22"/>
          <p:cNvSpPr txBox="1"/>
          <p:nvPr/>
        </p:nvSpPr>
        <p:spPr>
          <a:xfrm>
            <a:off x="411480" y="2386584"/>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ElidePermutations</a:t>
            </a:r>
            <a:endParaRPr lang="en-US" sz="1050" dirty="0"/>
          </a:p>
        </p:txBody>
      </p:sp>
      <p:sp>
        <p:nvSpPr>
          <p:cNvPr id="26" name="Text 23"/>
          <p:cNvSpPr txBox="1"/>
          <p:nvPr/>
        </p:nvSpPr>
        <p:spPr>
          <a:xfrm>
            <a:off x="2240280" y="2386584"/>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trivial, identity</a:t>
            </a:r>
            <a:endParaRPr lang="en-US" sz="1050" dirty="0"/>
          </a:p>
        </p:txBody>
      </p:sp>
      <p:sp>
        <p:nvSpPr>
          <p:cNvPr id="27" name="Text 24"/>
          <p:cNvSpPr txBox="1"/>
          <p:nvPr/>
        </p:nvSpPr>
        <p:spPr>
          <a:xfrm>
            <a:off x="4069080" y="2386584"/>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SABRE, seed, 20 trials</a:t>
            </a:r>
            <a:endParaRPr lang="en-US" sz="1050" dirty="0"/>
          </a:p>
        </p:txBody>
      </p:sp>
      <p:sp>
        <p:nvSpPr>
          <p:cNvPr id="28" name="Text 25"/>
          <p:cNvSpPr txBox="1"/>
          <p:nvPr/>
        </p:nvSpPr>
        <p:spPr>
          <a:xfrm>
            <a:off x="4069080" y="2587752"/>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VF2PostLayout skipped</a:t>
            </a:r>
            <a:endParaRPr lang="en-US" sz="1050" dirty="0"/>
          </a:p>
        </p:txBody>
      </p:sp>
      <p:sp>
        <p:nvSpPr>
          <p:cNvPr id="29" name="Text 26"/>
          <p:cNvSpPr txBox="1"/>
          <p:nvPr/>
        </p:nvSpPr>
        <p:spPr>
          <a:xfrm>
            <a:off x="7726680" y="2386584"/>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1q and 2q peephole loop</a:t>
            </a:r>
            <a:endParaRPr lang="en-US" sz="1050" dirty="0"/>
          </a:p>
        </p:txBody>
      </p:sp>
      <p:sp>
        <p:nvSpPr>
          <p:cNvPr id="30" name="Text 27"/>
          <p:cNvSpPr txBox="1"/>
          <p:nvPr/>
        </p:nvSpPr>
        <p:spPr>
          <a:xfrm>
            <a:off x="7726680" y="2587752"/>
            <a:ext cx="1965960" cy="201168"/>
          </a:xfrm>
          <a:prstGeom prst="rect">
            <a:avLst/>
          </a:prstGeom>
          <a:noFill/>
          <a:ln/>
        </p:spPr>
        <p:txBody>
          <a:bodyPr wrap="square" lIns="0" tIns="0" rIns="0" bIns="0" rtlCol="0" anchor="ctr"/>
          <a:lstStyle/>
          <a:p>
            <a:pPr algn="ctr" indent="0" marL="0">
              <a:buNone/>
            </a:pPr>
            <a:r>
              <a:rPr lang="en-US" sz="1050" dirty="0">
                <a:solidFill>
                  <a:schemeClr val="tx2"/>
                </a:solidFill>
              </a:rPr>
              <a:t>differs between levels</a:t>
            </a:r>
            <a:endParaRPr lang="en-US" sz="1050" dirty="0"/>
          </a:p>
        </p:txBody>
      </p:sp>
      <p:sp>
        <p:nvSpPr>
          <p:cNvPr id="31" name="Shape 28"/>
          <p:cNvSpPr/>
          <p:nvPr/>
        </p:nvSpPr>
        <p:spPr>
          <a:xfrm>
            <a:off x="6880860" y="2331720"/>
            <a:ext cx="0" cy="118872"/>
          </a:xfrm>
          <a:prstGeom prst="line">
            <a:avLst/>
          </a:prstGeom>
          <a:noFill/>
          <a:ln w="12700">
            <a:solidFill>
              <a:schemeClr val="tx1"/>
            </a:solidFill>
            <a:prstDash val="solid"/>
          </a:ln>
        </p:spPr>
      </p:sp>
      <p:sp>
        <p:nvSpPr>
          <p:cNvPr id="32" name="Shape 29"/>
          <p:cNvSpPr/>
          <p:nvPr/>
        </p:nvSpPr>
        <p:spPr>
          <a:xfrm>
            <a:off x="6172200" y="2450592"/>
            <a:ext cx="1417320" cy="310896"/>
          </a:xfrm>
          <a:prstGeom prst="roundRect">
            <a:avLst>
              <a:gd name="adj" fmla="val 17647"/>
            </a:avLst>
          </a:prstGeom>
          <a:solidFill>
            <a:schemeClr val="accent5"/>
          </a:solidFill>
          <a:ln w="15875">
            <a:solidFill>
              <a:schemeClr val="accent1"/>
            </a:solidFill>
            <a:prstDash val="solid"/>
          </a:ln>
        </p:spPr>
      </p:sp>
      <p:sp>
        <p:nvSpPr>
          <p:cNvPr id="33" name="Text 30"/>
          <p:cNvSpPr txBox="1"/>
          <p:nvPr/>
        </p:nvSpPr>
        <p:spPr>
          <a:xfrm>
            <a:off x="6172200" y="2450592"/>
            <a:ext cx="1417320" cy="310896"/>
          </a:xfrm>
          <a:prstGeom prst="rect">
            <a:avLst/>
          </a:prstGeom>
          <a:noFill/>
          <a:ln/>
        </p:spPr>
        <p:txBody>
          <a:bodyPr wrap="square" lIns="0" tIns="0" rIns="0" bIns="0" rtlCol="0" anchor="ctr"/>
          <a:lstStyle/>
          <a:p>
            <a:pPr algn="ctr" indent="0" marL="0">
              <a:buNone/>
            </a:pPr>
            <a:r>
              <a:rPr lang="en-US" sz="1100" b="1" dirty="0">
                <a:solidFill>
                  <a:schemeClr val="accent1"/>
                </a:solidFill>
              </a:rPr>
              <a:t>AbsorbIntoSwaps</a:t>
            </a:r>
            <a:endParaRPr lang="en-US" sz="1100" dirty="0"/>
          </a:p>
        </p:txBody>
      </p:sp>
      <p:sp>
        <p:nvSpPr>
          <p:cNvPr id="34" name="Text 31"/>
          <p:cNvSpPr txBox="1"/>
          <p:nvPr/>
        </p:nvSpPr>
        <p:spPr>
          <a:xfrm>
            <a:off x="5897880" y="2761488"/>
            <a:ext cx="1965960" cy="182880"/>
          </a:xfrm>
          <a:prstGeom prst="rect">
            <a:avLst/>
          </a:prstGeom>
          <a:noFill/>
          <a:ln/>
        </p:spPr>
        <p:txBody>
          <a:bodyPr wrap="square" lIns="0" tIns="0" rIns="0" bIns="0" rtlCol="0" anchor="ctr"/>
          <a:lstStyle/>
          <a:p>
            <a:pPr algn="ctr" indent="0" marL="0">
              <a:buNone/>
            </a:pPr>
            <a:r>
              <a:rPr lang="en-US" sz="950" i="1" dirty="0">
                <a:solidFill>
                  <a:schemeClr val="accent2"/>
                </a:solidFill>
              </a:rPr>
              <a:t>disabled run: no-op</a:t>
            </a:r>
            <a:endParaRPr lang="en-US" sz="950" dirty="0"/>
          </a:p>
        </p:txBody>
      </p:sp>
      <p:sp>
        <p:nvSpPr>
          <p:cNvPr id="35" name="Shape 32"/>
          <p:cNvSpPr/>
          <p:nvPr/>
        </p:nvSpPr>
        <p:spPr>
          <a:xfrm>
            <a:off x="6172200" y="2962656"/>
            <a:ext cx="1417320" cy="457200"/>
          </a:xfrm>
          <a:prstGeom prst="roundRect">
            <a:avLst>
              <a:gd name="adj" fmla="val 12000"/>
            </a:avLst>
          </a:prstGeom>
          <a:solidFill>
            <a:schemeClr val="bg1"/>
          </a:solidFill>
          <a:ln w="12700">
            <a:solidFill>
              <a:schemeClr val="tx1"/>
            </a:solidFill>
            <a:prstDash val="solid"/>
          </a:ln>
        </p:spPr>
      </p:sp>
      <p:sp>
        <p:nvSpPr>
          <p:cNvPr id="36" name="Text 33"/>
          <p:cNvSpPr txBox="1"/>
          <p:nvPr/>
        </p:nvSpPr>
        <p:spPr>
          <a:xfrm>
            <a:off x="6172200" y="2962656"/>
            <a:ext cx="1417320" cy="457200"/>
          </a:xfrm>
          <a:prstGeom prst="rect">
            <a:avLst/>
          </a:prstGeom>
          <a:noFill/>
          <a:ln/>
        </p:spPr>
        <p:txBody>
          <a:bodyPr wrap="square" lIns="0" tIns="0" rIns="0" bIns="0" rtlCol="0" anchor="ctr"/>
          <a:lstStyle/>
          <a:p>
            <a:pPr algn="ctr" indent="0" marL="0">
              <a:buNone/>
            </a:pPr>
            <a:r>
              <a:rPr lang="en-US" sz="1000" dirty="0">
                <a:solidFill>
                  <a:schemeClr val="tx1"/>
                </a:solidFill>
              </a:rPr>
              <a:t>synthesis, HLS,</a:t>
            </a:r>
            <a:endParaRPr lang="en-US" sz="1000" dirty="0"/>
          </a:p>
          <a:p>
            <a:pPr algn="ctr" indent="0" marL="0">
              <a:buNone/>
            </a:pPr>
            <a:r>
              <a:rPr lang="en-US" sz="1000" dirty="0">
                <a:solidFill>
                  <a:schemeClr val="tx1"/>
                </a:solidFill>
              </a:rPr>
              <a:t>BasisTranslator</a:t>
            </a:r>
            <a:endParaRPr lang="en-US" sz="1000" dirty="0"/>
          </a:p>
        </p:txBody>
      </p:sp>
      <p:sp>
        <p:nvSpPr>
          <p:cNvPr id="37" name="Shape 34"/>
          <p:cNvSpPr/>
          <p:nvPr/>
        </p:nvSpPr>
        <p:spPr>
          <a:xfrm>
            <a:off x="685800" y="3538728"/>
            <a:ext cx="0" cy="73152"/>
          </a:xfrm>
          <a:prstGeom prst="line">
            <a:avLst/>
          </a:prstGeom>
          <a:noFill/>
          <a:ln w="12700">
            <a:solidFill>
              <a:schemeClr val="tx1"/>
            </a:solidFill>
            <a:prstDash val="solid"/>
          </a:ln>
        </p:spPr>
      </p:sp>
      <p:sp>
        <p:nvSpPr>
          <p:cNvPr id="38" name="Shape 35"/>
          <p:cNvSpPr/>
          <p:nvPr/>
        </p:nvSpPr>
        <p:spPr>
          <a:xfrm>
            <a:off x="685800" y="3611880"/>
            <a:ext cx="6903720" cy="0"/>
          </a:xfrm>
          <a:prstGeom prst="line">
            <a:avLst/>
          </a:prstGeom>
          <a:noFill/>
          <a:ln w="12700">
            <a:solidFill>
              <a:schemeClr val="tx1"/>
            </a:solidFill>
            <a:prstDash val="solid"/>
          </a:ln>
        </p:spPr>
      </p:sp>
      <p:sp>
        <p:nvSpPr>
          <p:cNvPr id="39" name="Shape 36"/>
          <p:cNvSpPr/>
          <p:nvPr/>
        </p:nvSpPr>
        <p:spPr>
          <a:xfrm>
            <a:off x="7589520" y="3538728"/>
            <a:ext cx="0" cy="73152"/>
          </a:xfrm>
          <a:prstGeom prst="line">
            <a:avLst/>
          </a:prstGeom>
          <a:noFill/>
          <a:ln w="12700">
            <a:solidFill>
              <a:schemeClr val="tx1"/>
            </a:solidFill>
            <a:prstDash val="solid"/>
          </a:ln>
        </p:spPr>
      </p:sp>
      <p:sp>
        <p:nvSpPr>
          <p:cNvPr id="40" name="Shape 37"/>
          <p:cNvSpPr/>
          <p:nvPr/>
        </p:nvSpPr>
        <p:spPr>
          <a:xfrm>
            <a:off x="8001000" y="3538728"/>
            <a:ext cx="0" cy="73152"/>
          </a:xfrm>
          <a:prstGeom prst="line">
            <a:avLst/>
          </a:prstGeom>
          <a:noFill/>
          <a:ln w="12700">
            <a:solidFill>
              <a:schemeClr val="tx1"/>
            </a:solidFill>
            <a:prstDash val="solid"/>
          </a:ln>
        </p:spPr>
      </p:sp>
      <p:sp>
        <p:nvSpPr>
          <p:cNvPr id="41" name="Shape 38"/>
          <p:cNvSpPr/>
          <p:nvPr/>
        </p:nvSpPr>
        <p:spPr>
          <a:xfrm>
            <a:off x="8001000" y="3611880"/>
            <a:ext cx="1417320" cy="0"/>
          </a:xfrm>
          <a:prstGeom prst="line">
            <a:avLst/>
          </a:prstGeom>
          <a:noFill/>
          <a:ln w="12700">
            <a:solidFill>
              <a:schemeClr val="tx1"/>
            </a:solidFill>
            <a:prstDash val="solid"/>
          </a:ln>
        </p:spPr>
      </p:sp>
      <p:sp>
        <p:nvSpPr>
          <p:cNvPr id="42" name="Shape 39"/>
          <p:cNvSpPr/>
          <p:nvPr/>
        </p:nvSpPr>
        <p:spPr>
          <a:xfrm>
            <a:off x="9418320" y="3538728"/>
            <a:ext cx="0" cy="73152"/>
          </a:xfrm>
          <a:prstGeom prst="line">
            <a:avLst/>
          </a:prstGeom>
          <a:noFill/>
          <a:ln w="12700">
            <a:solidFill>
              <a:schemeClr val="tx1"/>
            </a:solidFill>
            <a:prstDash val="solid"/>
          </a:ln>
        </p:spPr>
      </p:sp>
      <p:sp>
        <p:nvSpPr>
          <p:cNvPr id="43" name="Text 40"/>
          <p:cNvSpPr txBox="1"/>
          <p:nvPr/>
        </p:nvSpPr>
        <p:spPr>
          <a:xfrm>
            <a:off x="685800" y="3657600"/>
            <a:ext cx="6903720" cy="219456"/>
          </a:xfrm>
          <a:prstGeom prst="rect">
            <a:avLst/>
          </a:prstGeom>
          <a:noFill/>
          <a:ln/>
        </p:spPr>
        <p:txBody>
          <a:bodyPr wrap="square" lIns="0" tIns="0" rIns="0" bIns="0" rtlCol="0" anchor="ctr"/>
          <a:lstStyle/>
          <a:p>
            <a:pPr algn="ctr" indent="0" marL="0">
              <a:buNone/>
            </a:pPr>
            <a:r>
              <a:rPr lang="en-US" sz="1050" dirty="0">
                <a:solidFill>
                  <a:schemeClr val="tx2"/>
                </a:solidFill>
              </a:rPr>
              <a:t>same DAG reaches the absorption pass at levels 2 and 3 (same seed, no VF2PostLayout)</a:t>
            </a:r>
            <a:endParaRPr lang="en-US" sz="1050" dirty="0"/>
          </a:p>
        </p:txBody>
      </p:sp>
      <p:sp>
        <p:nvSpPr>
          <p:cNvPr id="44" name="Text 41"/>
          <p:cNvSpPr txBox="1"/>
          <p:nvPr/>
        </p:nvSpPr>
        <p:spPr>
          <a:xfrm>
            <a:off x="7726680" y="3657600"/>
            <a:ext cx="1965960" cy="219456"/>
          </a:xfrm>
          <a:prstGeom prst="rect">
            <a:avLst/>
          </a:prstGeom>
          <a:noFill/>
          <a:ln/>
        </p:spPr>
        <p:txBody>
          <a:bodyPr wrap="square" lIns="0" tIns="0" rIns="0" bIns="0" rtlCol="0" anchor="ctr"/>
          <a:lstStyle/>
          <a:p>
            <a:pPr algn="ctr" indent="0" marL="0">
              <a:buNone/>
            </a:pPr>
            <a:r>
              <a:rPr lang="en-US" sz="1050" dirty="0">
                <a:solidFill>
                  <a:schemeClr val="tx2"/>
                </a:solidFill>
              </a:rPr>
              <a:t>level-dependent</a:t>
            </a:r>
            <a:endParaRPr lang="en-US" sz="1050" dirty="0"/>
          </a:p>
        </p:txBody>
      </p:sp>
      <p:sp>
        <p:nvSpPr>
          <p:cNvPr id="45" name="Text 42"/>
          <p:cNvSpPr txBox="1"/>
          <p:nvPr/>
        </p:nvSpPr>
        <p:spPr>
          <a:xfrm>
            <a:off x="548640" y="4069080"/>
            <a:ext cx="11091672" cy="22402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250" b="1" dirty="0">
                <a:solidFill>
                  <a:schemeClr val="tx1"/>
                </a:solidFill>
              </a:rPr>
              <a:t>Levels 2 and 3 report identical absorption statistics (66 cases, 435 moves, 66 executions), and that is expected. </a:t>
            </a:r>
            <a:pPr indent="0" marL="0">
              <a:lnSpc>
                <a:spcPct val="105000"/>
              </a:lnSpc>
              <a:spcAft>
                <a:spcPts val="500"/>
              </a:spcAft>
              <a:buNone/>
            </a:pPr>
            <a:r>
              <a:rPr lang="en-US" sz="1250" dirty="0">
                <a:solidFill>
                  <a:schemeClr val="tx1"/>
                </a:solidFill>
              </a:rPr>
              <a:t>With a trivial initial layout and a fixed SABRE seed, layout and routing are identical at both levels, and the user-given layout disables VF2PostLayout. The same routed DAG reaches the pass at both levels; what the level changes is the optimization loop downstream, which has to keep the moved block exact.</a:t>
            </a:r>
            <a:endParaRPr lang="en-US" sz="1250" dirty="0"/>
          </a:p>
          <a:p>
            <a:pPr marL="342900" indent="-342900">
              <a:lnSpc>
                <a:spcPct val="105000"/>
              </a:lnSpc>
              <a:spcAft>
                <a:spcPts val="500"/>
              </a:spcAft>
              <a:buSzPct val="100000"/>
              <a:buChar char="•"/>
            </a:pPr>
            <a:r>
              <a:rPr lang="en-US" sz="1250" b="1" dirty="0">
                <a:solidFill>
                  <a:schemeClr val="tx1"/>
                </a:solidFill>
              </a:rPr>
              <a:t>Routing is not what the pass changes. </a:t>
            </a:r>
            <a:pPr indent="0" marL="0">
              <a:lnSpc>
                <a:spcPct val="105000"/>
              </a:lnSpc>
              <a:spcAft>
                <a:spcPts val="500"/>
              </a:spcAft>
              <a:buNone/>
            </a:pPr>
            <a:r>
              <a:rPr lang="en-US" sz="1250" dirty="0">
                <a:solidFill>
                  <a:schemeClr val="tx1"/>
                </a:solidFill>
              </a:rPr>
              <a:t>The pass runs after routing, so switching it on cannot alter the final permutation: in all 132 cases the enabled and disabled outputs end with the same permutation. What differs is the gate structure that translation and optimization build from the routed DAG, and that is what the change check compares.</a:t>
            </a:r>
            <a:endParaRPr lang="en-US" sz="1250" dirty="0"/>
          </a:p>
          <a:p>
            <a:pPr marL="342900" indent="-342900">
              <a:lnSpc>
                <a:spcPct val="105000"/>
              </a:lnSpc>
              <a:spcAft>
                <a:spcPts val="500"/>
              </a:spcAft>
              <a:buSzPct val="100000"/>
              <a:buChar char="•"/>
            </a:pPr>
            <a:r>
              <a:rPr lang="en-US" sz="1250" b="1" dirty="0">
                <a:solidFill>
                  <a:schemeClr val="tx1"/>
                </a:solidFill>
              </a:rPr>
              <a:t>The pass may execute more than once per case. </a:t>
            </a:r>
            <a:pPr indent="0" marL="0">
              <a:lnSpc>
                <a:spcPct val="105000"/>
              </a:lnSpc>
              <a:spcAft>
                <a:spcPts val="500"/>
              </a:spcAft>
              <a:buNone/>
            </a:pPr>
            <a:r>
              <a:rPr lang="en-US" sz="1250" dirty="0">
                <a:solidFill>
                  <a:schemeClr val="tx1"/>
                </a:solidFill>
              </a:rPr>
              <a:t>The translation stage is inlined into the optimization loop behind a gates-in-basis condition. The harness counts executions through the pass-manager callback and sums the moves of every invocation. In the recorded run each case executed the pass exactly once.</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Enabled versus disabled, in one checkout</a:t>
            </a:r>
            <a:endParaRPr lang="en-US" sz="3000" dirty="0"/>
          </a:p>
        </p:txBody>
      </p:sp>
      <p:sp>
        <p:nvSpPr>
          <p:cNvPr id="4" name="Shape 1"/>
          <p:cNvSpPr/>
          <p:nvPr/>
        </p:nvSpPr>
        <p:spPr>
          <a:xfrm>
            <a:off x="548640" y="2194560"/>
            <a:ext cx="2194560" cy="1005840"/>
          </a:xfrm>
          <a:prstGeom prst="roundRect">
            <a:avLst>
              <a:gd name="adj" fmla="val 5455"/>
            </a:avLst>
          </a:prstGeom>
          <a:solidFill>
            <a:schemeClr val="bg1"/>
          </a:solidFill>
          <a:ln w="12700">
            <a:solidFill>
              <a:schemeClr val="tx1"/>
            </a:solidFill>
            <a:prstDash val="solid"/>
          </a:ln>
        </p:spPr>
      </p:sp>
      <p:sp>
        <p:nvSpPr>
          <p:cNvPr id="5" name="Text 2"/>
          <p:cNvSpPr txBox="1"/>
          <p:nvPr/>
        </p:nvSpPr>
        <p:spPr>
          <a:xfrm>
            <a:off x="685800" y="2267712"/>
            <a:ext cx="1920240" cy="256032"/>
          </a:xfrm>
          <a:prstGeom prst="rect">
            <a:avLst/>
          </a:prstGeom>
          <a:noFill/>
          <a:ln/>
        </p:spPr>
        <p:txBody>
          <a:bodyPr wrap="square" lIns="0" tIns="0" rIns="0" bIns="0" rtlCol="0" anchor="t"/>
          <a:lstStyle/>
          <a:p>
            <a:pPr algn="l" indent="0" marL="0">
              <a:buNone/>
            </a:pPr>
            <a:r>
              <a:rPr lang="en-US" sz="1200" b="1" dirty="0">
                <a:solidFill>
                  <a:schemeClr val="tx1"/>
                </a:solidFill>
              </a:rPr>
              <a:t>Prepared input</a:t>
            </a:r>
            <a:endParaRPr lang="en-US" sz="1200" dirty="0"/>
          </a:p>
        </p:txBody>
      </p:sp>
      <p:sp>
        <p:nvSpPr>
          <p:cNvPr id="6" name="Text 3"/>
          <p:cNvSpPr txBox="1"/>
          <p:nvPr/>
        </p:nvSpPr>
        <p:spPr>
          <a:xfrm>
            <a:off x="685800" y="2532888"/>
            <a:ext cx="1920240" cy="384048"/>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one circuit per fixture; each run gets its own copy</a:t>
            </a:r>
            <a:endParaRPr lang="en-US" sz="1000" dirty="0"/>
          </a:p>
        </p:txBody>
      </p:sp>
      <p:sp>
        <p:nvSpPr>
          <p:cNvPr id="7" name="Text 4"/>
          <p:cNvSpPr txBox="1"/>
          <p:nvPr/>
        </p:nvSpPr>
        <p:spPr>
          <a:xfrm>
            <a:off x="685800" y="2898648"/>
            <a:ext cx="1920240" cy="237744"/>
          </a:xfrm>
          <a:prstGeom prst="rect">
            <a:avLst/>
          </a:prstGeom>
          <a:noFill/>
          <a:ln/>
        </p:spPr>
        <p:txBody>
          <a:bodyPr wrap="square" lIns="0" tIns="0" rIns="0" bIns="0" rtlCol="0" anchor="t"/>
          <a:lstStyle/>
          <a:p>
            <a:pPr algn="l" indent="0" marL="0">
              <a:buNone/>
            </a:pPr>
            <a:r>
              <a:rPr lang="en-US" sz="900" dirty="0">
                <a:solidFill>
                  <a:schemeClr val="tx2"/>
                </a:solidFill>
                <a:latin typeface="Courier New" pitchFamily="34" charset="0"/>
                <a:ea typeface="Courier New" pitchFamily="34" charset="-122"/>
                <a:cs typeface="Courier New" pitchFamily="34" charset="-120"/>
              </a:rPr>
              <a:t>reference = from_circuit(qc)</a:t>
            </a:r>
            <a:endParaRPr lang="en-US" sz="900" dirty="0"/>
          </a:p>
        </p:txBody>
      </p:sp>
      <p:sp>
        <p:nvSpPr>
          <p:cNvPr id="8" name="Shape 5"/>
          <p:cNvSpPr/>
          <p:nvPr/>
        </p:nvSpPr>
        <p:spPr>
          <a:xfrm>
            <a:off x="3383280" y="1371600"/>
            <a:ext cx="2834640" cy="1005840"/>
          </a:xfrm>
          <a:prstGeom prst="roundRect">
            <a:avLst>
              <a:gd name="adj" fmla="val 5455"/>
            </a:avLst>
          </a:prstGeom>
          <a:solidFill>
            <a:schemeClr val="accent5"/>
          </a:solidFill>
          <a:ln w="19050">
            <a:solidFill>
              <a:schemeClr val="accent1"/>
            </a:solidFill>
            <a:prstDash val="solid"/>
          </a:ln>
        </p:spPr>
      </p:sp>
      <p:sp>
        <p:nvSpPr>
          <p:cNvPr id="9" name="Text 6"/>
          <p:cNvSpPr txBox="1"/>
          <p:nvPr/>
        </p:nvSpPr>
        <p:spPr>
          <a:xfrm>
            <a:off x="3520440" y="1444752"/>
            <a:ext cx="2560320" cy="256032"/>
          </a:xfrm>
          <a:prstGeom prst="rect">
            <a:avLst/>
          </a:prstGeom>
          <a:noFill/>
          <a:ln/>
        </p:spPr>
        <p:txBody>
          <a:bodyPr wrap="square" lIns="0" tIns="0" rIns="0" bIns="0" rtlCol="0" anchor="t"/>
          <a:lstStyle/>
          <a:p>
            <a:pPr algn="l" indent="0" marL="0">
              <a:buNone/>
            </a:pPr>
            <a:r>
              <a:rPr lang="en-US" sz="1200" b="1" dirty="0">
                <a:solidFill>
                  <a:schemeClr val="accent1"/>
                </a:solidFill>
              </a:rPr>
              <a:t>Absorption enabled</a:t>
            </a:r>
            <a:endParaRPr lang="en-US" sz="1200" dirty="0"/>
          </a:p>
        </p:txBody>
      </p:sp>
      <p:sp>
        <p:nvSpPr>
          <p:cNvPr id="10" name="Text 7"/>
          <p:cNvSpPr txBox="1"/>
          <p:nvPr/>
        </p:nvSpPr>
        <p:spPr>
          <a:xfrm>
            <a:off x="3520440" y="1719072"/>
            <a:ext cx="2560320" cy="640080"/>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real preset pass manager; _find_moves wrapped to count moves; a callback counts executions and swaps seen</a:t>
            </a:r>
            <a:endParaRPr lang="en-US" sz="1000" dirty="0"/>
          </a:p>
        </p:txBody>
      </p:sp>
      <p:sp>
        <p:nvSpPr>
          <p:cNvPr id="11" name="Shape 8"/>
          <p:cNvSpPr/>
          <p:nvPr/>
        </p:nvSpPr>
        <p:spPr>
          <a:xfrm>
            <a:off x="3383280" y="3017520"/>
            <a:ext cx="2834640" cy="1005840"/>
          </a:xfrm>
          <a:prstGeom prst="roundRect">
            <a:avLst>
              <a:gd name="adj" fmla="val 5455"/>
            </a:avLst>
          </a:prstGeom>
          <a:solidFill>
            <a:schemeClr val="bg1"/>
          </a:solidFill>
          <a:ln w="12700">
            <a:solidFill>
              <a:schemeClr val="tx1"/>
            </a:solidFill>
            <a:prstDash val="solid"/>
          </a:ln>
        </p:spPr>
      </p:sp>
      <p:sp>
        <p:nvSpPr>
          <p:cNvPr id="12" name="Text 9"/>
          <p:cNvSpPr txBox="1"/>
          <p:nvPr/>
        </p:nvSpPr>
        <p:spPr>
          <a:xfrm>
            <a:off x="3520440" y="3090672"/>
            <a:ext cx="2560320" cy="256032"/>
          </a:xfrm>
          <a:prstGeom prst="rect">
            <a:avLst/>
          </a:prstGeom>
          <a:noFill/>
          <a:ln/>
        </p:spPr>
        <p:txBody>
          <a:bodyPr wrap="square" lIns="0" tIns="0" rIns="0" bIns="0" rtlCol="0" anchor="t"/>
          <a:lstStyle/>
          <a:p>
            <a:pPr algn="l" indent="0" marL="0">
              <a:buNone/>
            </a:pPr>
            <a:r>
              <a:rPr lang="en-US" sz="1200" b="1" dirty="0">
                <a:solidFill>
                  <a:schemeClr val="tx1"/>
                </a:solidFill>
              </a:rPr>
              <a:t>Absorption disabled</a:t>
            </a:r>
            <a:endParaRPr lang="en-US" sz="1200" dirty="0"/>
          </a:p>
        </p:txBody>
      </p:sp>
      <p:sp>
        <p:nvSpPr>
          <p:cNvPr id="13" name="Text 10"/>
          <p:cNvSpPr txBox="1"/>
          <p:nvPr/>
        </p:nvSpPr>
        <p:spPr>
          <a:xfrm>
            <a:off x="3520440" y="3364992"/>
            <a:ext cx="2560320" cy="640080"/>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same pass manager, settings and seed; _AbsorbIntoSwaps.run patched to lambda self, dag: dag</a:t>
            </a:r>
            <a:endParaRPr lang="en-US" sz="1000" dirty="0"/>
          </a:p>
        </p:txBody>
      </p:sp>
      <p:sp>
        <p:nvSpPr>
          <p:cNvPr id="14" name="Shape 11"/>
          <p:cNvSpPr/>
          <p:nvPr/>
        </p:nvSpPr>
        <p:spPr>
          <a:xfrm>
            <a:off x="6858000" y="1371600"/>
            <a:ext cx="2194560" cy="1005840"/>
          </a:xfrm>
          <a:prstGeom prst="roundRect">
            <a:avLst>
              <a:gd name="adj" fmla="val 5455"/>
            </a:avLst>
          </a:prstGeom>
          <a:solidFill>
            <a:schemeClr val="bg1"/>
          </a:solidFill>
          <a:ln w="12700">
            <a:solidFill>
              <a:schemeClr val="tx1"/>
            </a:solidFill>
            <a:prstDash val="solid"/>
          </a:ln>
        </p:spPr>
      </p:sp>
      <p:sp>
        <p:nvSpPr>
          <p:cNvPr id="15" name="Text 12"/>
          <p:cNvSpPr txBox="1"/>
          <p:nvPr/>
        </p:nvSpPr>
        <p:spPr>
          <a:xfrm>
            <a:off x="6995160" y="1444752"/>
            <a:ext cx="1920240" cy="256032"/>
          </a:xfrm>
          <a:prstGeom prst="rect">
            <a:avLst/>
          </a:prstGeom>
          <a:noFill/>
          <a:ln/>
        </p:spPr>
        <p:txBody>
          <a:bodyPr wrap="square" lIns="0" tIns="0" rIns="0" bIns="0" rtlCol="0" anchor="t"/>
          <a:lstStyle/>
          <a:p>
            <a:pPr algn="l" indent="0" marL="0">
              <a:buNone/>
            </a:pPr>
            <a:r>
              <a:rPr lang="en-US" sz="1150" b="1" dirty="0">
                <a:solidFill>
                  <a:schemeClr val="tx1"/>
                </a:solidFill>
                <a:latin typeface="Courier New" pitchFamily="34" charset="0"/>
                <a:ea typeface="Courier New" pitchFamily="34" charset="-122"/>
                <a:cs typeface="Courier New" pitchFamily="34" charset="-120"/>
              </a:rPr>
              <a:t>check_output</a:t>
            </a:r>
            <a:endParaRPr lang="en-US" sz="1150" dirty="0"/>
          </a:p>
        </p:txBody>
      </p:sp>
      <p:sp>
        <p:nvSpPr>
          <p:cNvPr id="16" name="Text 13"/>
          <p:cNvSpPr txBox="1"/>
          <p:nvPr/>
        </p:nvSpPr>
        <p:spPr>
          <a:xfrm>
            <a:off x="6995160" y="1719072"/>
            <a:ext cx="1920240" cy="640080"/>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width, layout, connectivity, basis; metrics; Operator == reference</a:t>
            </a:r>
            <a:endParaRPr lang="en-US" sz="1000" dirty="0"/>
          </a:p>
        </p:txBody>
      </p:sp>
      <p:sp>
        <p:nvSpPr>
          <p:cNvPr id="17" name="Shape 14"/>
          <p:cNvSpPr/>
          <p:nvPr/>
        </p:nvSpPr>
        <p:spPr>
          <a:xfrm>
            <a:off x="6858000" y="3017520"/>
            <a:ext cx="2194560" cy="1005840"/>
          </a:xfrm>
          <a:prstGeom prst="roundRect">
            <a:avLst>
              <a:gd name="adj" fmla="val 5455"/>
            </a:avLst>
          </a:prstGeom>
          <a:solidFill>
            <a:schemeClr val="bg1"/>
          </a:solidFill>
          <a:ln w="12700">
            <a:solidFill>
              <a:schemeClr val="tx1"/>
            </a:solidFill>
            <a:prstDash val="solid"/>
          </a:ln>
        </p:spPr>
      </p:sp>
      <p:sp>
        <p:nvSpPr>
          <p:cNvPr id="18" name="Text 15"/>
          <p:cNvSpPr txBox="1"/>
          <p:nvPr/>
        </p:nvSpPr>
        <p:spPr>
          <a:xfrm>
            <a:off x="6995160" y="3090672"/>
            <a:ext cx="1920240" cy="256032"/>
          </a:xfrm>
          <a:prstGeom prst="rect">
            <a:avLst/>
          </a:prstGeom>
          <a:noFill/>
          <a:ln/>
        </p:spPr>
        <p:txBody>
          <a:bodyPr wrap="square" lIns="0" tIns="0" rIns="0" bIns="0" rtlCol="0" anchor="t"/>
          <a:lstStyle/>
          <a:p>
            <a:pPr algn="l" indent="0" marL="0">
              <a:buNone/>
            </a:pPr>
            <a:r>
              <a:rPr lang="en-US" sz="1150" b="1" dirty="0">
                <a:solidFill>
                  <a:schemeClr val="tx1"/>
                </a:solidFill>
                <a:latin typeface="Courier New" pitchFamily="34" charset="0"/>
                <a:ea typeface="Courier New" pitchFamily="34" charset="-122"/>
                <a:cs typeface="Courier New" pitchFamily="34" charset="-120"/>
              </a:rPr>
              <a:t>check_output</a:t>
            </a:r>
            <a:endParaRPr lang="en-US" sz="1150" dirty="0"/>
          </a:p>
        </p:txBody>
      </p:sp>
      <p:sp>
        <p:nvSpPr>
          <p:cNvPr id="19" name="Text 16"/>
          <p:cNvSpPr txBox="1"/>
          <p:nvPr/>
        </p:nvSpPr>
        <p:spPr>
          <a:xfrm>
            <a:off x="6995160" y="3364992"/>
            <a:ext cx="1920240" cy="640080"/>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the same checks; metrics stored with a disabled_ prefix</a:t>
            </a:r>
            <a:endParaRPr lang="en-US" sz="1000" dirty="0"/>
          </a:p>
        </p:txBody>
      </p:sp>
      <p:sp>
        <p:nvSpPr>
          <p:cNvPr id="20" name="Shape 17"/>
          <p:cNvSpPr/>
          <p:nvPr/>
        </p:nvSpPr>
        <p:spPr>
          <a:xfrm>
            <a:off x="9692640" y="2194560"/>
            <a:ext cx="1947672" cy="1005840"/>
          </a:xfrm>
          <a:prstGeom prst="roundRect">
            <a:avLst>
              <a:gd name="adj" fmla="val 5455"/>
            </a:avLst>
          </a:prstGeom>
          <a:solidFill>
            <a:schemeClr val="accent6"/>
          </a:solidFill>
          <a:ln w="19050">
            <a:solidFill>
              <a:schemeClr val="accent2"/>
            </a:solidFill>
            <a:prstDash val="solid"/>
          </a:ln>
        </p:spPr>
      </p:sp>
      <p:sp>
        <p:nvSpPr>
          <p:cNvPr id="21" name="Text 18"/>
          <p:cNvSpPr txBox="1"/>
          <p:nvPr/>
        </p:nvSpPr>
        <p:spPr>
          <a:xfrm>
            <a:off x="9829800" y="2267712"/>
            <a:ext cx="1737360" cy="256032"/>
          </a:xfrm>
          <a:prstGeom prst="rect">
            <a:avLst/>
          </a:prstGeom>
          <a:noFill/>
          <a:ln/>
        </p:spPr>
        <p:txBody>
          <a:bodyPr wrap="square" lIns="0" tIns="0" rIns="0" bIns="0" rtlCol="0" anchor="t"/>
          <a:lstStyle/>
          <a:p>
            <a:pPr algn="l" indent="0" marL="0">
              <a:buNone/>
            </a:pPr>
            <a:r>
              <a:rPr lang="en-US" sz="1150" b="1" dirty="0">
                <a:solidFill>
                  <a:schemeClr val="accent2"/>
                </a:solidFill>
                <a:latin typeface="Courier New" pitchFamily="34" charset="0"/>
                <a:ea typeface="Courier New" pitchFamily="34" charset="-122"/>
                <a:cs typeface="Courier New" pitchFamily="34" charset="-120"/>
              </a:rPr>
              <a:t>check_changes</a:t>
            </a:r>
            <a:endParaRPr lang="en-US" sz="1150" dirty="0"/>
          </a:p>
        </p:txBody>
      </p:sp>
      <p:sp>
        <p:nvSpPr>
          <p:cNvPr id="22" name="Text 19"/>
          <p:cNvSpPr txBox="1"/>
          <p:nvPr/>
        </p:nvSpPr>
        <p:spPr>
          <a:xfrm>
            <a:off x="9829800" y="2542032"/>
            <a:ext cx="1737360" cy="640080"/>
          </a:xfrm>
          <a:prstGeom prst="rect">
            <a:avLst/>
          </a:prstGeom>
          <a:noFill/>
          <a:ln/>
        </p:spPr>
        <p:txBody>
          <a:bodyPr wrap="square" lIns="0" tIns="0" rIns="0" bIns="0" rtlCol="0" anchor="t"/>
          <a:lstStyle/>
          <a:p>
            <a:pPr algn="l" indent="0" marL="0">
              <a:lnSpc>
                <a:spcPct val="105000"/>
              </a:lnSpc>
              <a:buNone/>
            </a:pPr>
            <a:r>
              <a:rPr lang="en-US" sz="1000" dirty="0">
                <a:solidFill>
                  <a:schemeClr val="tx1"/>
                </a:solidFill>
              </a:rPr>
              <a:t>moves &gt; 0 and the two gate DAGs differ, phase zeroed</a:t>
            </a:r>
            <a:endParaRPr lang="en-US" sz="1000" dirty="0"/>
          </a:p>
        </p:txBody>
      </p:sp>
      <p:sp>
        <p:nvSpPr>
          <p:cNvPr id="23" name="Shape 20"/>
          <p:cNvSpPr/>
          <p:nvPr/>
        </p:nvSpPr>
        <p:spPr>
          <a:xfrm flipV="1">
            <a:off x="2743200" y="1874520"/>
            <a:ext cx="640080" cy="822960"/>
          </a:xfrm>
          <a:prstGeom prst="line">
            <a:avLst/>
          </a:prstGeom>
          <a:noFill/>
          <a:ln w="15875">
            <a:solidFill>
              <a:schemeClr val="tx1"/>
            </a:solidFill>
            <a:prstDash val="solid"/>
            <a:tailEnd type="triangle"/>
          </a:ln>
        </p:spPr>
      </p:sp>
      <p:sp>
        <p:nvSpPr>
          <p:cNvPr id="24" name="Shape 21"/>
          <p:cNvSpPr/>
          <p:nvPr/>
        </p:nvSpPr>
        <p:spPr>
          <a:xfrm>
            <a:off x="2743200" y="2697480"/>
            <a:ext cx="640080" cy="822960"/>
          </a:xfrm>
          <a:prstGeom prst="line">
            <a:avLst/>
          </a:prstGeom>
          <a:noFill/>
          <a:ln w="15875">
            <a:solidFill>
              <a:schemeClr val="tx1"/>
            </a:solidFill>
            <a:prstDash val="solid"/>
            <a:tailEnd type="triangle"/>
          </a:ln>
        </p:spPr>
      </p:sp>
      <p:sp>
        <p:nvSpPr>
          <p:cNvPr id="25" name="Shape 22"/>
          <p:cNvSpPr/>
          <p:nvPr/>
        </p:nvSpPr>
        <p:spPr>
          <a:xfrm>
            <a:off x="6217920" y="1874520"/>
            <a:ext cx="640080" cy="0"/>
          </a:xfrm>
          <a:prstGeom prst="line">
            <a:avLst/>
          </a:prstGeom>
          <a:noFill/>
          <a:ln w="15875">
            <a:solidFill>
              <a:schemeClr val="tx1"/>
            </a:solidFill>
            <a:prstDash val="solid"/>
            <a:tailEnd type="triangle"/>
          </a:ln>
        </p:spPr>
      </p:sp>
      <p:sp>
        <p:nvSpPr>
          <p:cNvPr id="26" name="Shape 23"/>
          <p:cNvSpPr/>
          <p:nvPr/>
        </p:nvSpPr>
        <p:spPr>
          <a:xfrm>
            <a:off x="6217920" y="3520440"/>
            <a:ext cx="640080" cy="0"/>
          </a:xfrm>
          <a:prstGeom prst="line">
            <a:avLst/>
          </a:prstGeom>
          <a:noFill/>
          <a:ln w="15875">
            <a:solidFill>
              <a:schemeClr val="tx1"/>
            </a:solidFill>
            <a:prstDash val="solid"/>
            <a:tailEnd type="triangle"/>
          </a:ln>
        </p:spPr>
      </p:sp>
      <p:sp>
        <p:nvSpPr>
          <p:cNvPr id="27" name="Shape 24"/>
          <p:cNvSpPr/>
          <p:nvPr/>
        </p:nvSpPr>
        <p:spPr>
          <a:xfrm>
            <a:off x="9052560" y="1874520"/>
            <a:ext cx="640080" cy="822960"/>
          </a:xfrm>
          <a:prstGeom prst="line">
            <a:avLst/>
          </a:prstGeom>
          <a:noFill/>
          <a:ln w="15875">
            <a:solidFill>
              <a:schemeClr val="tx1"/>
            </a:solidFill>
            <a:prstDash val="solid"/>
            <a:tailEnd type="triangle"/>
          </a:ln>
        </p:spPr>
      </p:sp>
      <p:sp>
        <p:nvSpPr>
          <p:cNvPr id="28" name="Shape 25"/>
          <p:cNvSpPr/>
          <p:nvPr/>
        </p:nvSpPr>
        <p:spPr>
          <a:xfrm flipV="1">
            <a:off x="9052560" y="2697480"/>
            <a:ext cx="640080" cy="822960"/>
          </a:xfrm>
          <a:prstGeom prst="line">
            <a:avLst/>
          </a:prstGeom>
          <a:noFill/>
          <a:ln w="15875">
            <a:solidFill>
              <a:schemeClr val="tx1"/>
            </a:solidFill>
            <a:prstDash val="solid"/>
            <a:tailEnd type="triangle"/>
          </a:ln>
        </p:spPr>
      </p:sp>
      <p:sp>
        <p:nvSpPr>
          <p:cNvPr id="29" name="Text 26"/>
          <p:cNvSpPr txBox="1"/>
          <p:nvPr/>
        </p:nvSpPr>
        <p:spPr>
          <a:xfrm>
            <a:off x="2743200" y="1993392"/>
            <a:ext cx="640080" cy="201168"/>
          </a:xfrm>
          <a:prstGeom prst="rect">
            <a:avLst/>
          </a:prstGeom>
          <a:noFill/>
          <a:ln/>
        </p:spPr>
        <p:txBody>
          <a:bodyPr wrap="square" lIns="0" tIns="0" rIns="0" bIns="0" rtlCol="0" anchor="ctr"/>
          <a:lstStyle/>
          <a:p>
            <a:pPr algn="ctr" indent="0" marL="0">
              <a:buNone/>
            </a:pPr>
            <a:r>
              <a:rPr lang="en-US" sz="950" dirty="0">
                <a:solidFill>
                  <a:schemeClr val="tx2"/>
                </a:solidFill>
              </a:rPr>
              <a:t>copy</a:t>
            </a:r>
            <a:endParaRPr lang="en-US" sz="950" dirty="0"/>
          </a:p>
        </p:txBody>
      </p:sp>
      <p:sp>
        <p:nvSpPr>
          <p:cNvPr id="30" name="Text 27"/>
          <p:cNvSpPr txBox="1"/>
          <p:nvPr/>
        </p:nvSpPr>
        <p:spPr>
          <a:xfrm>
            <a:off x="2743200" y="3273552"/>
            <a:ext cx="640080" cy="201168"/>
          </a:xfrm>
          <a:prstGeom prst="rect">
            <a:avLst/>
          </a:prstGeom>
          <a:noFill/>
          <a:ln/>
        </p:spPr>
        <p:txBody>
          <a:bodyPr wrap="square" lIns="0" tIns="0" rIns="0" bIns="0" rtlCol="0" anchor="ctr"/>
          <a:lstStyle/>
          <a:p>
            <a:pPr algn="ctr" indent="0" marL="0">
              <a:buNone/>
            </a:pPr>
            <a:r>
              <a:rPr lang="en-US" sz="950" dirty="0">
                <a:solidFill>
                  <a:schemeClr val="tx2"/>
                </a:solidFill>
              </a:rPr>
              <a:t>copy</a:t>
            </a:r>
            <a:endParaRPr lang="en-US" sz="950" dirty="0"/>
          </a:p>
        </p:txBody>
      </p:sp>
      <p:sp>
        <p:nvSpPr>
          <p:cNvPr id="31" name="Text 28"/>
          <p:cNvSpPr txBox="1"/>
          <p:nvPr/>
        </p:nvSpPr>
        <p:spPr>
          <a:xfrm>
            <a:off x="6217920" y="1627632"/>
            <a:ext cx="640080" cy="201168"/>
          </a:xfrm>
          <a:prstGeom prst="rect">
            <a:avLst/>
          </a:prstGeom>
          <a:noFill/>
          <a:ln/>
        </p:spPr>
        <p:txBody>
          <a:bodyPr wrap="square" lIns="0" tIns="0" rIns="0" bIns="0" rtlCol="0" anchor="ctr"/>
          <a:lstStyle/>
          <a:p>
            <a:pPr algn="ctr" indent="0" marL="0">
              <a:buNone/>
            </a:pPr>
            <a:r>
              <a:rPr lang="en-US" sz="950" dirty="0">
                <a:solidFill>
                  <a:schemeClr val="tx2"/>
                </a:solidFill>
              </a:rPr>
              <a:t>out</a:t>
            </a:r>
            <a:endParaRPr lang="en-US" sz="950" dirty="0"/>
          </a:p>
        </p:txBody>
      </p:sp>
      <p:sp>
        <p:nvSpPr>
          <p:cNvPr id="32" name="Text 29"/>
          <p:cNvSpPr txBox="1"/>
          <p:nvPr/>
        </p:nvSpPr>
        <p:spPr>
          <a:xfrm>
            <a:off x="6217920" y="3273552"/>
            <a:ext cx="640080" cy="201168"/>
          </a:xfrm>
          <a:prstGeom prst="rect">
            <a:avLst/>
          </a:prstGeom>
          <a:noFill/>
          <a:ln/>
        </p:spPr>
        <p:txBody>
          <a:bodyPr wrap="square" lIns="0" tIns="0" rIns="0" bIns="0" rtlCol="0" anchor="ctr"/>
          <a:lstStyle/>
          <a:p>
            <a:pPr algn="ctr" indent="0" marL="0">
              <a:buNone/>
            </a:pPr>
            <a:r>
              <a:rPr lang="en-US" sz="950" dirty="0">
                <a:solidFill>
                  <a:schemeClr val="tx2"/>
                </a:solidFill>
              </a:rPr>
              <a:t>disabled</a:t>
            </a:r>
            <a:endParaRPr lang="en-US" sz="950" dirty="0"/>
          </a:p>
        </p:txBody>
      </p:sp>
      <p:sp>
        <p:nvSpPr>
          <p:cNvPr id="33" name="Text 30"/>
          <p:cNvSpPr txBox="1"/>
          <p:nvPr/>
        </p:nvSpPr>
        <p:spPr>
          <a:xfrm>
            <a:off x="9006840" y="1627632"/>
            <a:ext cx="822960" cy="201168"/>
          </a:xfrm>
          <a:prstGeom prst="rect">
            <a:avLst/>
          </a:prstGeom>
          <a:noFill/>
          <a:ln/>
        </p:spPr>
        <p:txBody>
          <a:bodyPr wrap="square" lIns="0" tIns="0" rIns="0" bIns="0" rtlCol="0" anchor="ctr"/>
          <a:lstStyle/>
          <a:p>
            <a:pPr algn="ctr" indent="0" marL="0">
              <a:buNone/>
            </a:pPr>
            <a:r>
              <a:rPr lang="en-US" sz="950" dirty="0">
                <a:solidFill>
                  <a:schemeClr val="tx2"/>
                </a:solidFill>
              </a:rPr>
              <a:t>both exact</a:t>
            </a:r>
            <a:endParaRPr lang="en-US" sz="950" dirty="0"/>
          </a:p>
        </p:txBody>
      </p:sp>
      <p:sp>
        <p:nvSpPr>
          <p:cNvPr id="34" name="Text 31"/>
          <p:cNvSpPr txBox="1"/>
          <p:nvPr/>
        </p:nvSpPr>
        <p:spPr>
          <a:xfrm>
            <a:off x="548640" y="4114800"/>
            <a:ext cx="11091672" cy="274320"/>
          </a:xfrm>
          <a:prstGeom prst="rect">
            <a:avLst/>
          </a:prstGeom>
          <a:noFill/>
          <a:ln/>
        </p:spPr>
        <p:txBody>
          <a:bodyPr wrap="square" lIns="0" tIns="0" rIns="0" bIns="0" rtlCol="0" anchor="t"/>
          <a:lstStyle/>
          <a:p>
            <a:pPr algn="l" indent="0" marL="0">
              <a:buNone/>
            </a:pPr>
            <a:r>
              <a:rPr lang="en-US" sz="1150" dirty="0">
                <a:solidFill>
                  <a:schemeClr val="tx2"/>
                </a:solidFill>
              </a:rPr>
              <a:t>Both runs happen in one process with the same checkout, the same compiled extension and the same settings; the patch on one method is the only difference between them.</a:t>
            </a:r>
            <a:endParaRPr lang="en-US" sz="1150" dirty="0"/>
          </a:p>
        </p:txBody>
      </p:sp>
      <p:sp>
        <p:nvSpPr>
          <p:cNvPr id="35" name="Shape 32"/>
          <p:cNvSpPr/>
          <p:nvPr/>
        </p:nvSpPr>
        <p:spPr>
          <a:xfrm>
            <a:off x="548640" y="4526280"/>
            <a:ext cx="3520440" cy="1783080"/>
          </a:xfrm>
          <a:prstGeom prst="roundRect">
            <a:avLst>
              <a:gd name="adj" fmla="val 4103"/>
            </a:avLst>
          </a:prstGeom>
          <a:solidFill>
            <a:schemeClr val="bg2"/>
          </a:solidFill>
          <a:ln w="9525">
            <a:solidFill>
              <a:srgbClr val="C8D0D3"/>
            </a:solidFill>
            <a:prstDash val="solid"/>
          </a:ln>
        </p:spPr>
      </p:sp>
      <p:sp>
        <p:nvSpPr>
          <p:cNvPr id="36" name="Text 33"/>
          <p:cNvSpPr txBox="1"/>
          <p:nvPr/>
        </p:nvSpPr>
        <p:spPr>
          <a:xfrm>
            <a:off x="731520" y="464515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Why one checkout</a:t>
            </a:r>
            <a:endParaRPr lang="en-US" sz="1300" dirty="0"/>
          </a:p>
        </p:txBody>
      </p:sp>
      <p:sp>
        <p:nvSpPr>
          <p:cNvPr id="37" name="Text 34"/>
          <p:cNvSpPr txBox="1"/>
          <p:nvPr/>
        </p:nvSpPr>
        <p:spPr>
          <a:xfrm>
            <a:off x="731520" y="4937760"/>
            <a:ext cx="3154680" cy="1325880"/>
          </a:xfrm>
          <a:prstGeom prst="rect">
            <a:avLst/>
          </a:prstGeom>
          <a:noFill/>
          <a:ln/>
        </p:spPr>
        <p:txBody>
          <a:bodyPr wrap="square" lIns="0" tIns="0" rIns="0" bIns="0" rtlCol="0" anchor="t"/>
          <a:lstStyle/>
          <a:p>
            <a:pPr algn="l" indent="0" marL="0">
              <a:lnSpc>
                <a:spcPct val="106000"/>
              </a:lnSpc>
              <a:buNone/>
            </a:pPr>
            <a:r>
              <a:rPr lang="en-US" sz="1100" dirty="0">
                <a:solidFill>
                  <a:schemeClr val="tx1"/>
                </a:solidFill>
              </a:rPr>
              <a:t>An earlier version compared against a separate baseline checkout, whose own global-phase sign bug (TwoQubitBasisDecomposer, fixed upstream in PR #17163) failed 34 of 192 cases for reasons unrelated to absorption; see bug/. Switching the pass off inside one revision keeps every other pass, the extension and the settings identical.</a:t>
            </a:r>
            <a:endParaRPr lang="en-US" sz="1100" dirty="0"/>
          </a:p>
        </p:txBody>
      </p:sp>
      <p:sp>
        <p:nvSpPr>
          <p:cNvPr id="38" name="Shape 35"/>
          <p:cNvSpPr/>
          <p:nvPr/>
        </p:nvSpPr>
        <p:spPr>
          <a:xfrm>
            <a:off x="4334256" y="4526280"/>
            <a:ext cx="3520440" cy="1783080"/>
          </a:xfrm>
          <a:prstGeom prst="roundRect">
            <a:avLst>
              <a:gd name="adj" fmla="val 4103"/>
            </a:avLst>
          </a:prstGeom>
          <a:solidFill>
            <a:schemeClr val="bg2"/>
          </a:solidFill>
          <a:ln w="9525">
            <a:solidFill>
              <a:srgbClr val="C8D0D3"/>
            </a:solidFill>
            <a:prstDash val="solid"/>
          </a:ln>
        </p:spPr>
      </p:sp>
      <p:sp>
        <p:nvSpPr>
          <p:cNvPr id="39" name="Text 36"/>
          <p:cNvSpPr txBox="1"/>
          <p:nvPr/>
        </p:nvSpPr>
        <p:spPr>
          <a:xfrm>
            <a:off x="4517136" y="464515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What the disabled run is</a:t>
            </a:r>
            <a:endParaRPr lang="en-US" sz="1300" dirty="0"/>
          </a:p>
        </p:txBody>
      </p:sp>
      <p:sp>
        <p:nvSpPr>
          <p:cNvPr id="40" name="Text 37"/>
          <p:cNvSpPr txBox="1"/>
          <p:nvPr/>
        </p:nvSpPr>
        <p:spPr>
          <a:xfrm>
            <a:off x="4517136" y="4937760"/>
            <a:ext cx="3154680" cy="1325880"/>
          </a:xfrm>
          <a:prstGeom prst="rect">
            <a:avLst/>
          </a:prstGeom>
          <a:noFill/>
          <a:ln/>
        </p:spPr>
        <p:txBody>
          <a:bodyPr wrap="square" lIns="0" tIns="0" rIns="0" bIns="0" rtlCol="0" anchor="t"/>
          <a:lstStyle/>
          <a:p>
            <a:pPr algn="l" indent="0" marL="0">
              <a:lnSpc>
                <a:spcPct val="106000"/>
              </a:lnSpc>
              <a:buNone/>
            </a:pPr>
            <a:r>
              <a:rPr lang="en-US" sz="1100" dirty="0">
                <a:solidFill>
                  <a:schemeClr val="tx1"/>
                </a:solidFill>
              </a:rPr>
              <a:t>patch.object replaces _AbsorbIntoSwaps.run with lambda self, dag: dag for one pm.run: the pass returns its input DAG unchanged, every other pass still executes, and the original method is restored afterwards, also on errors. No Qiskit file is modified. The disabled output must pass the same correctness checks.</a:t>
            </a:r>
            <a:endParaRPr lang="en-US" sz="1100" dirty="0"/>
          </a:p>
        </p:txBody>
      </p:sp>
      <p:sp>
        <p:nvSpPr>
          <p:cNvPr id="41" name="Shape 38"/>
          <p:cNvSpPr/>
          <p:nvPr/>
        </p:nvSpPr>
        <p:spPr>
          <a:xfrm>
            <a:off x="8119872" y="4526280"/>
            <a:ext cx="3520440" cy="1783080"/>
          </a:xfrm>
          <a:prstGeom prst="roundRect">
            <a:avLst>
              <a:gd name="adj" fmla="val 4103"/>
            </a:avLst>
          </a:prstGeom>
          <a:solidFill>
            <a:schemeClr val="bg2"/>
          </a:solidFill>
          <a:ln w="9525">
            <a:solidFill>
              <a:srgbClr val="C8D0D3"/>
            </a:solidFill>
            <a:prstDash val="solid"/>
          </a:ln>
        </p:spPr>
      </p:sp>
      <p:sp>
        <p:nvSpPr>
          <p:cNvPr id="42" name="Text 39"/>
          <p:cNvSpPr txBox="1"/>
          <p:nvPr/>
        </p:nvSpPr>
        <p:spPr>
          <a:xfrm>
            <a:off x="8302752" y="464515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Routing is not what changes</a:t>
            </a:r>
            <a:endParaRPr lang="en-US" sz="1300" dirty="0"/>
          </a:p>
        </p:txBody>
      </p:sp>
      <p:sp>
        <p:nvSpPr>
          <p:cNvPr id="43" name="Text 40"/>
          <p:cNvSpPr txBox="1"/>
          <p:nvPr/>
        </p:nvSpPr>
        <p:spPr>
          <a:xfrm>
            <a:off x="8302752" y="4937760"/>
            <a:ext cx="3154680" cy="1325880"/>
          </a:xfrm>
          <a:prstGeom prst="rect">
            <a:avLst/>
          </a:prstGeom>
          <a:noFill/>
          <a:ln/>
        </p:spPr>
        <p:txBody>
          <a:bodyPr wrap="square" lIns="0" tIns="0" rIns="0" bIns="0" rtlCol="0" anchor="t"/>
          <a:lstStyle/>
          <a:p>
            <a:pPr algn="l" indent="0" marL="0">
              <a:lnSpc>
                <a:spcPct val="106000"/>
              </a:lnSpc>
              <a:buNone/>
            </a:pPr>
            <a:r>
              <a:rPr lang="en-US" sz="1100" dirty="0">
                <a:solidFill>
                  <a:schemeClr val="tx1"/>
                </a:solidFill>
              </a:rPr>
              <a:t>The pass runs after layout and routing, so enabling it cannot change the final permutation: enabled and disabled outputs end with the same permutation in all 132 cases. What changes is the gate structure that translation and optimization produce from the routed DAG, and that is what the change check compares.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The change check: what counts as different</a:t>
            </a:r>
            <a:endParaRPr lang="en-US" sz="3000" dirty="0"/>
          </a:p>
        </p:txBody>
      </p:sp>
      <p:sp>
        <p:nvSpPr>
          <p:cNvPr id="4" name="Text 1"/>
          <p:cNvSpPr txBox="1"/>
          <p:nvPr/>
        </p:nvSpPr>
        <p:spPr>
          <a:xfrm>
            <a:off x="548640" y="1371600"/>
            <a:ext cx="5120640" cy="274320"/>
          </a:xfrm>
          <a:prstGeom prst="rect">
            <a:avLst/>
          </a:prstGeom>
          <a:noFill/>
          <a:ln/>
        </p:spPr>
        <p:txBody>
          <a:bodyPr wrap="square" lIns="0" tIns="0" rIns="0" bIns="0" rtlCol="0" anchor="t"/>
          <a:lstStyle/>
          <a:p>
            <a:pPr algn="l" indent="0" marL="0">
              <a:buNone/>
            </a:pPr>
            <a:r>
              <a:rPr lang="en-US" sz="1400" b="1" dirty="0">
                <a:solidFill>
                  <a:schemeClr val="accent1"/>
                </a:solidFill>
              </a:rPr>
              <a:t>Rules</a:t>
            </a:r>
            <a:endParaRPr lang="en-US" sz="1400" dirty="0"/>
          </a:p>
        </p:txBody>
      </p:sp>
      <p:sp>
        <p:nvSpPr>
          <p:cNvPr id="5" name="Text 2"/>
          <p:cNvSpPr txBox="1"/>
          <p:nvPr/>
        </p:nvSpPr>
        <p:spPr>
          <a:xfrm>
            <a:off x="548640" y="1737360"/>
            <a:ext cx="5120640" cy="44805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b="1" dirty="0">
                <a:solidFill>
                  <a:schemeClr val="tx1"/>
                </a:solidFill>
              </a:rPr>
              <a:t>gate_structure(circuit): </a:t>
            </a:r>
            <a:pPr indent="0" marL="0">
              <a:lnSpc>
                <a:spcPct val="105000"/>
              </a:lnSpc>
              <a:spcAft>
                <a:spcPts val="700"/>
              </a:spcAft>
              <a:buNone/>
            </a:pPr>
            <a:r>
              <a:rPr lang="en-US" sz="1200" dirty="0">
                <a:solidFill>
                  <a:schemeClr val="tx1"/>
                </a:solidFill>
              </a:rPr>
              <a:t>circuit_to_dag with the global phase set to zero. DAG equality then compares gates, parameters and wires; it ignores circuit names and the ordering of independent operations.</a:t>
            </a:r>
            <a:endParaRPr lang="en-US" sz="1200" dirty="0"/>
          </a:p>
          <a:p>
            <a:pPr marL="342900" indent="-342900">
              <a:lnSpc>
                <a:spcPct val="105000"/>
              </a:lnSpc>
              <a:spcAft>
                <a:spcPts val="700"/>
              </a:spcAft>
              <a:buSzPct val="100000"/>
              <a:buChar char="•"/>
            </a:pPr>
            <a:r>
              <a:rPr lang="en-US" sz="1200" b="1" dirty="0">
                <a:solidFill>
                  <a:schemeClr val="tx1"/>
                </a:solidFill>
              </a:rPr>
              <a:t>Required per case: </a:t>
            </a:r>
            <a:pPr indent="0" marL="0">
              <a:lnSpc>
                <a:spcPct val="105000"/>
              </a:lnSpc>
              <a:spcAft>
                <a:spcPts val="700"/>
              </a:spcAft>
              <a:buNone/>
            </a:pPr>
            <a:r>
              <a:rPr lang="en-US" sz="1200" dirty="0">
                <a:solidFill>
                  <a:schemeClr val="tx1"/>
                </a:solidFill>
              </a:rPr>
              <a:t>absorption_runs &gt; 0 (the pass executed), absorption_moves &gt; 0 (it selected a move) and absorption_changed (the two DAGs differ). A fixture that makes no move or leaves the circuit unchanged fails with “modify this fixture”.</a:t>
            </a:r>
            <a:endParaRPr lang="en-US" sz="1200" dirty="0"/>
          </a:p>
          <a:p>
            <a:pPr marL="342900" indent="-342900">
              <a:lnSpc>
                <a:spcPct val="105000"/>
              </a:lnSpc>
              <a:spcAft>
                <a:spcPts val="700"/>
              </a:spcAft>
              <a:buSzPct val="100000"/>
              <a:buChar char="•"/>
            </a:pPr>
            <a:r>
              <a:rPr lang="en-US" sz="1200" b="1" dirty="0">
                <a:solidFill>
                  <a:schemeClr val="tx1"/>
                </a:solidFill>
              </a:rPr>
              <a:t>Does not count: </a:t>
            </a:r>
            <a:pPr indent="0" marL="0">
              <a:lnSpc>
                <a:spcPct val="105000"/>
              </a:lnSpc>
              <a:spcAft>
                <a:spcPts val="700"/>
              </a:spcAft>
              <a:buNone/>
            </a:pPr>
            <a:r>
              <a:rPr lang="en-US" sz="1200" dirty="0">
                <a:solidFill>
                  <a:schemeClr val="tx1"/>
                </a:solidFill>
              </a:rPr>
              <a:t>a global-phase difference or a layout-only difference. Phase is covered separately by the full operator comparison of both outputs.</a:t>
            </a:r>
            <a:endParaRPr lang="en-US" sz="1200" dirty="0"/>
          </a:p>
          <a:p>
            <a:pPr marL="342900" indent="-342900">
              <a:lnSpc>
                <a:spcPct val="105000"/>
              </a:lnSpc>
              <a:spcAft>
                <a:spcPts val="700"/>
              </a:spcAft>
              <a:buSzPct val="100000"/>
              <a:buChar char="•"/>
            </a:pPr>
            <a:r>
              <a:rPr lang="en-US" sz="1200" b="1" dirty="0">
                <a:solidFill>
                  <a:schemeClr val="tx1"/>
                </a:solidFill>
              </a:rPr>
              <a:t>Where the difference comes from: </a:t>
            </a:r>
            <a:pPr indent="0" marL="0">
              <a:lnSpc>
                <a:spcPct val="105000"/>
              </a:lnSpc>
              <a:spcAft>
                <a:spcPts val="700"/>
              </a:spcAft>
              <a:buNone/>
            </a:pPr>
            <a:r>
              <a:rPr lang="en-US" sz="1200" dirty="0">
                <a:solidFill>
                  <a:schemeClr val="tx1"/>
                </a:solidFill>
              </a:rPr>
              <a:t>the swap · unit block reaches two-qubit synthesis as one unit, so the rz, sx, x, cx sequence that translation and the optimization loop produce differs from the disabled run's. Routing itself is unchanged.</a:t>
            </a:r>
            <a:endParaRPr lang="en-US" sz="1200" dirty="0"/>
          </a:p>
          <a:p>
            <a:pPr marL="342900" indent="-342900">
              <a:lnSpc>
                <a:spcPct val="105000"/>
              </a:lnSpc>
              <a:spcAft>
                <a:spcPts val="700"/>
              </a:spcAft>
              <a:buSzPct val="100000"/>
              <a:buChar char="•"/>
            </a:pPr>
            <a:r>
              <a:rPr lang="en-US" sz="1200" b="1" dirty="0">
                <a:solidFill>
                  <a:schemeClr val="tx1"/>
                </a:solidFill>
              </a:rPr>
              <a:t>Not required: </a:t>
            </a:r>
            <a:pPr indent="0" marL="0">
              <a:lnSpc>
                <a:spcPct val="105000"/>
              </a:lnSpc>
              <a:spcAft>
                <a:spcPts val="700"/>
              </a:spcAft>
              <a:buNone/>
            </a:pPr>
            <a:r>
              <a:rPr lang="en-US" sz="1200" dirty="0">
                <a:solidFill>
                  <a:schemeClr val="tx1"/>
                </a:solidFill>
              </a:rPr>
              <a:t>fewer gates or lower depth. Both runs' counts are recorded as diagnostics only; the suite would still pass if they got worse.</a:t>
            </a:r>
            <a:endParaRPr lang="en-US" sz="1200" dirty="0"/>
          </a:p>
        </p:txBody>
      </p:sp>
      <p:sp>
        <p:nvSpPr>
          <p:cNvPr id="6" name="Text 3"/>
          <p:cNvSpPr txBox="1"/>
          <p:nvPr/>
        </p:nvSpPr>
        <p:spPr>
          <a:xfrm>
            <a:off x="5943600" y="1371600"/>
            <a:ext cx="5696712" cy="274320"/>
          </a:xfrm>
          <a:prstGeom prst="rect">
            <a:avLst/>
          </a:prstGeom>
          <a:noFill/>
          <a:ln/>
        </p:spPr>
        <p:txBody>
          <a:bodyPr wrap="square" lIns="0" tIns="0" rIns="0" bIns="0" rtlCol="0" anchor="t"/>
          <a:lstStyle/>
          <a:p>
            <a:pPr algn="l" indent="0" marL="0">
              <a:buNone/>
            </a:pPr>
            <a:r>
              <a:rPr lang="en-US" sz="1200" b="1" dirty="0">
                <a:solidFill>
                  <a:schemeClr val="tx1"/>
                </a:solidFill>
              </a:rPr>
              <a:t>Recorded run, level 2 (level 3 differs only in dtc10's depth: 180 instead of 186)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0" y="1691640"/>
          <a:ext cx="5696712" cy="914400"/>
        </p:xfrm>
        <a:graphic>
          <a:graphicData uri="http://schemas.openxmlformats.org/drawingml/2006/table">
            <a:tbl>
              <a:tblPr/>
              <a:tblGrid>
                <a:gridCol w="1600200"/>
                <a:gridCol w="1051560"/>
                <a:gridCol w="1691640"/>
                <a:gridCol w="1353312"/>
              </a:tblGrid>
              <a:tr h="320040">
                <a:tc>
                  <a:txBody>
                    <a:bodyPr/>
                    <a:lstStyle/>
                    <a:p>
                      <a:pPr indent="0" marL="0">
                        <a:buNone/>
                      </a:pPr>
                      <a:r>
                        <a:rPr lang="en-US" sz="950" b="1" dirty="0">
                          <a:solidFill>
                            <a:schemeClr val="tx2"/>
                          </a:solidFill>
                        </a:rPr>
                        <a:t>Fixture</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950" b="1" dirty="0">
                          <a:solidFill>
                            <a:schemeClr val="tx2"/>
                          </a:solidFill>
                        </a:rPr>
                        <a:t>Moves (6 seeds)</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950" b="1" dirty="0">
                          <a:solidFill>
                            <a:schemeClr val="tx2"/>
                          </a:solidFill>
                        </a:rPr>
                        <a:t>Two-qubit gates, off → on</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950" b="1" dirty="0">
                          <a:solidFill>
                            <a:schemeClr val="tx2"/>
                          </a:solidFill>
                        </a:rPr>
                        <a:t>Depth, off → on</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qft10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23</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866 → 830</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913 → 1039</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adder4</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984 → 978</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1338 → 1356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ring10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43</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2836 → 2786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1610 → 1615</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dtc10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320 → 308</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180 → 186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bv10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324 → 300</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420 → 432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bvlike10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612 → 612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438 → 516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trotter10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1354 → 1318</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1360 → 1378</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qaoa10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80</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1504 → 1358</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1398 → 1487</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grover10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223</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4049 → 3583</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4515 → 4592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mcx10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12</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3862 → 3856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5735 → 5717</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modular_adder10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1476 → 1476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1758 → 1806</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320040">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Total, 66 cases</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100" b="1" dirty="0">
                          <a:solidFill>
                            <a:schemeClr val="tx1"/>
                          </a:solidFill>
                        </a:rPr>
                        <a:t>435</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100" b="1" dirty="0">
                          <a:solidFill>
                            <a:schemeClr val="tx1"/>
                          </a:solidFill>
                        </a:rPr>
                        <a:t>18 187 → 17 405</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100" b="1" dirty="0">
                          <a:solidFill>
                            <a:schemeClr val="tx1"/>
                          </a:solidFill>
                        </a:rPr>
                        <a:t>19 665 → 20 124</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bl>
          </a:graphicData>
        </a:graphic>
      </p:graphicFrame>
      <p:sp>
        <p:nvSpPr>
          <p:cNvPr id="8" name="Text 4"/>
          <p:cNvSpPr txBox="1"/>
          <p:nvPr/>
        </p:nvSpPr>
        <p:spPr>
          <a:xfrm>
            <a:off x="5943600" y="5897880"/>
            <a:ext cx="5696712" cy="457200"/>
          </a:xfrm>
          <a:prstGeom prst="rect">
            <a:avLst/>
          </a:prstGeom>
          <a:noFill/>
          <a:ln/>
        </p:spPr>
        <p:txBody>
          <a:bodyPr wrap="square" lIns="0" tIns="0" rIns="0" bIns="0" rtlCol="0" anchor="t"/>
          <a:lstStyle/>
          <a:p>
            <a:pPr algn="l" indent="0" marL="0">
              <a:lnSpc>
                <a:spcPct val="105000"/>
              </a:lnSpc>
              <a:buNone/>
            </a:pPr>
            <a:r>
              <a:rPr lang="en-US" sz="1000" dirty="0">
                <a:solidFill>
                  <a:schemeClr val="tx2"/>
                </a:solidFill>
              </a:rPr>
              <a:t>bvlike10 and modular_adder10 change gate structure without changing the two-qubit count. Two-qubit gates never increase in any case; depth usually rises, because the merged block synthesizes into a longer sequence.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Which code is tested</a:t>
            </a:r>
            <a:endParaRPr lang="en-US" sz="3000" dirty="0"/>
          </a:p>
        </p:txBody>
      </p:sp>
      <p:sp>
        <p:nvSpPr>
          <p:cNvPr id="4" name="Shape 1"/>
          <p:cNvSpPr/>
          <p:nvPr/>
        </p:nvSpPr>
        <p:spPr>
          <a:xfrm>
            <a:off x="640080" y="2057400"/>
            <a:ext cx="2743200" cy="1371600"/>
          </a:xfrm>
          <a:prstGeom prst="roundRect">
            <a:avLst>
              <a:gd name="adj" fmla="val 4000"/>
            </a:avLst>
          </a:prstGeom>
          <a:solidFill>
            <a:schemeClr val="bg1"/>
          </a:solidFill>
          <a:ln w="12700">
            <a:solidFill>
              <a:schemeClr val="tx1"/>
            </a:solidFill>
            <a:prstDash val="solid"/>
          </a:ln>
        </p:spPr>
      </p:sp>
      <p:sp>
        <p:nvSpPr>
          <p:cNvPr id="5" name="Text 2"/>
          <p:cNvSpPr txBox="1"/>
          <p:nvPr/>
        </p:nvSpPr>
        <p:spPr>
          <a:xfrm>
            <a:off x="777240" y="2130552"/>
            <a:ext cx="2560320" cy="256032"/>
          </a:xfrm>
          <a:prstGeom prst="rect">
            <a:avLst/>
          </a:prstGeom>
          <a:noFill/>
          <a:ln/>
        </p:spPr>
        <p:txBody>
          <a:bodyPr wrap="square" lIns="0" tIns="0" rIns="0" bIns="0" rtlCol="0" anchor="t"/>
          <a:lstStyle/>
          <a:p>
            <a:pPr algn="l" indent="0" marL="0">
              <a:buNone/>
            </a:pPr>
            <a:r>
              <a:rPr lang="en-US" sz="1200" b="1" dirty="0">
                <a:solidFill>
                  <a:schemeClr val="tx1"/>
                </a:solidFill>
              </a:rPr>
              <a:t>qiskit-evolved/.venv</a:t>
            </a:r>
            <a:endParaRPr lang="en-US" sz="1200" dirty="0"/>
          </a:p>
        </p:txBody>
      </p:sp>
      <p:sp>
        <p:nvSpPr>
          <p:cNvPr id="6" name="Text 3"/>
          <p:cNvSpPr txBox="1"/>
          <p:nvPr/>
        </p:nvSpPr>
        <p:spPr>
          <a:xfrm>
            <a:off x="777240" y="2414016"/>
            <a:ext cx="2560320" cy="201168"/>
          </a:xfrm>
          <a:prstGeom prst="rect">
            <a:avLst/>
          </a:prstGeom>
          <a:noFill/>
          <a:ln/>
        </p:spPr>
        <p:txBody>
          <a:bodyPr wrap="square" lIns="0" tIns="0" rIns="0" bIns="0" rtlCol="0" anchor="t"/>
          <a:lstStyle/>
          <a:p>
            <a:pPr algn="l" indent="0" marL="0">
              <a:buNone/>
            </a:pPr>
            <a:r>
              <a:rPr lang="en-US" sz="1050" dirty="0">
                <a:solidFill>
                  <a:schemeClr val="tx2"/>
                </a:solidFill>
              </a:rPr>
              <a:t>Python 3.11.8</a:t>
            </a:r>
            <a:endParaRPr lang="en-US" sz="1050" dirty="0"/>
          </a:p>
        </p:txBody>
      </p:sp>
      <p:sp>
        <p:nvSpPr>
          <p:cNvPr id="7" name="Text 4"/>
          <p:cNvSpPr txBox="1"/>
          <p:nvPr/>
        </p:nvSpPr>
        <p:spPr>
          <a:xfrm>
            <a:off x="777240" y="2633472"/>
            <a:ext cx="2560320" cy="201168"/>
          </a:xfrm>
          <a:prstGeom prst="rect">
            <a:avLst/>
          </a:prstGeom>
          <a:noFill/>
          <a:ln/>
        </p:spPr>
        <p:txBody>
          <a:bodyPr wrap="square" lIns="0" tIns="0" rIns="0" bIns="0" rtlCol="0" anchor="t"/>
          <a:lstStyle/>
          <a:p>
            <a:pPr algn="l" indent="0" marL="0">
              <a:buNone/>
            </a:pPr>
            <a:r>
              <a:rPr lang="en-US" sz="1050" dirty="0">
                <a:solidFill>
                  <a:schemeClr val="tx2"/>
                </a:solidFill>
              </a:rPr>
              <a:t>numpy · ddt · setuptools-rust</a:t>
            </a:r>
            <a:endParaRPr lang="en-US" sz="1050" dirty="0"/>
          </a:p>
        </p:txBody>
      </p:sp>
      <p:sp>
        <p:nvSpPr>
          <p:cNvPr id="8" name="Text 5"/>
          <p:cNvSpPr txBox="1"/>
          <p:nvPr/>
        </p:nvSpPr>
        <p:spPr>
          <a:xfrm>
            <a:off x="777240" y="3017520"/>
            <a:ext cx="2560320" cy="237744"/>
          </a:xfrm>
          <a:prstGeom prst="rect">
            <a:avLst/>
          </a:prstGeom>
          <a:noFill/>
          <a:ln/>
        </p:spPr>
        <p:txBody>
          <a:bodyPr wrap="square" lIns="0" tIns="0" rIns="0" bIns="0" rtlCol="0" anchor="t"/>
          <a:lstStyle/>
          <a:p>
            <a:pPr algn="l" indent="0" marL="0">
              <a:buNone/>
            </a:pPr>
            <a:r>
              <a:rPr lang="en-US" sz="1100" b="1" dirty="0">
                <a:solidFill>
                  <a:schemeClr val="accent1"/>
                </a:solidFill>
              </a:rPr>
              <a:t>no qiskit package installed</a:t>
            </a:r>
            <a:endParaRPr lang="en-US" sz="1100" dirty="0"/>
          </a:p>
        </p:txBody>
      </p:sp>
      <p:sp>
        <p:nvSpPr>
          <p:cNvPr id="9" name="Shape 6"/>
          <p:cNvSpPr/>
          <p:nvPr/>
        </p:nvSpPr>
        <p:spPr>
          <a:xfrm>
            <a:off x="4114800" y="2057400"/>
            <a:ext cx="2926080" cy="1371600"/>
          </a:xfrm>
          <a:prstGeom prst="roundRect">
            <a:avLst>
              <a:gd name="adj" fmla="val 4000"/>
            </a:avLst>
          </a:prstGeom>
          <a:solidFill>
            <a:schemeClr val="bg1"/>
          </a:solidFill>
          <a:ln w="12700">
            <a:solidFill>
              <a:schemeClr val="tx1"/>
            </a:solidFill>
            <a:prstDash val="solid"/>
          </a:ln>
        </p:spPr>
      </p:sp>
      <p:sp>
        <p:nvSpPr>
          <p:cNvPr id="10" name="Text 7"/>
          <p:cNvSpPr txBox="1"/>
          <p:nvPr/>
        </p:nvSpPr>
        <p:spPr>
          <a:xfrm>
            <a:off x="4251960" y="2130552"/>
            <a:ext cx="2651760" cy="256032"/>
          </a:xfrm>
          <a:prstGeom prst="rect">
            <a:avLst/>
          </a:prstGeom>
          <a:noFill/>
          <a:ln/>
        </p:spPr>
        <p:txBody>
          <a:bodyPr wrap="square" lIns="0" tIns="0" rIns="0" bIns="0" rtlCol="0" anchor="t"/>
          <a:lstStyle/>
          <a:p>
            <a:pPr algn="l" indent="0" marL="0">
              <a:buNone/>
            </a:pPr>
            <a:r>
              <a:rPr lang="en-US" sz="1200" b="1" dirty="0">
                <a:solidFill>
                  <a:schemeClr val="tx1"/>
                </a:solidFill>
              </a:rPr>
              <a:t>run_validation.py</a:t>
            </a:r>
            <a:endParaRPr lang="en-US" sz="1200" dirty="0"/>
          </a:p>
        </p:txBody>
      </p:sp>
      <p:sp>
        <p:nvSpPr>
          <p:cNvPr id="11" name="Text 8"/>
          <p:cNvSpPr txBox="1"/>
          <p:nvPr/>
        </p:nvSpPr>
        <p:spPr>
          <a:xfrm>
            <a:off x="4251960" y="2414016"/>
            <a:ext cx="2651760" cy="201168"/>
          </a:xfrm>
          <a:prstGeom prst="rect">
            <a:avLst/>
          </a:prstGeom>
          <a:noFill/>
          <a:ln/>
        </p:spPr>
        <p:txBody>
          <a:bodyPr wrap="square" lIns="0" tIns="0" rIns="0" bIns="0" rtlCol="0" anchor="t"/>
          <a:lstStyle/>
          <a:p>
            <a:pPr algn="l" indent="0" marL="0">
              <a:buNone/>
            </a:pPr>
            <a:r>
              <a:rPr lang="en-US" sz="1000" dirty="0">
                <a:solidFill>
                  <a:schemeClr val="tx2"/>
                </a:solidFill>
                <a:latin typeface="Courier New" pitchFamily="34" charset="0"/>
                <a:ea typeface="Courier New" pitchFamily="34" charset="-122"/>
                <a:cs typeface="Courier New" pitchFamily="34" charset="-120"/>
              </a:rPr>
              <a:t>sys.path.insert(0, src)</a:t>
            </a:r>
            <a:endParaRPr lang="en-US" sz="1000" dirty="0"/>
          </a:p>
        </p:txBody>
      </p:sp>
      <p:sp>
        <p:nvSpPr>
          <p:cNvPr id="12" name="Text 9"/>
          <p:cNvSpPr txBox="1"/>
          <p:nvPr/>
        </p:nvSpPr>
        <p:spPr>
          <a:xfrm>
            <a:off x="4251960" y="2670048"/>
            <a:ext cx="2651760" cy="201168"/>
          </a:xfrm>
          <a:prstGeom prst="rect">
            <a:avLst/>
          </a:prstGeom>
          <a:noFill/>
          <a:ln/>
        </p:spPr>
        <p:txBody>
          <a:bodyPr wrap="square" lIns="0" tIns="0" rIns="0" bIns="0" rtlCol="0" anchor="t"/>
          <a:lstStyle/>
          <a:p>
            <a:pPr algn="l" indent="0" marL="0">
              <a:buNone/>
            </a:pPr>
            <a:r>
              <a:rPr lang="en-US" sz="1050" dirty="0">
                <a:solidFill>
                  <a:schemeClr val="accent1"/>
                </a:solidFill>
              </a:rPr>
              <a:t>✓ both modules load from src</a:t>
            </a:r>
            <a:endParaRPr lang="en-US" sz="1050" dirty="0"/>
          </a:p>
        </p:txBody>
      </p:sp>
      <p:sp>
        <p:nvSpPr>
          <p:cNvPr id="13" name="Text 10"/>
          <p:cNvSpPr txBox="1"/>
          <p:nvPr/>
        </p:nvSpPr>
        <p:spPr>
          <a:xfrm>
            <a:off x="4251960" y="2889504"/>
            <a:ext cx="2651760" cy="201168"/>
          </a:xfrm>
          <a:prstGeom prst="rect">
            <a:avLst/>
          </a:prstGeom>
          <a:noFill/>
          <a:ln/>
        </p:spPr>
        <p:txBody>
          <a:bodyPr wrap="square" lIns="0" tIns="0" rIns="0" bIns="0" rtlCol="0" anchor="t"/>
          <a:lstStyle/>
          <a:p>
            <a:pPr algn="l" indent="0" marL="0">
              <a:buNone/>
            </a:pPr>
            <a:r>
              <a:rPr lang="en-US" sz="1050" dirty="0">
                <a:solidFill>
                  <a:schemeClr val="accent1"/>
                </a:solidFill>
              </a:rPr>
              <a:t>✓ src has no uncommitted changes</a:t>
            </a:r>
            <a:endParaRPr lang="en-US" sz="1050" dirty="0"/>
          </a:p>
        </p:txBody>
      </p:sp>
      <p:sp>
        <p:nvSpPr>
          <p:cNvPr id="14" name="Text 11"/>
          <p:cNvSpPr txBox="1"/>
          <p:nvPr/>
        </p:nvSpPr>
        <p:spPr>
          <a:xfrm>
            <a:off x="4251960" y="3108960"/>
            <a:ext cx="2651760" cy="201168"/>
          </a:xfrm>
          <a:prstGeom prst="rect">
            <a:avLst/>
          </a:prstGeom>
          <a:noFill/>
          <a:ln/>
        </p:spPr>
        <p:txBody>
          <a:bodyPr wrap="square" lIns="0" tIns="0" rIns="0" bIns="0" rtlCol="0" anchor="t"/>
          <a:lstStyle/>
          <a:p>
            <a:pPr algn="l" indent="0" marL="0">
              <a:buNone/>
            </a:pPr>
            <a:r>
              <a:rPr lang="en-US" sz="1050" dirty="0">
                <a:solidFill>
                  <a:schemeClr val="accent1"/>
                </a:solidFill>
              </a:rPr>
              <a:t>✓ .so not older than any .rs</a:t>
            </a:r>
            <a:endParaRPr lang="en-US" sz="1050" dirty="0"/>
          </a:p>
        </p:txBody>
      </p:sp>
      <p:sp>
        <p:nvSpPr>
          <p:cNvPr id="15" name="Shape 12"/>
          <p:cNvSpPr/>
          <p:nvPr/>
        </p:nvSpPr>
        <p:spPr>
          <a:xfrm>
            <a:off x="7772400" y="1371600"/>
            <a:ext cx="3840480" cy="2743200"/>
          </a:xfrm>
          <a:prstGeom prst="roundRect">
            <a:avLst>
              <a:gd name="adj" fmla="val 3333"/>
            </a:avLst>
          </a:prstGeom>
          <a:solidFill>
            <a:schemeClr val="bg1"/>
          </a:solidFill>
          <a:ln w="12700">
            <a:solidFill>
              <a:schemeClr val="tx1"/>
            </a:solidFill>
            <a:prstDash val="dash"/>
          </a:ln>
        </p:spPr>
      </p:sp>
      <p:sp>
        <p:nvSpPr>
          <p:cNvPr id="16" name="Text 13"/>
          <p:cNvSpPr txBox="1"/>
          <p:nvPr/>
        </p:nvSpPr>
        <p:spPr>
          <a:xfrm>
            <a:off x="7955280" y="1444752"/>
            <a:ext cx="3474720" cy="237744"/>
          </a:xfrm>
          <a:prstGeom prst="rect">
            <a:avLst/>
          </a:prstGeom>
          <a:noFill/>
          <a:ln/>
        </p:spPr>
        <p:txBody>
          <a:bodyPr wrap="square" lIns="0" tIns="0" rIns="0" bIns="0" rtlCol="0" anchor="t"/>
          <a:lstStyle/>
          <a:p>
            <a:pPr algn="l" indent="0" marL="0">
              <a:buNone/>
            </a:pPr>
            <a:r>
              <a:rPr lang="en-US" sz="1200" b="1" dirty="0">
                <a:solidFill>
                  <a:schemeClr val="tx1"/>
                </a:solidFill>
              </a:rPr>
              <a:t>../qiskit-swap-absorption</a:t>
            </a:r>
            <a:endParaRPr lang="en-US" sz="1200" dirty="0"/>
          </a:p>
        </p:txBody>
      </p:sp>
      <p:sp>
        <p:nvSpPr>
          <p:cNvPr id="17" name="Text 14"/>
          <p:cNvSpPr txBox="1"/>
          <p:nvPr/>
        </p:nvSpPr>
        <p:spPr>
          <a:xfrm>
            <a:off x="7955280" y="1682496"/>
            <a:ext cx="3474720" cy="201168"/>
          </a:xfrm>
          <a:prstGeom prst="rect">
            <a:avLst/>
          </a:prstGeom>
          <a:noFill/>
          <a:ln/>
        </p:spPr>
        <p:txBody>
          <a:bodyPr wrap="square" lIns="0" tIns="0" rIns="0" bIns="0" rtlCol="0" anchor="t"/>
          <a:lstStyle/>
          <a:p>
            <a:pPr algn="l" indent="0" marL="0">
              <a:buNone/>
            </a:pPr>
            <a:r>
              <a:rPr lang="en-US" sz="1000" dirty="0">
                <a:solidFill>
                  <a:schemeClr val="tx2"/>
                </a:solidFill>
              </a:rPr>
              <a:t>git HEAD 6b5145d2e, working tree clean</a:t>
            </a:r>
            <a:endParaRPr lang="en-US" sz="1000" dirty="0"/>
          </a:p>
        </p:txBody>
      </p:sp>
      <p:sp>
        <p:nvSpPr>
          <p:cNvPr id="18" name="Shape 15"/>
          <p:cNvSpPr/>
          <p:nvPr/>
        </p:nvSpPr>
        <p:spPr>
          <a:xfrm>
            <a:off x="7955280" y="1874520"/>
            <a:ext cx="3474720" cy="548640"/>
          </a:xfrm>
          <a:prstGeom prst="roundRect">
            <a:avLst>
              <a:gd name="adj" fmla="val 10000"/>
            </a:avLst>
          </a:prstGeom>
          <a:solidFill>
            <a:schemeClr val="bg1"/>
          </a:solidFill>
          <a:ln w="12700">
            <a:solidFill>
              <a:schemeClr val="tx1"/>
            </a:solidFill>
            <a:prstDash val="solid"/>
          </a:ln>
        </p:spPr>
      </p:sp>
      <p:sp>
        <p:nvSpPr>
          <p:cNvPr id="19" name="Text 16"/>
          <p:cNvSpPr txBox="1"/>
          <p:nvPr/>
        </p:nvSpPr>
        <p:spPr>
          <a:xfrm>
            <a:off x="8065008" y="1938528"/>
            <a:ext cx="3291840" cy="237744"/>
          </a:xfrm>
          <a:prstGeom prst="rect">
            <a:avLst/>
          </a:prstGeom>
          <a:noFill/>
          <a:ln/>
        </p:spPr>
        <p:txBody>
          <a:bodyPr wrap="square" lIns="0" tIns="0" rIns="0" bIns="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qiskit/</a:t>
            </a:r>
            <a:endParaRPr lang="en-US" sz="1100" dirty="0"/>
          </a:p>
        </p:txBody>
      </p:sp>
      <p:sp>
        <p:nvSpPr>
          <p:cNvPr id="20" name="Text 17"/>
          <p:cNvSpPr txBox="1"/>
          <p:nvPr/>
        </p:nvSpPr>
        <p:spPr>
          <a:xfrm>
            <a:off x="8065008" y="2176272"/>
            <a:ext cx="3291840" cy="201168"/>
          </a:xfrm>
          <a:prstGeom prst="rect">
            <a:avLst/>
          </a:prstGeom>
          <a:noFill/>
          <a:ln/>
        </p:spPr>
        <p:txBody>
          <a:bodyPr wrap="square" lIns="0" tIns="0" rIns="0" bIns="0" rtlCol="0" anchor="t"/>
          <a:lstStyle/>
          <a:p>
            <a:pPr algn="l" indent="0" marL="0">
              <a:buNone/>
            </a:pPr>
            <a:r>
              <a:rPr lang="en-US" sz="1000" dirty="0">
                <a:solidFill>
                  <a:schemeClr val="tx2"/>
                </a:solidFill>
              </a:rPr>
              <a:t>Python package and the pass</a:t>
            </a:r>
            <a:endParaRPr lang="en-US" sz="1000" dirty="0"/>
          </a:p>
        </p:txBody>
      </p:sp>
      <p:sp>
        <p:nvSpPr>
          <p:cNvPr id="21" name="Shape 18"/>
          <p:cNvSpPr/>
          <p:nvPr/>
        </p:nvSpPr>
        <p:spPr>
          <a:xfrm>
            <a:off x="7955280" y="2651760"/>
            <a:ext cx="3474720" cy="548640"/>
          </a:xfrm>
          <a:prstGeom prst="roundRect">
            <a:avLst>
              <a:gd name="adj" fmla="val 10000"/>
            </a:avLst>
          </a:prstGeom>
          <a:solidFill>
            <a:schemeClr val="bg1"/>
          </a:solidFill>
          <a:ln w="12700">
            <a:solidFill>
              <a:schemeClr val="tx1"/>
            </a:solidFill>
            <a:prstDash val="solid"/>
          </a:ln>
        </p:spPr>
      </p:sp>
      <p:sp>
        <p:nvSpPr>
          <p:cNvPr id="22" name="Text 19"/>
          <p:cNvSpPr txBox="1"/>
          <p:nvPr/>
        </p:nvSpPr>
        <p:spPr>
          <a:xfrm>
            <a:off x="8065008" y="2715768"/>
            <a:ext cx="3291840" cy="237744"/>
          </a:xfrm>
          <a:prstGeom prst="rect">
            <a:avLst/>
          </a:prstGeom>
          <a:noFill/>
          <a:ln/>
        </p:spPr>
        <p:txBody>
          <a:bodyPr wrap="square" lIns="0" tIns="0" rIns="0" bIns="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_accelerate.cpython-311.so</a:t>
            </a:r>
            <a:endParaRPr lang="en-US" sz="1100" dirty="0"/>
          </a:p>
        </p:txBody>
      </p:sp>
      <p:sp>
        <p:nvSpPr>
          <p:cNvPr id="23" name="Text 20"/>
          <p:cNvSpPr txBox="1"/>
          <p:nvPr/>
        </p:nvSpPr>
        <p:spPr>
          <a:xfrm>
            <a:off x="8065008" y="2953512"/>
            <a:ext cx="3291840" cy="201168"/>
          </a:xfrm>
          <a:prstGeom prst="rect">
            <a:avLst/>
          </a:prstGeom>
          <a:noFill/>
          <a:ln/>
        </p:spPr>
        <p:txBody>
          <a:bodyPr wrap="square" lIns="0" tIns="0" rIns="0" bIns="0" rtlCol="0" anchor="t"/>
          <a:lstStyle/>
          <a:p>
            <a:pPr algn="l" indent="0" marL="0">
              <a:buNone/>
            </a:pPr>
            <a:r>
              <a:rPr lang="en-US" sz="1000" dirty="0">
                <a:solidFill>
                  <a:schemeClr val="tx2"/>
                </a:solidFill>
              </a:rPr>
              <a:t>SHA-256 627034a6…, release build</a:t>
            </a:r>
            <a:endParaRPr lang="en-US" sz="1000" dirty="0"/>
          </a:p>
        </p:txBody>
      </p:sp>
      <p:sp>
        <p:nvSpPr>
          <p:cNvPr id="24" name="Shape 21"/>
          <p:cNvSpPr/>
          <p:nvPr/>
        </p:nvSpPr>
        <p:spPr>
          <a:xfrm>
            <a:off x="7955280" y="3429000"/>
            <a:ext cx="3474720" cy="548640"/>
          </a:xfrm>
          <a:prstGeom prst="roundRect">
            <a:avLst>
              <a:gd name="adj" fmla="val 10000"/>
            </a:avLst>
          </a:prstGeom>
          <a:solidFill>
            <a:schemeClr val="bg1"/>
          </a:solidFill>
          <a:ln w="12700">
            <a:solidFill>
              <a:schemeClr val="tx1"/>
            </a:solidFill>
            <a:prstDash val="solid"/>
          </a:ln>
        </p:spPr>
      </p:sp>
      <p:sp>
        <p:nvSpPr>
          <p:cNvPr id="25" name="Text 22"/>
          <p:cNvSpPr txBox="1"/>
          <p:nvPr/>
        </p:nvSpPr>
        <p:spPr>
          <a:xfrm>
            <a:off x="8065008" y="3493008"/>
            <a:ext cx="3291840" cy="237744"/>
          </a:xfrm>
          <a:prstGeom prst="rect">
            <a:avLst/>
          </a:prstGeom>
          <a:noFill/>
          <a:ln/>
        </p:spPr>
        <p:txBody>
          <a:bodyPr wrap="square" lIns="0" tIns="0" rIns="0" bIns="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crates/</a:t>
            </a:r>
            <a:endParaRPr lang="en-US" sz="1100" dirty="0"/>
          </a:p>
        </p:txBody>
      </p:sp>
      <p:sp>
        <p:nvSpPr>
          <p:cNvPr id="26" name="Text 23"/>
          <p:cNvSpPr txBox="1"/>
          <p:nvPr/>
        </p:nvSpPr>
        <p:spPr>
          <a:xfrm>
            <a:off x="8065008" y="3730752"/>
            <a:ext cx="3291840" cy="201168"/>
          </a:xfrm>
          <a:prstGeom prst="rect">
            <a:avLst/>
          </a:prstGeom>
          <a:noFill/>
          <a:ln/>
        </p:spPr>
        <p:txBody>
          <a:bodyPr wrap="square" lIns="0" tIns="0" rIns="0" bIns="0" rtlCol="0" anchor="t"/>
          <a:lstStyle/>
          <a:p>
            <a:pPr algn="l" indent="0" marL="0">
              <a:buNone/>
            </a:pPr>
            <a:r>
              <a:rPr lang="en-US" sz="1000" dirty="0">
                <a:solidFill>
                  <a:schemeClr val="tx2"/>
                </a:solidFill>
              </a:rPr>
              <a:t>Rust, incl. commutation_checker.rs</a:t>
            </a:r>
            <a:endParaRPr lang="en-US" sz="1000" dirty="0"/>
          </a:p>
        </p:txBody>
      </p:sp>
      <p:sp>
        <p:nvSpPr>
          <p:cNvPr id="27" name="Shape 24"/>
          <p:cNvSpPr/>
          <p:nvPr/>
        </p:nvSpPr>
        <p:spPr>
          <a:xfrm flipV="1">
            <a:off x="11109960" y="3218688"/>
            <a:ext cx="0" cy="210312"/>
          </a:xfrm>
          <a:prstGeom prst="line">
            <a:avLst/>
          </a:prstGeom>
          <a:noFill/>
          <a:ln w="15875">
            <a:solidFill>
              <a:schemeClr val="tx1"/>
            </a:solidFill>
            <a:prstDash val="solid"/>
            <a:tailEnd type="triangle"/>
          </a:ln>
        </p:spPr>
      </p:sp>
      <p:sp>
        <p:nvSpPr>
          <p:cNvPr id="28" name="Text 25"/>
          <p:cNvSpPr txBox="1"/>
          <p:nvPr/>
        </p:nvSpPr>
        <p:spPr>
          <a:xfrm>
            <a:off x="9144000" y="3218688"/>
            <a:ext cx="1874520" cy="201168"/>
          </a:xfrm>
          <a:prstGeom prst="rect">
            <a:avLst/>
          </a:prstGeom>
          <a:noFill/>
          <a:ln/>
        </p:spPr>
        <p:txBody>
          <a:bodyPr wrap="square" lIns="0" tIns="0" rIns="0" bIns="0" rtlCol="0" anchor="t"/>
          <a:lstStyle/>
          <a:p>
            <a:pPr algn="r" indent="0" marL="0">
              <a:buNone/>
            </a:pPr>
            <a:r>
              <a:rPr lang="en-US" sz="900" dirty="0">
                <a:solidFill>
                  <a:schemeClr val="tx2"/>
                </a:solidFill>
                <a:latin typeface="Courier New" pitchFamily="34" charset="0"/>
                <a:ea typeface="Courier New" pitchFamily="34" charset="-122"/>
                <a:cs typeface="Courier New" pitchFamily="34" charset="-120"/>
              </a:rPr>
              <a:t>build_rust --release</a:t>
            </a:r>
            <a:endParaRPr lang="en-US" sz="900" dirty="0"/>
          </a:p>
        </p:txBody>
      </p:sp>
      <p:sp>
        <p:nvSpPr>
          <p:cNvPr id="29" name="Shape 26"/>
          <p:cNvSpPr/>
          <p:nvPr/>
        </p:nvSpPr>
        <p:spPr>
          <a:xfrm>
            <a:off x="3383280" y="2743200"/>
            <a:ext cx="731520" cy="0"/>
          </a:xfrm>
          <a:prstGeom prst="line">
            <a:avLst/>
          </a:prstGeom>
          <a:noFill/>
          <a:ln w="15875">
            <a:solidFill>
              <a:schemeClr val="tx1"/>
            </a:solidFill>
            <a:prstDash val="solid"/>
            <a:tailEnd type="triangle"/>
          </a:ln>
        </p:spPr>
      </p:sp>
      <p:sp>
        <p:nvSpPr>
          <p:cNvPr id="30" name="Text 27"/>
          <p:cNvSpPr txBox="1"/>
          <p:nvPr/>
        </p:nvSpPr>
        <p:spPr>
          <a:xfrm>
            <a:off x="3383280" y="2487168"/>
            <a:ext cx="731520" cy="201168"/>
          </a:xfrm>
          <a:prstGeom prst="rect">
            <a:avLst/>
          </a:prstGeom>
          <a:noFill/>
          <a:ln/>
        </p:spPr>
        <p:txBody>
          <a:bodyPr wrap="square" lIns="0" tIns="0" rIns="0" bIns="0" rtlCol="0" anchor="ctr"/>
          <a:lstStyle/>
          <a:p>
            <a:pPr algn="ctr" indent="0" marL="0">
              <a:buNone/>
            </a:pPr>
            <a:r>
              <a:rPr lang="en-US" sz="1000" dirty="0">
                <a:solidFill>
                  <a:schemeClr val="tx2"/>
                </a:solidFill>
              </a:rPr>
              <a:t>runs</a:t>
            </a:r>
            <a:endParaRPr lang="en-US" sz="1000" dirty="0"/>
          </a:p>
        </p:txBody>
      </p:sp>
      <p:sp>
        <p:nvSpPr>
          <p:cNvPr id="31" name="Shape 28"/>
          <p:cNvSpPr/>
          <p:nvPr/>
        </p:nvSpPr>
        <p:spPr>
          <a:xfrm>
            <a:off x="7040880" y="2148840"/>
            <a:ext cx="914400" cy="0"/>
          </a:xfrm>
          <a:prstGeom prst="line">
            <a:avLst/>
          </a:prstGeom>
          <a:noFill/>
          <a:ln w="15875">
            <a:solidFill>
              <a:schemeClr val="tx1"/>
            </a:solidFill>
            <a:prstDash val="solid"/>
            <a:tailEnd type="triangle"/>
          </a:ln>
        </p:spPr>
      </p:sp>
      <p:sp>
        <p:nvSpPr>
          <p:cNvPr id="32" name="Text 29"/>
          <p:cNvSpPr txBox="1"/>
          <p:nvPr/>
        </p:nvSpPr>
        <p:spPr>
          <a:xfrm>
            <a:off x="7040880" y="1901952"/>
            <a:ext cx="914400" cy="201168"/>
          </a:xfrm>
          <a:prstGeom prst="rect">
            <a:avLst/>
          </a:prstGeom>
          <a:noFill/>
          <a:ln/>
        </p:spPr>
        <p:txBody>
          <a:bodyPr wrap="square" lIns="0" tIns="0" rIns="0" bIns="0" rtlCol="0" anchor="ctr"/>
          <a:lstStyle/>
          <a:p>
            <a:pPr algn="ctr" indent="0" marL="0">
              <a:buNone/>
            </a:pPr>
            <a:r>
              <a:rPr lang="en-US" sz="1000" dirty="0">
                <a:solidFill>
                  <a:schemeClr val="tx2"/>
                </a:solidFill>
              </a:rPr>
              <a:t>imports</a:t>
            </a:r>
            <a:endParaRPr lang="en-US" sz="1000" dirty="0"/>
          </a:p>
        </p:txBody>
      </p:sp>
      <p:sp>
        <p:nvSpPr>
          <p:cNvPr id="33" name="Shape 30"/>
          <p:cNvSpPr/>
          <p:nvPr/>
        </p:nvSpPr>
        <p:spPr>
          <a:xfrm>
            <a:off x="7040880" y="2926080"/>
            <a:ext cx="914400" cy="0"/>
          </a:xfrm>
          <a:prstGeom prst="line">
            <a:avLst/>
          </a:prstGeom>
          <a:noFill/>
          <a:ln w="15875">
            <a:solidFill>
              <a:schemeClr val="tx1"/>
            </a:solidFill>
            <a:prstDash val="solid"/>
            <a:tailEnd type="triangle"/>
          </a:ln>
        </p:spPr>
      </p:sp>
      <p:sp>
        <p:nvSpPr>
          <p:cNvPr id="34" name="Text 31"/>
          <p:cNvSpPr txBox="1"/>
          <p:nvPr/>
        </p:nvSpPr>
        <p:spPr>
          <a:xfrm>
            <a:off x="7040880" y="2679192"/>
            <a:ext cx="914400" cy="201168"/>
          </a:xfrm>
          <a:prstGeom prst="rect">
            <a:avLst/>
          </a:prstGeom>
          <a:noFill/>
          <a:ln/>
        </p:spPr>
        <p:txBody>
          <a:bodyPr wrap="square" lIns="0" tIns="0" rIns="0" bIns="0" rtlCol="0" anchor="ctr"/>
          <a:lstStyle/>
          <a:p>
            <a:pPr algn="ctr" indent="0" marL="0">
              <a:buNone/>
            </a:pPr>
            <a:r>
              <a:rPr lang="en-US" sz="1000" dirty="0">
                <a:solidFill>
                  <a:schemeClr val="tx2"/>
                </a:solidFill>
              </a:rPr>
              <a:t>loads</a:t>
            </a:r>
            <a:endParaRPr lang="en-US" sz="1000" dirty="0"/>
          </a:p>
        </p:txBody>
      </p:sp>
      <p:sp>
        <p:nvSpPr>
          <p:cNvPr id="35" name="Shape 32"/>
          <p:cNvSpPr/>
          <p:nvPr/>
        </p:nvSpPr>
        <p:spPr>
          <a:xfrm>
            <a:off x="548640" y="4434840"/>
            <a:ext cx="3520440" cy="1783080"/>
          </a:xfrm>
          <a:prstGeom prst="roundRect">
            <a:avLst>
              <a:gd name="adj" fmla="val 4103"/>
            </a:avLst>
          </a:prstGeom>
          <a:solidFill>
            <a:schemeClr val="bg2"/>
          </a:solidFill>
          <a:ln w="9525">
            <a:solidFill>
              <a:srgbClr val="C8D0D3"/>
            </a:solidFill>
            <a:prstDash val="solid"/>
          </a:ln>
        </p:spPr>
      </p:sp>
      <p:sp>
        <p:nvSpPr>
          <p:cNvPr id="36" name="Text 33"/>
          <p:cNvSpPr txBox="1"/>
          <p:nvPr/>
        </p:nvSpPr>
        <p:spPr>
          <a:xfrm>
            <a:off x="731520" y="455371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Origin</a:t>
            </a:r>
            <a:endParaRPr lang="en-US" sz="1300" dirty="0"/>
          </a:p>
        </p:txBody>
      </p:sp>
      <p:sp>
        <p:nvSpPr>
          <p:cNvPr id="37" name="Text 34"/>
          <p:cNvSpPr txBox="1"/>
          <p:nvPr/>
        </p:nvSpPr>
        <p:spPr>
          <a:xfrm>
            <a:off x="731520" y="4864608"/>
            <a:ext cx="3154680" cy="1280160"/>
          </a:xfrm>
          <a:prstGeom prst="rect">
            <a:avLst/>
          </a:prstGeom>
          <a:noFill/>
          <a:ln/>
        </p:spPr>
        <p:txBody>
          <a:bodyPr wrap="square" lIns="0" tIns="0" rIns="0" bIns="0" rtlCol="0" anchor="t"/>
          <a:lstStyle/>
          <a:p>
            <a:pPr algn="l" indent="0" marL="0">
              <a:lnSpc>
                <a:spcPct val="108000"/>
              </a:lnSpc>
              <a:buNone/>
            </a:pPr>
            <a:r>
              <a:rPr lang="en-US" sz="1150" dirty="0">
                <a:solidFill>
                  <a:schemeClr val="tx1"/>
                </a:solidFill>
              </a:rPr>
              <a:t>qiskit.__file__ and qiskit._accelerate.__file__ must resolve inside the --qiskit-src tree. Anything else aborts with “Wrong Qiskit source”.</a:t>
            </a:r>
            <a:endParaRPr lang="en-US" sz="1150" dirty="0"/>
          </a:p>
        </p:txBody>
      </p:sp>
      <p:sp>
        <p:nvSpPr>
          <p:cNvPr id="38" name="Shape 35"/>
          <p:cNvSpPr/>
          <p:nvPr/>
        </p:nvSpPr>
        <p:spPr>
          <a:xfrm>
            <a:off x="4334256" y="4434840"/>
            <a:ext cx="3520440" cy="1783080"/>
          </a:xfrm>
          <a:prstGeom prst="roundRect">
            <a:avLst>
              <a:gd name="adj" fmla="val 4103"/>
            </a:avLst>
          </a:prstGeom>
          <a:solidFill>
            <a:schemeClr val="bg2"/>
          </a:solidFill>
          <a:ln w="9525">
            <a:solidFill>
              <a:srgbClr val="C8D0D3"/>
            </a:solidFill>
            <a:prstDash val="solid"/>
          </a:ln>
        </p:spPr>
      </p:sp>
      <p:sp>
        <p:nvSpPr>
          <p:cNvPr id="39" name="Text 36"/>
          <p:cNvSpPr txBox="1"/>
          <p:nvPr/>
        </p:nvSpPr>
        <p:spPr>
          <a:xfrm>
            <a:off x="4517136" y="455371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Clean tree</a:t>
            </a:r>
            <a:endParaRPr lang="en-US" sz="1300" dirty="0"/>
          </a:p>
        </p:txBody>
      </p:sp>
      <p:sp>
        <p:nvSpPr>
          <p:cNvPr id="40" name="Text 37"/>
          <p:cNvSpPr txBox="1"/>
          <p:nvPr/>
        </p:nvSpPr>
        <p:spPr>
          <a:xfrm>
            <a:off x="4517136" y="4864608"/>
            <a:ext cx="3154680" cy="1280160"/>
          </a:xfrm>
          <a:prstGeom prst="rect">
            <a:avLst/>
          </a:prstGeom>
          <a:noFill/>
          <a:ln/>
        </p:spPr>
        <p:txBody>
          <a:bodyPr wrap="square" lIns="0" tIns="0" rIns="0" bIns="0" rtlCol="0" anchor="t"/>
          <a:lstStyle/>
          <a:p>
            <a:pPr algn="l" indent="0" marL="0">
              <a:lnSpc>
                <a:spcPct val="108000"/>
              </a:lnSpc>
              <a:buNone/>
            </a:pPr>
            <a:r>
              <a:rPr lang="en-US" sz="1150" dirty="0">
                <a:solidFill>
                  <a:schemeClr val="tx1"/>
                </a:solidFill>
              </a:rPr>
              <a:t>git status must report no modified or untracked files under qiskit/, crates/, test/benchmarks/, Cargo.toml or Cargo.lock, so the recorded SHA describes the code that ran. A REVISION file replaces git for trees that are not checkouts.</a:t>
            </a:r>
            <a:endParaRPr lang="en-US" sz="1150" dirty="0"/>
          </a:p>
        </p:txBody>
      </p:sp>
      <p:sp>
        <p:nvSpPr>
          <p:cNvPr id="41" name="Shape 38"/>
          <p:cNvSpPr/>
          <p:nvPr/>
        </p:nvSpPr>
        <p:spPr>
          <a:xfrm>
            <a:off x="8119872" y="4434840"/>
            <a:ext cx="3520440" cy="1783080"/>
          </a:xfrm>
          <a:prstGeom prst="roundRect">
            <a:avLst>
              <a:gd name="adj" fmla="val 4103"/>
            </a:avLst>
          </a:prstGeom>
          <a:solidFill>
            <a:schemeClr val="bg2"/>
          </a:solidFill>
          <a:ln w="9525">
            <a:solidFill>
              <a:srgbClr val="C8D0D3"/>
            </a:solidFill>
            <a:prstDash val="solid"/>
          </a:ln>
        </p:spPr>
      </p:sp>
      <p:sp>
        <p:nvSpPr>
          <p:cNvPr id="42" name="Text 39"/>
          <p:cNvSpPr txBox="1"/>
          <p:nvPr/>
        </p:nvSpPr>
        <p:spPr>
          <a:xfrm>
            <a:off x="8302752" y="4553712"/>
            <a:ext cx="3154680" cy="274320"/>
          </a:xfrm>
          <a:prstGeom prst="rect">
            <a:avLst/>
          </a:prstGeom>
          <a:noFill/>
          <a:ln/>
        </p:spPr>
        <p:txBody>
          <a:bodyPr wrap="square" lIns="0" tIns="0" rIns="0" bIns="0" rtlCol="0" anchor="t"/>
          <a:lstStyle/>
          <a:p>
            <a:pPr algn="l" indent="0" marL="0">
              <a:buNone/>
            </a:pPr>
            <a:r>
              <a:rPr lang="en-US" sz="1300" b="1" dirty="0">
                <a:solidFill>
                  <a:schemeClr val="accent1"/>
                </a:solidFill>
              </a:rPr>
              <a:t>Fresh extension</a:t>
            </a:r>
            <a:endParaRPr lang="en-US" sz="1300" dirty="0"/>
          </a:p>
        </p:txBody>
      </p:sp>
      <p:sp>
        <p:nvSpPr>
          <p:cNvPr id="43" name="Text 40"/>
          <p:cNvSpPr txBox="1"/>
          <p:nvPr/>
        </p:nvSpPr>
        <p:spPr>
          <a:xfrm>
            <a:off x="8302752" y="4864608"/>
            <a:ext cx="3154680" cy="1280160"/>
          </a:xfrm>
          <a:prstGeom prst="rect">
            <a:avLst/>
          </a:prstGeom>
          <a:noFill/>
          <a:ln/>
        </p:spPr>
        <p:txBody>
          <a:bodyPr wrap="square" lIns="0" tIns="0" rIns="0" bIns="0" rtlCol="0" anchor="t"/>
          <a:lstStyle/>
          <a:p>
            <a:pPr algn="l" indent="0" marL="0">
              <a:lnSpc>
                <a:spcPct val="108000"/>
              </a:lnSpc>
              <a:buNone/>
            </a:pPr>
            <a:r>
              <a:rPr lang="en-US" sz="1150" dirty="0">
                <a:solidFill>
                  <a:schemeClr val="tx1"/>
                </a:solidFill>
              </a:rPr>
              <a:t>The compiled _accelerate module must not be older than any Rust source or Cargo file. A git pull that rewrites a .rs file therefore forces a rebuild before the next run.</a:t>
            </a:r>
            <a:endParaRPr lang="en-US" sz="11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The rebuilt extension is byte-identical to the recorded one</a:t>
            </a:r>
            <a:endParaRPr lang="en-US" sz="3000" dirty="0"/>
          </a:p>
        </p:txBody>
      </p:sp>
      <p:sp>
        <p:nvSpPr>
          <p:cNvPr id="4" name="Text 1"/>
          <p:cNvSpPr txBox="1"/>
          <p:nvPr/>
        </p:nvSpPr>
        <p:spPr>
          <a:xfrm>
            <a:off x="548640" y="1371600"/>
            <a:ext cx="5394960" cy="1828800"/>
          </a:xfrm>
          <a:prstGeom prst="rect">
            <a:avLst/>
          </a:prstGeom>
          <a:noFill/>
          <a:ln/>
        </p:spPr>
        <p:txBody>
          <a:bodyPr wrap="square" lIns="0" tIns="0" rIns="0" bIns="0" rtlCol="0" anchor="t"/>
          <a:lstStyle/>
          <a:p>
            <a:pPr algn="l" indent="0" marL="0">
              <a:lnSpc>
                <a:spcPct val="110000"/>
              </a:lnSpc>
              <a:buNone/>
            </a:pPr>
            <a:r>
              <a:rPr lang="en-US" sz="1350" dirty="0">
                <a:solidFill>
                  <a:schemeClr val="tx1"/>
                </a:solidFill>
              </a:rPr>
              <a:t>The last commit of the checkout also changed Rust code, and the extension on disk predated a later git operation that rewrote a Rust file. On 2026-10-28 the binary was rebuilt from the current source with the project's release command. Cargo recompiled all 14 Qiskit crates, including qiskit-transpiler, and produced the same file. The 2026-10-29 run loaded this extension and recorded the same hash.</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309360" y="1371600"/>
          <a:ext cx="5330952" cy="914400"/>
        </p:xfrm>
        <a:graphic>
          <a:graphicData uri="http://schemas.openxmlformats.org/drawingml/2006/table">
            <a:tbl>
              <a:tblPr/>
              <a:tblGrid>
                <a:gridCol w="3200400"/>
                <a:gridCol w="2130552"/>
              </a:tblGrid>
              <a:tr h="0">
                <a:tc>
                  <a:txBody>
                    <a:bodyPr/>
                    <a:lstStyle/>
                    <a:p>
                      <a:pPr indent="0" marL="0">
                        <a:buNone/>
                      </a:pPr>
                      <a:r>
                        <a:rPr lang="en-US" sz="1000" b="1" dirty="0">
                          <a:solidFill>
                            <a:schemeClr val="tx2"/>
                          </a:solidFill>
                        </a:rPr>
                        <a:t>Artifact</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00" b="1" dirty="0">
                          <a:solidFill>
                            <a:schemeClr val="tx2"/>
                          </a:solidFill>
                        </a:rPr>
                        <a:t>SHA-256</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Recorded in report.md (run of 2026-10-29)</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627034a679e9e709…</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Extension before the rebuild (backup)</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627034a679e9e709…</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Rebuilt extension in the checkout</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627034a679e9e709…</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0">
                <a:tc>
                  <a:txBody>
                    <a:bodyPr/>
                    <a:lstStyle/>
                    <a:p>
                      <a:pPr indent="0" marL="0">
                        <a:buNone/>
                      </a:pPr>
                      <a:r>
                        <a:rPr lang="en-US" sz="1200" dirty="0">
                          <a:solidFill>
                            <a:schemeClr val="tx1"/>
                          </a:solidFill>
                        </a:rPr>
                        <a:t>target/release/libqiskit_pyext.dylib</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627034a679e9e709…</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6" name="Text 2"/>
          <p:cNvSpPr txBox="1"/>
          <p:nvPr/>
        </p:nvSpPr>
        <p:spPr>
          <a:xfrm>
            <a:off x="548640" y="3383280"/>
            <a:ext cx="7315200" cy="274320"/>
          </a:xfrm>
          <a:prstGeom prst="rect">
            <a:avLst/>
          </a:prstGeom>
          <a:noFill/>
          <a:ln/>
        </p:spPr>
        <p:txBody>
          <a:bodyPr wrap="square" lIns="0" tIns="0" rIns="0" bIns="0" rtlCol="0" anchor="t"/>
          <a:lstStyle/>
          <a:p>
            <a:pPr algn="l" indent="0" marL="0">
              <a:buNone/>
            </a:pPr>
            <a:r>
              <a:rPr lang="en-US" sz="1300" b="1" dirty="0">
                <a:solidFill>
                  <a:schemeClr val="tx1"/>
                </a:solidFill>
              </a:rPr>
              <a:t>Checking by hand, with the output from this machine</a:t>
            </a:r>
            <a:endParaRPr lang="en-US" sz="1300" dirty="0"/>
          </a:p>
        </p:txBody>
      </p:sp>
      <p:sp>
        <p:nvSpPr>
          <p:cNvPr id="7" name="Text 3"/>
          <p:cNvSpPr txBox="1"/>
          <p:nvPr/>
        </p:nvSpPr>
        <p:spPr>
          <a:xfrm>
            <a:off x="548640" y="3703320"/>
            <a:ext cx="11091672" cy="2286000"/>
          </a:xfrm>
          <a:prstGeom prst="rect">
            <a:avLst/>
          </a:prstGeom>
          <a:solidFill>
            <a:schemeClr val="bg2"/>
          </a:solidFill>
          <a:ln w="9525">
            <a:solidFill>
              <a:srgbClr val="C8D0D3"/>
            </a:solidFill>
          </a:ln>
        </p:spPr>
        <p:txBody>
          <a:bodyPr wrap="square" lIns="1524" tIns="1524" rIns="1524" bIns="1524" rtlCol="0" anchor="t"/>
          <a:lstStyle/>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../qiskit-evolved/.venv/bin/python - &lt;&lt;'EOF'</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import hashlib, os, subprocess, sys</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src = os.path.abspath("../qiskit-swap-absorption")</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sys.path.insert(0, src)</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import qiskit, qiskit._accelerate as acc</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print(qiskit.__file__)</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print(acc.__file__, hashlib.sha256(open(acc.__file__, "rb").read()).hexdigest()[:16])</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print(subprocess.check_output(["git", "-C", src, "rev-parse", "--short", "HEAD"], text=True).strip())</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EOF</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/Users/ophir/PycharmProjects/qiskit-swap-absorption/qiskit/__init__.py</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/Users/ophir/PycharmProjects/qiskit-swap-absorption/qiskit/_accelerate.cpython-311-darwin.so 627034a679e9e709</a:t>
            </a:r>
            <a:endParaRPr lang="en-US" sz="1050" dirty="0"/>
          </a:p>
          <a:p>
            <a:pPr algn="l" indent="0" marL="0">
              <a:lnSpc>
                <a:spcPct val="100000"/>
              </a:lnSpc>
              <a:buNone/>
            </a:pPr>
            <a:r>
              <a:rPr lang="en-US" sz="1050" dirty="0">
                <a:solidFill>
                  <a:schemeClr val="tx1"/>
                </a:solidFill>
                <a:latin typeface="Courier New" pitchFamily="34" charset="0"/>
                <a:ea typeface="Courier New" pitchFamily="34" charset="-122"/>
                <a:cs typeface="Courier New" pitchFamily="34" charset="-120"/>
              </a:rPr>
              <a:t>6b5145d2e</a:t>
            </a:r>
            <a:endParaRPr lang="en-US" sz="10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One case, end to end</a:t>
            </a:r>
            <a:endParaRPr lang="en-US" sz="3000" dirty="0"/>
          </a:p>
        </p:txBody>
      </p:sp>
      <p:sp>
        <p:nvSpPr>
          <p:cNvPr id="4" name="Shape 1"/>
          <p:cNvSpPr/>
          <p:nvPr/>
        </p:nvSpPr>
        <p:spPr>
          <a:xfrm>
            <a:off x="548640" y="1389888"/>
            <a:ext cx="384048" cy="384048"/>
          </a:xfrm>
          <a:prstGeom prst="ellipse">
            <a:avLst/>
          </a:prstGeom>
          <a:solidFill>
            <a:schemeClr val="accent5"/>
          </a:solidFill>
          <a:ln w="6350">
            <a:solidFill>
              <a:schemeClr val="accent5"/>
            </a:solidFill>
            <a:prstDash val="solid"/>
          </a:ln>
        </p:spPr>
      </p:sp>
      <p:sp>
        <p:nvSpPr>
          <p:cNvPr id="5" name="Text 2"/>
          <p:cNvSpPr txBox="1"/>
          <p:nvPr/>
        </p:nvSpPr>
        <p:spPr>
          <a:xfrm>
            <a:off x="548640" y="138988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1</a:t>
            </a:r>
            <a:endParaRPr lang="en-US" sz="1200" dirty="0"/>
          </a:p>
        </p:txBody>
      </p:sp>
      <p:sp>
        <p:nvSpPr>
          <p:cNvPr id="6" name="Text 3"/>
          <p:cNvSpPr txBox="1"/>
          <p:nvPr/>
        </p:nvSpPr>
        <p:spPr>
          <a:xfrm>
            <a:off x="1097280" y="137160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Build the fixture  </a:t>
            </a:r>
            <a:pPr indent="0" marL="0">
              <a:lnSpc>
                <a:spcPct val="105000"/>
              </a:lnSpc>
              <a:buNone/>
            </a:pPr>
            <a:r>
              <a:rPr lang="en-US" sz="1250" dirty="0">
                <a:solidFill>
                  <a:schemeClr val="tx1"/>
                </a:solidFill>
              </a:rPr>
              <a:t>from Qiskit's own benchmark builders or two local builders, all with fixed seeds. Seven fixtures are embedded on a fixed permutation of the ten wires so that routing on a line has real work to do.</a:t>
            </a:r>
            <a:endParaRPr lang="en-US" sz="1250" dirty="0"/>
          </a:p>
        </p:txBody>
      </p:sp>
      <p:sp>
        <p:nvSpPr>
          <p:cNvPr id="7" name="Shape 4"/>
          <p:cNvSpPr/>
          <p:nvPr/>
        </p:nvSpPr>
        <p:spPr>
          <a:xfrm>
            <a:off x="548640" y="2578608"/>
            <a:ext cx="384048" cy="384048"/>
          </a:xfrm>
          <a:prstGeom prst="ellipse">
            <a:avLst/>
          </a:prstGeom>
          <a:solidFill>
            <a:schemeClr val="accent5"/>
          </a:solidFill>
          <a:ln w="6350">
            <a:solidFill>
              <a:schemeClr val="accent5"/>
            </a:solidFill>
            <a:prstDash val="solid"/>
          </a:ln>
        </p:spPr>
      </p:sp>
      <p:sp>
        <p:nvSpPr>
          <p:cNvPr id="8" name="Text 5"/>
          <p:cNvSpPr txBox="1"/>
          <p:nvPr/>
        </p:nvSpPr>
        <p:spPr>
          <a:xfrm>
            <a:off x="548640" y="257860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2</a:t>
            </a:r>
            <a:endParaRPr lang="en-US" sz="1200" dirty="0"/>
          </a:p>
        </p:txBody>
      </p:sp>
      <p:sp>
        <p:nvSpPr>
          <p:cNvPr id="9" name="Text 6"/>
          <p:cNvSpPr txBox="1"/>
          <p:nvPr/>
        </p:nvSpPr>
        <p:spPr>
          <a:xfrm>
            <a:off x="1097280" y="256032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Prepare it:  </a:t>
            </a:r>
            <a:pPr indent="0" marL="0">
              <a:lnSpc>
                <a:spcPct val="105000"/>
              </a:lnSpc>
              <a:buNone/>
            </a:pPr>
            <a:r>
              <a:rPr lang="en-US" sz="1250" dirty="0">
                <a:solidFill>
                  <a:schemeClr val="tx1"/>
                </a:solidFill>
              </a:rPr>
              <a:t>remove final measurements, bind free parameters to 0.1, 0.2, 0.3, …, run Unroll3qOrMore, and take reference = Operator.from_circuit(qc), a 1024 × 1024 matrix. Both runs receive copies of this one circuit.</a:t>
            </a:r>
            <a:endParaRPr lang="en-US" sz="1250" dirty="0"/>
          </a:p>
        </p:txBody>
      </p:sp>
      <p:sp>
        <p:nvSpPr>
          <p:cNvPr id="10" name="Shape 7"/>
          <p:cNvSpPr/>
          <p:nvPr/>
        </p:nvSpPr>
        <p:spPr>
          <a:xfrm>
            <a:off x="548640" y="3767328"/>
            <a:ext cx="384048" cy="384048"/>
          </a:xfrm>
          <a:prstGeom prst="ellipse">
            <a:avLst/>
          </a:prstGeom>
          <a:solidFill>
            <a:schemeClr val="accent5"/>
          </a:solidFill>
          <a:ln w="6350">
            <a:solidFill>
              <a:schemeClr val="accent5"/>
            </a:solidFill>
            <a:prstDash val="solid"/>
          </a:ln>
        </p:spPr>
      </p:sp>
      <p:sp>
        <p:nvSpPr>
          <p:cNvPr id="11" name="Text 8"/>
          <p:cNvSpPr txBox="1"/>
          <p:nvPr/>
        </p:nvSpPr>
        <p:spPr>
          <a:xfrm>
            <a:off x="548640" y="376732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3</a:t>
            </a:r>
            <a:endParaRPr lang="en-US" sz="1200" dirty="0"/>
          </a:p>
        </p:txBody>
      </p:sp>
      <p:sp>
        <p:nvSpPr>
          <p:cNvPr id="12" name="Text 9"/>
          <p:cNvSpPr txBox="1"/>
          <p:nvPr/>
        </p:nvSpPr>
        <p:spPr>
          <a:xfrm>
            <a:off x="1097280" y="374904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Run with absorption disabled:  </a:t>
            </a:r>
            <a:pPr indent="0" marL="0">
              <a:lnSpc>
                <a:spcPct val="105000"/>
              </a:lnSpc>
              <a:buNone/>
            </a:pPr>
            <a:r>
              <a:rPr lang="en-US" sz="1250" dirty="0">
                <a:solidFill>
                  <a:schemeClr val="tx1"/>
                </a:solidFill>
              </a:rPr>
              <a:t>the real preset pass manager with _AbsorbIntoSwaps.run patched to return its input DAG. Every other pass executes with the same settings and seed; the patch is undone when the run ends.</a:t>
            </a:r>
            <a:endParaRPr lang="en-US" sz="1250" dirty="0"/>
          </a:p>
        </p:txBody>
      </p:sp>
      <p:sp>
        <p:nvSpPr>
          <p:cNvPr id="13" name="Shape 10"/>
          <p:cNvSpPr/>
          <p:nvPr/>
        </p:nvSpPr>
        <p:spPr>
          <a:xfrm>
            <a:off x="548640" y="4956048"/>
            <a:ext cx="384048" cy="384048"/>
          </a:xfrm>
          <a:prstGeom prst="ellipse">
            <a:avLst/>
          </a:prstGeom>
          <a:solidFill>
            <a:schemeClr val="accent5"/>
          </a:solidFill>
          <a:ln w="6350">
            <a:solidFill>
              <a:schemeClr val="accent5"/>
            </a:solidFill>
            <a:prstDash val="solid"/>
          </a:ln>
        </p:spPr>
      </p:sp>
      <p:sp>
        <p:nvSpPr>
          <p:cNvPr id="14" name="Text 11"/>
          <p:cNvSpPr txBox="1"/>
          <p:nvPr/>
        </p:nvSpPr>
        <p:spPr>
          <a:xfrm>
            <a:off x="548640" y="495604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4</a:t>
            </a:r>
            <a:endParaRPr lang="en-US" sz="1200" dirty="0"/>
          </a:p>
        </p:txBody>
      </p:sp>
      <p:sp>
        <p:nvSpPr>
          <p:cNvPr id="15" name="Text 12"/>
          <p:cNvSpPr txBox="1"/>
          <p:nvPr/>
        </p:nvSpPr>
        <p:spPr>
          <a:xfrm>
            <a:off x="1097280" y="493776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Run with absorption enabled:  </a:t>
            </a:r>
            <a:pPr indent="0" marL="0">
              <a:lnSpc>
                <a:spcPct val="105000"/>
              </a:lnSpc>
              <a:buNone/>
            </a:pPr>
            <a:r>
              <a:rPr lang="en-US" sz="1250" dirty="0">
                <a:solidFill>
                  <a:schemeClr val="tx1"/>
                </a:solidFill>
              </a:rPr>
              <a:t>the same pass manager. _find_moves is wrapped so its selected moves are counted without changing its result; a callback counts every execution of _AbsorbIntoSwaps and the swaps it saw. At least one execution is required.</a:t>
            </a:r>
            <a:endParaRPr lang="en-US" sz="1250" dirty="0"/>
          </a:p>
        </p:txBody>
      </p:sp>
      <p:sp>
        <p:nvSpPr>
          <p:cNvPr id="16" name="Shape 13"/>
          <p:cNvSpPr/>
          <p:nvPr/>
        </p:nvSpPr>
        <p:spPr>
          <a:xfrm>
            <a:off x="6309360" y="1389888"/>
            <a:ext cx="384048" cy="384048"/>
          </a:xfrm>
          <a:prstGeom prst="ellipse">
            <a:avLst/>
          </a:prstGeom>
          <a:solidFill>
            <a:schemeClr val="accent5"/>
          </a:solidFill>
          <a:ln w="6350">
            <a:solidFill>
              <a:schemeClr val="accent5"/>
            </a:solidFill>
            <a:prstDash val="solid"/>
          </a:ln>
        </p:spPr>
      </p:sp>
      <p:sp>
        <p:nvSpPr>
          <p:cNvPr id="17" name="Text 14"/>
          <p:cNvSpPr txBox="1"/>
          <p:nvPr/>
        </p:nvSpPr>
        <p:spPr>
          <a:xfrm>
            <a:off x="6309360" y="138988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5</a:t>
            </a:r>
            <a:endParaRPr lang="en-US" sz="1200" dirty="0"/>
          </a:p>
        </p:txBody>
      </p:sp>
      <p:sp>
        <p:nvSpPr>
          <p:cNvPr id="18" name="Text 15"/>
          <p:cNvSpPr txBox="1"/>
          <p:nvPr/>
        </p:nvSpPr>
        <p:spPr>
          <a:xfrm>
            <a:off x="6858000" y="137160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Check both outputs the same way:  </a:t>
            </a:r>
            <a:pPr indent="0" marL="0">
              <a:lnSpc>
                <a:spcPct val="105000"/>
              </a:lnSpc>
              <a:buNone/>
            </a:pPr>
            <a:r>
              <a:rPr lang="en-US" sz="1250" dirty="0">
                <a:solidFill>
                  <a:schemeClr val="tx1"/>
                </a:solidFill>
              </a:rPr>
              <a:t>10 qubits and layout metadata; the initial layout is still the identity; the final layout is a permutation of 0 … 9; every gate acts on at most two qubits, sits on an edge of the line, and is named rz, sx, x or cx.</a:t>
            </a:r>
            <a:endParaRPr lang="en-US" sz="1250" dirty="0"/>
          </a:p>
        </p:txBody>
      </p:sp>
      <p:sp>
        <p:nvSpPr>
          <p:cNvPr id="19" name="Shape 16"/>
          <p:cNvSpPr/>
          <p:nvPr/>
        </p:nvSpPr>
        <p:spPr>
          <a:xfrm>
            <a:off x="6309360" y="2578608"/>
            <a:ext cx="384048" cy="384048"/>
          </a:xfrm>
          <a:prstGeom prst="ellipse">
            <a:avLst/>
          </a:prstGeom>
          <a:solidFill>
            <a:schemeClr val="accent5"/>
          </a:solidFill>
          <a:ln w="6350">
            <a:solidFill>
              <a:schemeClr val="accent5"/>
            </a:solidFill>
            <a:prstDash val="solid"/>
          </a:ln>
        </p:spPr>
      </p:sp>
      <p:sp>
        <p:nvSpPr>
          <p:cNvPr id="20" name="Text 17"/>
          <p:cNvSpPr txBox="1"/>
          <p:nvPr/>
        </p:nvSpPr>
        <p:spPr>
          <a:xfrm>
            <a:off x="6309360" y="257860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6</a:t>
            </a:r>
            <a:endParaRPr lang="en-US" sz="1200" dirty="0"/>
          </a:p>
        </p:txBody>
      </p:sp>
      <p:sp>
        <p:nvSpPr>
          <p:cNvPr id="21" name="Text 18"/>
          <p:cNvSpPr txBox="1"/>
          <p:nvPr/>
        </p:nvSpPr>
        <p:spPr>
          <a:xfrm>
            <a:off x="6858000" y="256032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Record metrics for both:  </a:t>
            </a:r>
            <a:pPr indent="0" marL="0">
              <a:lnSpc>
                <a:spcPct val="105000"/>
              </a:lnSpc>
              <a:buNone/>
            </a:pPr>
            <a:r>
              <a:rPr lang="en-US" sz="1250" dirty="0">
                <a:solidFill>
                  <a:schemeClr val="tx1"/>
                </a:solidFill>
              </a:rPr>
              <a:t>depth, two-qubit gate count and final permutation, kept even if the next step fails. The disabled run's values are stored with a disabled_ prefix.</a:t>
            </a:r>
            <a:endParaRPr lang="en-US" sz="1250" dirty="0"/>
          </a:p>
        </p:txBody>
      </p:sp>
      <p:sp>
        <p:nvSpPr>
          <p:cNvPr id="22" name="Shape 19"/>
          <p:cNvSpPr/>
          <p:nvPr/>
        </p:nvSpPr>
        <p:spPr>
          <a:xfrm>
            <a:off x="6309360" y="3767328"/>
            <a:ext cx="384048" cy="384048"/>
          </a:xfrm>
          <a:prstGeom prst="ellipse">
            <a:avLst/>
          </a:prstGeom>
          <a:solidFill>
            <a:schemeClr val="accent5"/>
          </a:solidFill>
          <a:ln w="6350">
            <a:solidFill>
              <a:schemeClr val="accent5"/>
            </a:solidFill>
            <a:prstDash val="solid"/>
          </a:ln>
        </p:spPr>
      </p:sp>
      <p:sp>
        <p:nvSpPr>
          <p:cNvPr id="23" name="Text 20"/>
          <p:cNvSpPr txBox="1"/>
          <p:nvPr/>
        </p:nvSpPr>
        <p:spPr>
          <a:xfrm>
            <a:off x="6309360" y="376732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7</a:t>
            </a:r>
            <a:endParaRPr lang="en-US" sz="1200" dirty="0"/>
          </a:p>
        </p:txBody>
      </p:sp>
      <p:sp>
        <p:nvSpPr>
          <p:cNvPr id="24" name="Text 21"/>
          <p:cNvSpPr txBox="1"/>
          <p:nvPr/>
        </p:nvSpPr>
        <p:spPr>
          <a:xfrm>
            <a:off x="6858000" y="374904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Check both unitaries:  </a:t>
            </a:r>
            <a:pPr indent="0" marL="0">
              <a:lnSpc>
                <a:spcPct val="105000"/>
              </a:lnSpc>
              <a:buNone/>
            </a:pPr>
            <a:r>
              <a:rPr lang="en-US" sz="1250" dirty="0">
                <a:solidFill>
                  <a:schemeClr val="tx1"/>
                </a:solidFill>
              </a:rPr>
              <a:t>Operator.from_circuit(out) == reference, which undoes the routing permutation and compares every matrix entry, global phase included. A disabled-run mismatch is reported as “Disabled control operator mismatch”.</a:t>
            </a:r>
            <a:endParaRPr lang="en-US" sz="1250" dirty="0"/>
          </a:p>
        </p:txBody>
      </p:sp>
      <p:sp>
        <p:nvSpPr>
          <p:cNvPr id="25" name="Shape 22"/>
          <p:cNvSpPr/>
          <p:nvPr/>
        </p:nvSpPr>
        <p:spPr>
          <a:xfrm>
            <a:off x="6309360" y="4956048"/>
            <a:ext cx="384048" cy="384048"/>
          </a:xfrm>
          <a:prstGeom prst="ellipse">
            <a:avLst/>
          </a:prstGeom>
          <a:solidFill>
            <a:schemeClr val="accent5"/>
          </a:solidFill>
          <a:ln w="6350">
            <a:solidFill>
              <a:schemeClr val="accent5"/>
            </a:solidFill>
            <a:prstDash val="solid"/>
          </a:ln>
        </p:spPr>
      </p:sp>
      <p:sp>
        <p:nvSpPr>
          <p:cNvPr id="26" name="Text 23"/>
          <p:cNvSpPr txBox="1"/>
          <p:nvPr/>
        </p:nvSpPr>
        <p:spPr>
          <a:xfrm>
            <a:off x="6309360" y="4956048"/>
            <a:ext cx="384048" cy="384048"/>
          </a:xfrm>
          <a:prstGeom prst="rect">
            <a:avLst/>
          </a:prstGeom>
          <a:noFill/>
          <a:ln/>
        </p:spPr>
        <p:txBody>
          <a:bodyPr wrap="square" lIns="0" tIns="0" rIns="0" bIns="0" rtlCol="0" anchor="ctr"/>
          <a:lstStyle/>
          <a:p>
            <a:pPr algn="ctr" indent="0" marL="0">
              <a:buNone/>
            </a:pPr>
            <a:r>
              <a:rPr lang="en-US" sz="1200" b="1" dirty="0">
                <a:solidFill>
                  <a:schemeClr val="accent1"/>
                </a:solidFill>
              </a:rPr>
              <a:t>8</a:t>
            </a:r>
            <a:endParaRPr lang="en-US" sz="1200" dirty="0"/>
          </a:p>
        </p:txBody>
      </p:sp>
      <p:sp>
        <p:nvSpPr>
          <p:cNvPr id="27" name="Text 24"/>
          <p:cNvSpPr txBox="1"/>
          <p:nvPr/>
        </p:nvSpPr>
        <p:spPr>
          <a:xfrm>
            <a:off x="6858000" y="4937760"/>
            <a:ext cx="4800600" cy="1097280"/>
          </a:xfrm>
          <a:prstGeom prst="rect">
            <a:avLst/>
          </a:prstGeom>
          <a:noFill/>
          <a:ln/>
        </p:spPr>
        <p:txBody>
          <a:bodyPr wrap="square" lIns="0" tIns="0" rIns="0" bIns="0" rtlCol="0" anchor="t"/>
          <a:lstStyle/>
          <a:p>
            <a:pPr indent="0" marL="0">
              <a:lnSpc>
                <a:spcPct val="105000"/>
              </a:lnSpc>
              <a:buNone/>
            </a:pPr>
            <a:r>
              <a:rPr lang="en-US" sz="1250" b="1" dirty="0">
                <a:solidFill>
                  <a:schemeClr val="tx1"/>
                </a:solidFill>
              </a:rPr>
              <a:t>Check the effect:  </a:t>
            </a:r>
            <a:pPr indent="0" marL="0">
              <a:lnSpc>
                <a:spcPct val="105000"/>
              </a:lnSpc>
              <a:buNone/>
            </a:pPr>
            <a:r>
              <a:rPr lang="en-US" sz="1250" dirty="0">
                <a:solidFill>
                  <a:schemeClr val="tx1"/>
                </a:solidFill>
              </a:rPr>
              <a:t>absorption_moves &gt; 0 and gate_structure(out) != gate_structure(disabled). Only then is the case recorded as passed.</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Pipeline settings for every case</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834640"/>
                <a:gridCol w="3566160"/>
                <a:gridCol w="4690872"/>
              </a:tblGrid>
              <a:tr h="502920">
                <a:tc>
                  <a:txBody>
                    <a:bodyPr/>
                    <a:lstStyle/>
                    <a:p>
                      <a:pPr indent="0" marL="0">
                        <a:buNone/>
                      </a:pPr>
                      <a:r>
                        <a:rPr lang="en-US" sz="1100" b="1" dirty="0">
                          <a:solidFill>
                            <a:schemeClr val="tx2"/>
                          </a:solidFill>
                        </a:rPr>
                        <a:t>Setting</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100" b="1" dirty="0">
                          <a:solidFill>
                            <a:schemeClr val="tx2"/>
                          </a:solidFill>
                        </a:rPr>
                        <a:t>Value</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100" b="1" dirty="0">
                          <a:solidFill>
                            <a:schemeClr val="tx2"/>
                          </a:solidFill>
                        </a:rPr>
                        <a:t>Why</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optimization_level</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2 or 3</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The levels that enable the pass.</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coupling_map</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CouplingMap.from_line(10), bidirectional</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A line forces many swaps on all-to-all circuits.</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initial_layout, layout_method</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[0 … 9], trivial</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Identity layout, so the final permutation comes from routing alone.</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routing_method, seed_transpiler</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sabre; one of 0, 1, 42, 2, 7, 123</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Deterministic routing; 20 SABRE trials at both levels.</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translation_method, basis_gates</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translator; rz, sx, x, cx</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The stage the pass is inserted into, and the basis both outputs must satisfy.</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approximation_degree</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Exact two-qubit synthesis, so equality is a fair demand.</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qubits_initially_zero</a:t>
                      </a:r>
                      <a:endParaRPr lang="en-US" sz="12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False</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300" dirty="0">
                          <a:solidFill>
                            <a:schemeClr val="tx1"/>
                          </a:solidFill>
                        </a:rPr>
                        <a:t>The output must match for arbitrary input states, not only for the all-zero state.</a:t>
                      </a:r>
                      <a:endParaRPr lang="en-US" sz="13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5" name="Text 1"/>
          <p:cNvSpPr txBox="1"/>
          <p:nvPr/>
        </p:nvSpPr>
        <p:spPr>
          <a:xfrm>
            <a:off x="548640" y="5577840"/>
            <a:ext cx="11091672" cy="64008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Everything else is the preset default, and both runs of a case come from the same preset_manager call; only the patch on _AbsorbIntoSwaps.run differs. The parser and the reporter reject other levels, so the suite's claims stay specific to levels 2 and 3 on a trivial 10-qubit line.</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The eleven circuits</a:t>
            </a:r>
            <a:endParaRPr lang="en-US" sz="3000" dirty="0"/>
          </a:p>
        </p:txBody>
      </p:sp>
      <p:sp>
        <p:nvSpPr>
          <p:cNvPr id="4" name="Text 1"/>
          <p:cNvSpPr txBox="1"/>
          <p:nvPr/>
        </p:nvSpPr>
        <p:spPr>
          <a:xfrm>
            <a:off x="548640" y="1325880"/>
            <a:ext cx="11091672" cy="685800"/>
          </a:xfrm>
          <a:prstGeom prst="rect">
            <a:avLst/>
          </a:prstGeom>
          <a:noFill/>
          <a:ln/>
        </p:spPr>
        <p:txBody>
          <a:bodyPr wrap="square" lIns="0" tIns="0" rIns="0" bIns="0" rtlCol="0" anchor="t"/>
          <a:lstStyle/>
          <a:p>
            <a:pPr algn="l" indent="0" marL="0">
              <a:lnSpc>
                <a:spcPct val="105000"/>
              </a:lnSpc>
              <a:buNone/>
            </a:pPr>
            <a:r>
              <a:rPr lang="en-US" sz="1300" dirty="0">
                <a:solidFill>
                  <a:schemeClr val="tx1"/>
                </a:solidFill>
              </a:rPr>
              <a:t>All fixtures are 10 qubits wide after preparation and are chosen so that every seed at both levels makes at least one absorption move. Seven are embedded on fixed wire permutations (spread, spread_bv, spread_chain) so that routing on a line has real work to do; both runs receive the same embedded circuit.</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440680" cy="914400"/>
        </p:xfrm>
        <a:graphic>
          <a:graphicData uri="http://schemas.openxmlformats.org/drawingml/2006/table">
            <a:tbl>
              <a:tblPr/>
              <a:tblGrid>
                <a:gridCol w="1417320"/>
                <a:gridCol w="4023360"/>
              </a:tblGrid>
              <a:tr h="457200">
                <a:tc>
                  <a:txBody>
                    <a:bodyPr/>
                    <a:lstStyle/>
                    <a:p>
                      <a:pPr indent="0" marL="0">
                        <a:buNone/>
                      </a:pPr>
                      <a:r>
                        <a:rPr lang="en-US" sz="950" b="1" dirty="0">
                          <a:solidFill>
                            <a:schemeClr val="tx2"/>
                          </a:solidFill>
                        </a:rPr>
                        <a:t>Fixture</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950" b="1" dirty="0">
                          <a:solidFill>
                            <a:schemeClr val="tx2"/>
                          </a:solidFill>
                        </a:rPr>
                        <a:t>Circuit</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qft10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Quantum Fourier transform; all-to-all controlled phases force many swaps on a line</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adder4</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4-bit ripple-carry adder on spread_chain; Toffolis unrolled, measurements removed</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ring10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Local 20-layer ring of commuting CP and RZ layers with RX mixers, on spread (the benchmark ring's generic 1q rotations block every move)</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dtc10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Discrete-time-crystal Floquet unitary, g = 0.95, seed 12345, on spread_chain</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bv10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Bernstein–Vazirani, all-ones secret: a star of CX gates onto the last qubit, on spread_bv</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bvlike10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Local parity-phase circuit: CX star, RZ(0.37) and Z, then uncompute, on spread (the benchmark's central X commutes away)</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199632" y="2103120"/>
          <a:ext cx="5440680" cy="914400"/>
        </p:xfrm>
        <a:graphic>
          <a:graphicData uri="http://schemas.openxmlformats.org/drawingml/2006/table">
            <a:tbl>
              <a:tblPr/>
              <a:tblGrid>
                <a:gridCol w="1417320"/>
                <a:gridCol w="4023360"/>
              </a:tblGrid>
              <a:tr h="457200">
                <a:tc>
                  <a:txBody>
                    <a:bodyPr/>
                    <a:lstStyle/>
                    <a:p>
                      <a:pPr indent="0" marL="0">
                        <a:buNone/>
                      </a:pPr>
                      <a:r>
                        <a:rPr lang="en-US" sz="950" b="1" dirty="0">
                          <a:solidFill>
                            <a:schemeClr val="tx2"/>
                          </a:solidFill>
                        </a:rPr>
                        <a:t>Fixture</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950" b="1" dirty="0">
                          <a:solidFill>
                            <a:schemeClr val="tx2"/>
                          </a:solidFill>
                        </a:rPr>
                        <a:t>Circuit</a:t>
                      </a:r>
                      <a:endParaRPr lang="en-US" sz="9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trotter10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Two Trotter steps of a nearest-neighbour XX + YY + ZZ chain with a Z field, on spread</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qaoa10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QAOA ansatz, two repetitions, seeded ZZ weights; parameters bound first</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grover10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Grover search with 9 state qubits and one target qubit</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mcx10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Multi-controlled X, HP24 no-ancilla synthesis: 8 controls, 1 target, one idle wire, on spread[:9]</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457200">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modular_adder10</a:t>
                      </a:r>
                      <a:endParaRPr lang="en-US" sz="10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rPr>
                        <a:t>Modular adder on two 5-qubit registers</a:t>
                      </a:r>
                      <a:endParaRPr lang="en-US" sz="11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7" name="Text 2"/>
          <p:cNvSpPr txBox="1"/>
          <p:nvPr/>
        </p:nvSpPr>
        <p:spPr>
          <a:xfrm>
            <a:off x="6199632" y="4937760"/>
            <a:ext cx="5440680" cy="1280160"/>
          </a:xfrm>
          <a:prstGeom prst="rect">
            <a:avLst/>
          </a:prstGeom>
          <a:noFill/>
          <a:ln/>
        </p:spPr>
        <p:txBody>
          <a:bodyPr wrap="square" lIns="0" tIns="0" rIns="0" bIns="0" rtlCol="0" anchor="t"/>
          <a:lstStyle/>
          <a:p>
            <a:pPr algn="l" indent="0" marL="0">
              <a:lnSpc>
                <a:spcPct val="105000"/>
              </a:lnSpc>
              <a:buNone/>
            </a:pPr>
            <a:r>
              <a:rPr lang="en-US" sz="1050" b="1" dirty="0">
                <a:solidFill>
                  <a:schemeClr val="tx2"/>
                </a:solidFill>
              </a:rPr>
              <a:t>Removed on 2026-10-28: </a:t>
            </a:r>
            <a:pPr algn="l" indent="0" marL="0">
              <a:lnSpc>
                <a:spcPct val="105000"/>
              </a:lnSpc>
              <a:buNone/>
            </a:pPr>
            <a:r>
              <a:rPr lang="en-US" sz="1050" dirty="0">
                <a:solidFill>
                  <a:schemeClr val="tx2"/>
                </a:solidFill>
              </a:rPr>
              <a:t>random10x20, random10x40, random10x60, qv10 and qv10_seed7, when the two-checkout version exposed a baseline sign bug (see bug/). </a:t>
            </a:r>
            <a:pPr algn="l" indent="0" marL="0">
              <a:lnSpc>
                <a:spcPct val="105000"/>
              </a:lnSpc>
              <a:buNone/>
            </a:pPr>
            <a:r>
              <a:rPr lang="en-US" sz="1050" b="1" dirty="0">
                <a:solidFill>
                  <a:schemeClr val="tx2"/>
                </a:solidFill>
              </a:rPr>
              <a:t>Wire permutations: </a:t>
            </a:r>
            <a:pPr algn="l" indent="0" marL="0">
              <a:lnSpc>
                <a:spcPct val="105000"/>
              </a:lnSpc>
              <a:buNone/>
            </a:pPr>
            <a:r>
              <a:rPr lang="en-US" sz="1050" dirty="0">
                <a:solidFill>
                  <a:schemeClr val="tx2"/>
                </a:solidFill>
              </a:rPr>
              <a:t>spread = [4, 6, 2, 7, 3, 5, 9, 0, 8, 1], spread_bv = [8, 4, 7, 0, 1, 2, 5, 9, 6, 3], spread_chain = [2, 0, 7, 6, 9, 5, 3, 4, 8, 1]; they are part of the fixture, so both runs see the same circuit.</a:t>
            </a:r>
            <a:endParaRPr lang="en-US" sz="10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Equality, not equivalence</a:t>
            </a:r>
            <a:endParaRPr lang="en-US" sz="3000" dirty="0"/>
          </a:p>
        </p:txBody>
      </p:sp>
      <p:sp>
        <p:nvSpPr>
          <p:cNvPr id="4" name="Text 1"/>
          <p:cNvSpPr txBox="1"/>
          <p:nvPr/>
        </p:nvSpPr>
        <p:spPr>
          <a:xfrm>
            <a:off x="548640" y="1371600"/>
            <a:ext cx="11091672" cy="1097280"/>
          </a:xfrm>
          <a:prstGeom prst="rect">
            <a:avLst/>
          </a:prstGeom>
          <a:noFill/>
          <a:ln/>
        </p:spPr>
        <p:txBody>
          <a:bodyPr wrap="square" lIns="0" tIns="0" rIns="0" bIns="0" rtlCol="0" anchor="t"/>
          <a:lstStyle/>
          <a:p>
            <a:pPr algn="l" indent="0" marL="0">
              <a:lnSpc>
                <a:spcPct val="110000"/>
              </a:lnSpc>
              <a:buNone/>
            </a:pPr>
            <a:r>
              <a:rPr lang="en-US" sz="1400" dirty="0">
                <a:solidFill>
                  <a:schemeClr val="tx1"/>
                </a:solidFill>
              </a:rPr>
              <a:t>A reviewer of the Qiskit tests remarked that assertions of the form assertTrue(Operator.from_circuit(out).equiv(Operator(qc))) should be assertEqual(Operator.from_circuit(out), Operator(qc)): equiv ignores global phase, and the operators before and after transpilation should be equal, not merely equivalent. This repository takes the strict side of that line everywhere, for the enabled output and for the disabled control alike.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11091672" cy="914400"/>
        </p:xfrm>
        <a:graphic>
          <a:graphicData uri="http://schemas.openxmlformats.org/drawingml/2006/table">
            <a:tbl>
              <a:tblPr/>
              <a:tblGrid>
                <a:gridCol w="2377440"/>
                <a:gridCol w="4480560"/>
                <a:gridCol w="4233672"/>
              </a:tblGrid>
              <a:tr h="502920">
                <a:tc>
                  <a:txBody>
                    <a:bodyPr/>
                    <a:lstStyle/>
                    <a:p>
                      <a:pPr indent="0" marL="0">
                        <a:buNone/>
                      </a:pP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50" b="1" dirty="0">
                          <a:solidFill>
                            <a:schemeClr val="tx2"/>
                          </a:solidFill>
                        </a:rPr>
                        <a:t>Operator.__eq__ (used here)</a:t>
                      </a: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50" b="1" dirty="0">
                          <a:solidFill>
                            <a:schemeClr val="tx2"/>
                          </a:solidFill>
                        </a:rPr>
                        <a:t>Operator.equiv (not used)</a:t>
                      </a: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502920">
                <a:tc>
                  <a:txBody>
                    <a:bodyPr/>
                    <a:lstStyle/>
                    <a:p>
                      <a:pPr indent="0" marL="0">
                        <a:buNone/>
                      </a:pPr>
                      <a:r>
                        <a:rPr lang="en-US" sz="1250" dirty="0">
                          <a:solidFill>
                            <a:schemeClr val="tx1"/>
                          </a:solidFill>
                        </a:rPr>
                        <a:t>Implementation</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np.allclose(A, B, rtol=1e-5, atol=1e-8) on every matrix entry</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matrix_equal(A, B, ignore_phase=True)</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50" dirty="0">
                          <a:solidFill>
                            <a:schemeClr val="tx1"/>
                          </a:solidFill>
                        </a:rPr>
                        <a:t>Global phase e^(iφ)</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b="1" dirty="0">
                          <a:solidFill>
                            <a:schemeClr val="accent4"/>
                          </a:solidFill>
                        </a:rPr>
                        <a:t>fails for φ above about 1e-5</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b="1" dirty="0">
                          <a:solidFill>
                            <a:schemeClr val="accent3"/>
                          </a:solidFill>
                        </a:rPr>
                        <a:t>accepted for any φ</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50" dirty="0">
                          <a:solidFill>
                            <a:schemeClr val="tx1"/>
                          </a:solidFill>
                        </a:rPr>
                        <a:t>Wrong gate or wrong permutation</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b="1" dirty="0">
                          <a:solidFill>
                            <a:schemeClr val="accent4"/>
                          </a:solidFill>
                        </a:rPr>
                        <a:t>fails</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b="1" dirty="0">
                          <a:solidFill>
                            <a:schemeClr val="accent4"/>
                          </a:solidFill>
                        </a:rPr>
                        <a:t>fails</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02920">
                <a:tc>
                  <a:txBody>
                    <a:bodyPr/>
                    <a:lstStyle/>
                    <a:p>
                      <a:pPr indent="0" marL="0">
                        <a:buNone/>
                      </a:pPr>
                      <a:r>
                        <a:rPr lang="en-US" sz="1250" dirty="0">
                          <a:solidFill>
                            <a:schemeClr val="tx1"/>
                          </a:solidFill>
                        </a:rPr>
                        <a:t>What it certifies</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The transpiler tracked the global phase exactly through absorption and synthesis.</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Only the physical action, up to an unobservable phase.</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6" name="Text 2"/>
          <p:cNvSpPr txBox="1"/>
          <p:nvPr/>
        </p:nvSpPr>
        <p:spPr>
          <a:xfrm>
            <a:off x="548640" y="5532120"/>
            <a:ext cx="11091672" cy="64008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Probe on this machine: transpiling a 3-qubit circuit on a line and adding 1e-3 to the output's global phase makes == fail while equiv still holds. The former baseline's 34 mismatches were exactly such phase slips (a sign error), invisible to equiv.</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Where the harness compares, and what from_circuit adds</a:t>
            </a:r>
            <a:endParaRPr lang="en-US" sz="3000" dirty="0"/>
          </a:p>
        </p:txBody>
      </p:sp>
      <p:sp>
        <p:nvSpPr>
          <p:cNvPr id="4" name="Text 1"/>
          <p:cNvSpPr txBox="1"/>
          <p:nvPr/>
        </p:nvSpPr>
        <p:spPr>
          <a:xfrm>
            <a:off x="548640" y="1371600"/>
            <a:ext cx="5394960" cy="274320"/>
          </a:xfrm>
          <a:prstGeom prst="rect">
            <a:avLst/>
          </a:prstGeom>
          <a:noFill/>
          <a:ln/>
        </p:spPr>
        <p:txBody>
          <a:bodyPr wrap="square" lIns="0" tIns="0" rIns="0" bIns="0" rtlCol="0" anchor="t"/>
          <a:lstStyle/>
          <a:p>
            <a:pPr algn="l" indent="0" marL="0">
              <a:buNone/>
            </a:pPr>
            <a:r>
              <a:rPr lang="en-US" sz="1400" b="1" dirty="0">
                <a:solidFill>
                  <a:schemeClr val="tx1"/>
                </a:solidFill>
              </a:rPr>
              <a:t>Where the harness compares</a:t>
            </a:r>
            <a:endParaRPr lang="en-US" sz="1400" dirty="0"/>
          </a:p>
        </p:txBody>
      </p:sp>
      <p:sp>
        <p:nvSpPr>
          <p:cNvPr id="5" name="Text 2"/>
          <p:cNvSpPr txBox="1"/>
          <p:nvPr/>
        </p:nvSpPr>
        <p:spPr>
          <a:xfrm>
            <a:off x="548640" y="1737360"/>
            <a:ext cx="5394960" cy="2468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50" b="1" dirty="0">
                <a:solidFill>
                  <a:schemeClr val="tx1"/>
                </a:solidFill>
              </a:rPr>
              <a:t>run_validation.py, every full-pipeline case, for both outputs: </a:t>
            </a:r>
            <a:pPr indent="0" marL="0">
              <a:lnSpc>
                <a:spcPct val="105000"/>
              </a:lnSpc>
              <a:spcAft>
                <a:spcPts val="700"/>
              </a:spcAft>
              <a:buNone/>
            </a:pPr>
            <a:r>
              <a:rPr lang="en-US" sz="1250" dirty="0">
                <a:solidFill>
                  <a:schemeClr val="tx1"/>
                </a:solidFill>
              </a:rPr>
              <a:t>Operator.from_circuit(out) == reference and Operator.from_circuit(disabled) == reference, with reference = Operator.from_circuit(qc).</a:t>
            </a:r>
            <a:endParaRPr lang="en-US" sz="1250" dirty="0"/>
          </a:p>
          <a:p>
            <a:pPr marL="342900" indent="-342900">
              <a:lnSpc>
                <a:spcPct val="105000"/>
              </a:lnSpc>
              <a:spcAft>
                <a:spcPts val="700"/>
              </a:spcAft>
              <a:buSzPct val="100000"/>
              <a:buChar char="•"/>
            </a:pPr>
            <a:r>
              <a:rPr lang="en-US" sz="1250" b="1" dirty="0">
                <a:solidFill>
                  <a:schemeClr val="tx1"/>
                </a:solidFill>
              </a:rPr>
              <a:t>swap_absorption_checks.py, every focused circuit check: </a:t>
            </a:r>
            <a:pPr indent="0" marL="0">
              <a:lnSpc>
                <a:spcPct val="105000"/>
              </a:lnSpc>
              <a:spcAft>
                <a:spcPts val="700"/>
              </a:spcAft>
              <a:buNone/>
            </a:pPr>
            <a:r>
              <a:rPr lang="en-US" sz="1250" dirty="0">
                <a:solidFill>
                  <a:schemeClr val="tx1"/>
                </a:solidFill>
              </a:rPr>
              <a:t>Operator(output) == Operator(circuit), with a deliberately non-zero global phase of 0.19 on the input.</a:t>
            </a:r>
            <a:endParaRPr lang="en-US" sz="1250" dirty="0"/>
          </a:p>
          <a:p>
            <a:pPr marL="342900" indent="-342900">
              <a:lnSpc>
                <a:spcPct val="105000"/>
              </a:lnSpc>
              <a:spcAft>
                <a:spcPts val="700"/>
              </a:spcAft>
              <a:buSzPct val="100000"/>
              <a:buChar char="•"/>
            </a:pPr>
            <a:r>
              <a:rPr lang="en-US" sz="1250" b="1" dirty="0">
                <a:solidFill>
                  <a:schemeClr val="tx1"/>
                </a:solidFill>
              </a:rPr>
              <a:t>The self-checks use != </a:t>
            </a:r>
            <a:pPr indent="0" marL="0">
              <a:lnSpc>
                <a:spcPct val="105000"/>
              </a:lnSpc>
              <a:spcAft>
                <a:spcPts val="700"/>
              </a:spcAft>
              <a:buNone/>
            </a:pPr>
            <a:r>
              <a:rPr lang="en-US" sz="1250" dirty="0">
                <a:solidFill>
                  <a:schemeClr val="tx1"/>
                </a:solidFill>
              </a:rPr>
              <a:t>on the same comparison, so they prove the strict comparison can fail.</a:t>
            </a:r>
            <a:endParaRPr lang="en-US" sz="1250" dirty="0"/>
          </a:p>
          <a:p>
            <a:pPr marL="342900" indent="-342900">
              <a:lnSpc>
                <a:spcPct val="105000"/>
              </a:lnSpc>
              <a:spcAft>
                <a:spcPts val="700"/>
              </a:spcAft>
              <a:buSzPct val="100000"/>
              <a:buChar char="•"/>
            </a:pPr>
            <a:r>
              <a:rPr lang="en-US" sz="1250" b="1" dirty="0">
                <a:solidFill>
                  <a:schemeClr val="tx1"/>
                </a:solidFill>
              </a:rPr>
              <a:t>A per-fixture cache </a:t>
            </a:r>
            <a:pPr indent="0" marL="0">
              <a:lnSpc>
                <a:spcPct val="105000"/>
              </a:lnSpc>
              <a:spcAft>
                <a:spcPts val="700"/>
              </a:spcAft>
              <a:buNone/>
            </a:pPr>
            <a:r>
              <a:rPr lang="en-US" sz="1250" dirty="0">
                <a:solidFill>
                  <a:schemeClr val="tx1"/>
                </a:solidFill>
              </a:rPr>
              <a:t>keyed on the exact gate list, parameters, phase and layout reuses the result for identical outputs; custom gates are never cached, and the cache never crosses fixtures.</a:t>
            </a:r>
            <a:endParaRPr lang="en-US" sz="1250" dirty="0"/>
          </a:p>
        </p:txBody>
      </p:sp>
      <p:sp>
        <p:nvSpPr>
          <p:cNvPr id="6" name="Text 3"/>
          <p:cNvSpPr txBox="1"/>
          <p:nvPr/>
        </p:nvSpPr>
        <p:spPr>
          <a:xfrm>
            <a:off x="6263640" y="1371600"/>
            <a:ext cx="5394960" cy="274320"/>
          </a:xfrm>
          <a:prstGeom prst="rect">
            <a:avLst/>
          </a:prstGeom>
          <a:noFill/>
          <a:ln/>
        </p:spPr>
        <p:txBody>
          <a:bodyPr wrap="square" lIns="0" tIns="0" rIns="0" bIns="0" rtlCol="0" anchor="t"/>
          <a:lstStyle/>
          <a:p>
            <a:pPr algn="l" indent="0" marL="0">
              <a:buNone/>
            </a:pPr>
            <a:r>
              <a:rPr lang="en-US" sz="1400" b="1" dirty="0">
                <a:solidFill>
                  <a:schemeClr val="tx1"/>
                </a:solidFill>
              </a:rPr>
              <a:t>What from_circuit adds</a:t>
            </a:r>
            <a:endParaRPr lang="en-US" sz="1400" dirty="0"/>
          </a:p>
        </p:txBody>
      </p:sp>
      <p:sp>
        <p:nvSpPr>
          <p:cNvPr id="7" name="Text 4"/>
          <p:cNvSpPr txBox="1"/>
          <p:nvPr/>
        </p:nvSpPr>
        <p:spPr>
          <a:xfrm>
            <a:off x="6263640" y="1737360"/>
            <a:ext cx="5394960" cy="2194560"/>
          </a:xfrm>
          <a:prstGeom prst="rect">
            <a:avLst/>
          </a:prstGeom>
          <a:noFill/>
          <a:ln/>
        </p:spPr>
        <p:txBody>
          <a:bodyPr wrap="square" lIns="0" tIns="0" rIns="0" bIns="0" rtlCol="0" anchor="t"/>
          <a:lstStyle/>
          <a:p>
            <a:pPr algn="l" indent="0" marL="0">
              <a:lnSpc>
                <a:spcPct val="110000"/>
              </a:lnSpc>
              <a:buNone/>
            </a:pPr>
            <a:r>
              <a:rPr lang="en-US" sz="1250" dirty="0">
                <a:solidFill>
                  <a:schemeClr val="tx1"/>
                </a:solidFill>
              </a:rPr>
              <a:t>Operator.from_circuit(out) reads out.layout: it applies the initial-layout permutation (the identity here) and undoes the permutation that routing recorded in final_layout, so the transpiled matrix is expressed on the original virtual qubits before the entry-wise comparison. For the untranspiled input, which has no layout, from_circuit(qc) and Operator(qc) are the same matrix.</a:t>
            </a:r>
            <a:endParaRPr lang="en-US" sz="1250" dirty="0"/>
          </a:p>
        </p:txBody>
      </p:sp>
      <p:sp>
        <p:nvSpPr>
          <p:cNvPr id="8" name="Shape 5"/>
          <p:cNvSpPr/>
          <p:nvPr/>
        </p:nvSpPr>
        <p:spPr>
          <a:xfrm>
            <a:off x="548640" y="4434840"/>
            <a:ext cx="11091672" cy="1371600"/>
          </a:xfrm>
          <a:prstGeom prst="roundRect">
            <a:avLst>
              <a:gd name="adj" fmla="val 5333"/>
            </a:avLst>
          </a:prstGeom>
          <a:solidFill>
            <a:schemeClr val="bg2"/>
          </a:solidFill>
          <a:ln w="9525">
            <a:solidFill>
              <a:srgbClr val="C8D0D3"/>
            </a:solidFill>
            <a:prstDash val="solid"/>
          </a:ln>
        </p:spPr>
      </p:sp>
      <p:sp>
        <p:nvSpPr>
          <p:cNvPr id="9" name="Text 6"/>
          <p:cNvSpPr txBox="1"/>
          <p:nvPr/>
        </p:nvSpPr>
        <p:spPr>
          <a:xfrm>
            <a:off x="777240" y="4572000"/>
            <a:ext cx="10607040" cy="274320"/>
          </a:xfrm>
          <a:prstGeom prst="rect">
            <a:avLst/>
          </a:prstGeom>
          <a:noFill/>
          <a:ln/>
        </p:spPr>
        <p:txBody>
          <a:bodyPr wrap="square" lIns="0" tIns="0" rIns="0" bIns="0" rtlCol="0" anchor="t"/>
          <a:lstStyle/>
          <a:p>
            <a:pPr algn="l" indent="0" marL="0">
              <a:buNone/>
            </a:pPr>
            <a:r>
              <a:rPr lang="en-US" sz="1300" b="1" dirty="0">
                <a:solidFill>
                  <a:schemeClr val="accent1"/>
                </a:solidFill>
              </a:rPr>
              <a:t>The remark also holds for Qiskit's own test module</a:t>
            </a:r>
            <a:endParaRPr lang="en-US" sz="1300" dirty="0"/>
          </a:p>
        </p:txBody>
      </p:sp>
      <p:sp>
        <p:nvSpPr>
          <p:cNvPr id="10" name="Text 7"/>
          <p:cNvSpPr txBox="1"/>
          <p:nvPr/>
        </p:nvSpPr>
        <p:spPr>
          <a:xfrm>
            <a:off x="777240" y="4892040"/>
            <a:ext cx="10607040" cy="822960"/>
          </a:xfrm>
          <a:prstGeom prst="rect">
            <a:avLst/>
          </a:prstGeom>
          <a:noFill/>
          <a:ln/>
        </p:spPr>
        <p:txBody>
          <a:bodyPr wrap="square" lIns="0" tIns="0" rIns="0" bIns="0" rtlCol="0" anchor="t"/>
          <a:lstStyle/>
          <a:p>
            <a:pPr algn="l" indent="0" marL="0">
              <a:lnSpc>
                <a:spcPct val="110000"/>
              </a:lnSpc>
              <a:buNone/>
            </a:pPr>
            <a:r>
              <a:rPr lang="en-US" sz="1250" dirty="0">
                <a:solidFill>
                  <a:schemeClr val="tx1"/>
                </a:solidFill>
              </a:rPr>
              <a:t>A copy of test/python/transpiler/test_swap_absorption.py with all 13 assertTrue(X.equiv(Y)) assertions rewritten to assertEqual(X, Y) passes all 43 tests against the rebuilt extension (checked 2026-10-28), so the stricter assertion can be adopted there without any other change.</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Negative controls: comparisons that must fail</a:t>
            </a:r>
            <a:endParaRPr lang="en-US" sz="3000" dirty="0"/>
          </a:p>
        </p:txBody>
      </p:sp>
      <p:sp>
        <p:nvSpPr>
          <p:cNvPr id="4" name="Text 1"/>
          <p:cNvSpPr txBox="1"/>
          <p:nvPr/>
        </p:nvSpPr>
        <p:spPr>
          <a:xfrm>
            <a:off x="548640" y="1371600"/>
            <a:ext cx="11091672" cy="822960"/>
          </a:xfrm>
          <a:prstGeom prst="rect">
            <a:avLst/>
          </a:prstGeom>
          <a:noFill/>
          <a:ln/>
        </p:spPr>
        <p:txBody>
          <a:bodyPr wrap="square" lIns="0" tIns="0" rIns="0" bIns="0" rtlCol="0" anchor="t"/>
          <a:lstStyle/>
          <a:p>
            <a:pPr algn="l" indent="0" marL="0">
              <a:lnSpc>
                <a:spcPct val="110000"/>
              </a:lnSpc>
              <a:buNone/>
            </a:pPr>
            <a:r>
              <a:rPr lang="en-US" sz="1400" dirty="0">
                <a:solidFill>
                  <a:schemeClr val="tx1"/>
                </a:solidFill>
              </a:rPr>
              <a:t>At each level the runner takes the first passing case whose final permutation is not the identity (qft10, seed 0, in the recorded run) and breaks its enabled output twice. Both breaks must be detected by exactly the comparison used for the real cases.</a:t>
            </a:r>
            <a:endParaRPr lang="en-US" sz="1400" dirty="0"/>
          </a:p>
        </p:txBody>
      </p:sp>
      <p:sp>
        <p:nvSpPr>
          <p:cNvPr id="5" name="Shape 2"/>
          <p:cNvSpPr/>
          <p:nvPr/>
        </p:nvSpPr>
        <p:spPr>
          <a:xfrm>
            <a:off x="548640" y="2377440"/>
            <a:ext cx="5440680" cy="2103120"/>
          </a:xfrm>
          <a:prstGeom prst="roundRect">
            <a:avLst>
              <a:gd name="adj" fmla="val 3478"/>
            </a:avLst>
          </a:prstGeom>
          <a:solidFill>
            <a:schemeClr val="bg2"/>
          </a:solidFill>
          <a:ln w="9525">
            <a:solidFill>
              <a:srgbClr val="C8D0D3"/>
            </a:solidFill>
            <a:prstDash val="solid"/>
          </a:ln>
        </p:spPr>
      </p:sp>
      <p:sp>
        <p:nvSpPr>
          <p:cNvPr id="6" name="Text 3"/>
          <p:cNvSpPr txBox="1"/>
          <p:nvPr/>
        </p:nvSpPr>
        <p:spPr>
          <a:xfrm>
            <a:off x="777240" y="2542032"/>
            <a:ext cx="4983480" cy="292608"/>
          </a:xfrm>
          <a:prstGeom prst="rect">
            <a:avLst/>
          </a:prstGeom>
          <a:noFill/>
          <a:ln/>
        </p:spPr>
        <p:txBody>
          <a:bodyPr wrap="square" lIns="0" tIns="0" rIns="0" bIns="0" rtlCol="0" anchor="t"/>
          <a:lstStyle/>
          <a:p>
            <a:pPr algn="l" indent="0" marL="0">
              <a:buNone/>
            </a:pPr>
            <a:r>
              <a:rPr lang="en-US" sz="1250" b="1" dirty="0">
                <a:solidFill>
                  <a:schemeClr val="accent1"/>
                </a:solidFill>
                <a:latin typeface="Courier New" pitchFamily="34" charset="0"/>
                <a:ea typeface="Courier New" pitchFamily="34" charset="-122"/>
                <a:cs typeface="Courier New" pitchFamily="34" charset="-120"/>
              </a:rPr>
              <a:t>ignoring_final_layout_must_fail</a:t>
            </a:r>
            <a:endParaRPr lang="en-US" sz="1250" dirty="0"/>
          </a:p>
        </p:txBody>
      </p:sp>
      <p:sp>
        <p:nvSpPr>
          <p:cNvPr id="7" name="Text 4"/>
          <p:cNvSpPr txBox="1"/>
          <p:nvPr/>
        </p:nvSpPr>
        <p:spPr>
          <a:xfrm>
            <a:off x="777240" y="2926080"/>
            <a:ext cx="4983480" cy="1463040"/>
          </a:xfrm>
          <a:prstGeom prst="rect">
            <a:avLst/>
          </a:prstGeom>
          <a:noFill/>
          <a:ln/>
        </p:spPr>
        <p:txBody>
          <a:bodyPr wrap="square" lIns="0" tIns="0" rIns="0" bIns="0" rtlCol="0" anchor="t"/>
          <a:lstStyle/>
          <a:p>
            <a:pPr algn="l" indent="0" marL="0">
              <a:lnSpc>
                <a:spcPct val="110000"/>
              </a:lnSpc>
              <a:buNone/>
            </a:pPr>
            <a:r>
              <a:rPr lang="en-US" sz="1250" dirty="0">
                <a:solidFill>
                  <a:schemeClr val="tx1"/>
                </a:solidFill>
              </a:rPr>
              <a:t>Operator.from_circuit(out, ignore_set_layout=True) != reference. Dropping the routing permutation must change the matrix. This proves the layout bookkeeping is load-bearing: 130 of the 132 recorded outputs end with a non-identity permutation, and the comparison would be meaningless if it silently ignored it.</a:t>
            </a:r>
            <a:endParaRPr lang="en-US" sz="1250" dirty="0"/>
          </a:p>
        </p:txBody>
      </p:sp>
      <p:sp>
        <p:nvSpPr>
          <p:cNvPr id="8" name="Shape 5"/>
          <p:cNvSpPr/>
          <p:nvPr/>
        </p:nvSpPr>
        <p:spPr>
          <a:xfrm>
            <a:off x="6199632" y="2377440"/>
            <a:ext cx="5440680" cy="2103120"/>
          </a:xfrm>
          <a:prstGeom prst="roundRect">
            <a:avLst>
              <a:gd name="adj" fmla="val 3478"/>
            </a:avLst>
          </a:prstGeom>
          <a:solidFill>
            <a:schemeClr val="bg2"/>
          </a:solidFill>
          <a:ln w="9525">
            <a:solidFill>
              <a:srgbClr val="C8D0D3"/>
            </a:solidFill>
            <a:prstDash val="solid"/>
          </a:ln>
        </p:spPr>
      </p:sp>
      <p:sp>
        <p:nvSpPr>
          <p:cNvPr id="9" name="Text 6"/>
          <p:cNvSpPr txBox="1"/>
          <p:nvPr/>
        </p:nvSpPr>
        <p:spPr>
          <a:xfrm>
            <a:off x="6428232" y="2542032"/>
            <a:ext cx="4983480" cy="292608"/>
          </a:xfrm>
          <a:prstGeom prst="rect">
            <a:avLst/>
          </a:prstGeom>
          <a:noFill/>
          <a:ln/>
        </p:spPr>
        <p:txBody>
          <a:bodyPr wrap="square" lIns="0" tIns="0" rIns="0" bIns="0" rtlCol="0" anchor="t"/>
          <a:lstStyle/>
          <a:p>
            <a:pPr algn="l" indent="0" marL="0">
              <a:buNone/>
            </a:pPr>
            <a:r>
              <a:rPr lang="en-US" sz="1250" b="1" dirty="0">
                <a:solidFill>
                  <a:schemeClr val="accent1"/>
                </a:solidFill>
                <a:latin typeface="Courier New" pitchFamily="34" charset="0"/>
                <a:ea typeface="Courier New" pitchFamily="34" charset="-122"/>
                <a:cs typeface="Courier New" pitchFamily="34" charset="-120"/>
              </a:rPr>
              <a:t>extra_x_gate_must_fail</a:t>
            </a:r>
            <a:endParaRPr lang="en-US" sz="1250" dirty="0"/>
          </a:p>
        </p:txBody>
      </p:sp>
      <p:sp>
        <p:nvSpPr>
          <p:cNvPr id="10" name="Text 7"/>
          <p:cNvSpPr txBox="1"/>
          <p:nvPr/>
        </p:nvSpPr>
        <p:spPr>
          <a:xfrm>
            <a:off x="6428232" y="2926080"/>
            <a:ext cx="4983480" cy="1463040"/>
          </a:xfrm>
          <a:prstGeom prst="rect">
            <a:avLst/>
          </a:prstGeom>
          <a:noFill/>
          <a:ln/>
        </p:spPr>
        <p:txBody>
          <a:bodyPr wrap="square" lIns="0" tIns="0" rIns="0" bIns="0" rtlCol="0" anchor="t"/>
          <a:lstStyle/>
          <a:p>
            <a:pPr algn="l" indent="0" marL="0">
              <a:lnSpc>
                <a:spcPct val="110000"/>
              </a:lnSpc>
              <a:buNone/>
            </a:pPr>
            <a:r>
              <a:rPr lang="en-US" sz="1250" dirty="0">
                <a:solidFill>
                  <a:schemeClr val="tx1"/>
                </a:solidFill>
              </a:rPr>
              <a:t>wrong = out.copy(); wrong.x(0), then Operator.from_circuit(wrong) != reference. A single extra gate must be visible through the permutation and the default tolerances. The copy keeps the transpile layout, so the comparison is otherwise identical to the passing one.</a:t>
            </a:r>
            <a:endParaRPr lang="en-US" sz="1250" dirty="0"/>
          </a:p>
        </p:txBody>
      </p:sp>
      <p:sp>
        <p:nvSpPr>
          <p:cNvPr id="11" name="Text 8"/>
          <p:cNvSpPr txBox="1"/>
          <p:nvPr/>
        </p:nvSpPr>
        <p:spPr>
          <a:xfrm>
            <a:off x="548640" y="4709160"/>
            <a:ext cx="11091672" cy="73152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If no passing case with a changed permutation exists for a level, both controls are recorded as failed rather than skipped, and the report says FAIL. The reporter also requires each self-check to name a unique, passing case whose recorded final permutation is not the identity.</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Focused checks: moves that must happen</a:t>
            </a:r>
            <a:endParaRPr lang="en-US" sz="3000" dirty="0"/>
          </a:p>
        </p:txBody>
      </p:sp>
      <p:sp>
        <p:nvSpPr>
          <p:cNvPr id="4" name="Text 1"/>
          <p:cNvSpPr txBox="1"/>
          <p:nvPr/>
        </p:nvSpPr>
        <p:spPr>
          <a:xfrm>
            <a:off x="548640" y="1325880"/>
            <a:ext cx="11091672" cy="502920"/>
          </a:xfrm>
          <a:prstGeom prst="rect">
            <a:avLst/>
          </a:prstGeom>
          <a:noFill/>
          <a:ln/>
        </p:spPr>
        <p:txBody>
          <a:bodyPr wrap="square" lIns="0" tIns="0" rIns="0" bIns="0" rtlCol="0" anchor="t"/>
          <a:lstStyle/>
          <a:p>
            <a:pPr algn="l" indent="0" marL="0">
              <a:buNone/>
            </a:pPr>
            <a:r>
              <a:rPr lang="en-US" sz="1300" dirty="0">
                <a:solidFill>
                  <a:schemeClr val="tx1"/>
                </a:solidFill>
              </a:rPr>
              <a:t>Ten deterministic checks in swap_absorption_checks.py pin down the pass's own rules and its preset placement. The moving checks also assert where the unit landed.</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651760"/>
                <a:gridCol w="5120640"/>
                <a:gridCol w="3319272"/>
              </a:tblGrid>
              <a:tr h="548640">
                <a:tc>
                  <a:txBody>
                    <a:bodyPr/>
                    <a:lstStyle/>
                    <a:p>
                      <a:pPr indent="0" marL="0">
                        <a:buNone/>
                      </a:pPr>
                      <a:r>
                        <a:rPr lang="en-US" sz="1000" b="1" dirty="0">
                          <a:solidFill>
                            <a:schemeClr val="tx2"/>
                          </a:solidFill>
                        </a:rPr>
                        <a:t>Check</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00" b="1" dirty="0">
                          <a:solidFill>
                            <a:schemeClr val="tx2"/>
                          </a:solidFill>
                        </a:rPr>
                        <a:t>Input (gates in order)</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00" b="1" dirty="0">
                          <a:solidFill>
                            <a:schemeClr val="tx2"/>
                          </a:solidFill>
                        </a:rPr>
                        <a:t>Expected</a:t>
                      </a:r>
                      <a:endParaRPr lang="en-US" sz="10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preset_translation_levels</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generate_preset_pass_manager, levels 0–3, methods translator and synthesis, 3-qubit line</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Pass is the first translation task at 2 and 3, absent at 0 and 1.</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translation_helper_levels</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generate_translation_passmanager(None, basis, optimization_level=L) for L in None, 0, 1, 2, 3; basis None or the four gates</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Present first only for 2 and 3, including the no-target branch.</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commuting_later_interaction</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swap(0,1) · cz(0,2) · cp(0,1) · cx(0,2) · cx(1,2)</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cp moves to directly after the swap.</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commuting_earlier_interaction</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cp(0,1) · cz(0,2) · swap(0,1) · cx(0,2) · cx(1,2)</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cp moves to directly before the swap, same qubit order.</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cx_rz_cx_block</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swap(0,1) · cz(0,2) · cx(0,1) rz(1) cx(0,1) · cx(0,2) · cx(1,2)</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The three-gate block moves as one unit, order kept.</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diagonal_unitary</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swap(0,1) · cz(0,2) · diag(1, i, −1, −i) on (0,1) · cx(0,2) · cx(1,2)</a:t>
                      </a:r>
                      <a:endParaRPr lang="en-US" sz="110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00" dirty="0">
                          <a:solidFill>
                            <a:schemeClr val="tx1"/>
                          </a:solidFill>
                        </a:rPr>
                        <a:t>The diagonal UnitaryGate moves.</a:t>
                      </a:r>
                      <a:endParaRPr lang="en-US" sz="120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Focused checks: moves that must not happen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651760"/>
                <a:gridCol w="5120640"/>
                <a:gridCol w="3319272"/>
              </a:tblGrid>
              <a:tr h="548640">
                <a:tc>
                  <a:txBody>
                    <a:bodyPr/>
                    <a:lstStyle/>
                    <a:p>
                      <a:pPr indent="0" marL="0">
                        <a:buNone/>
                      </a:pPr>
                      <a:r>
                        <a:rPr lang="en-US" sz="1050" b="1" dirty="0">
                          <a:solidFill>
                            <a:schemeClr val="tx2"/>
                          </a:solidFill>
                        </a:rPr>
                        <a:t>Check</a:t>
                      </a: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50" b="1" dirty="0">
                          <a:solidFill>
                            <a:schemeClr val="tx2"/>
                          </a:solidFill>
                        </a:rPr>
                        <a:t>Input (gates in order)</a:t>
                      </a: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c>
                  <a:txBody>
                    <a:bodyPr/>
                    <a:lstStyle/>
                    <a:p>
                      <a:pPr indent="0" marL="0">
                        <a:buNone/>
                      </a:pPr>
                      <a:r>
                        <a:rPr lang="en-US" sz="1050" b="1" dirty="0">
                          <a:solidFill>
                            <a:schemeClr val="tx2"/>
                          </a:solidFill>
                        </a:rPr>
                        <a:t>Expected</a:t>
                      </a:r>
                      <a:endParaRPr lang="en-US" sz="10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solidFill>
                      <a:schemeClr val="bg2"/>
                    </a:solidFill>
                  </a:tcPr>
                </a:tc>
              </a:tr>
              <a:tr h="548640">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noncommuting_guard</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swap(0,1) · h(0) · cp(0,1) · cx(0,2) · cx(1,2)</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No move: h commutes with no single Pauli.</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barrier_guard</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swap(0,1) · barrier(0,1) · cp(0,1) · cx(0,2) · cx(1,2)</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No move: the barrier fences the swap.</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terminal_wire_guard</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cp(0,1) · cz(0,2) · swap(0,1) · cx(0,2) · h(1)</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No move: q1 does no multi-qubit work after the swap.</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r h="548640">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intervening_swap_guard</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cp(0,1) · swap(0,2) · swap(0,1) · cx(0,2) · cx(1,2)</a:t>
                      </a:r>
                      <a:endParaRPr lang="en-US" sz="1150" dirty="0">
                        <a:latin typeface="Courier New" charset="0"/>
                        <a:ea typeface="Courier New" charset="0"/>
                        <a:cs typeface="Courier New" charset="0"/>
                      </a:endParaRPr>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c>
                  <a:txBody>
                    <a:bodyPr/>
                    <a:lstStyle/>
                    <a:p>
                      <a:pPr indent="0" marL="0">
                        <a:buNone/>
                      </a:pPr>
                      <a:r>
                        <a:rPr lang="en-US" sz="1250" dirty="0">
                          <a:solidFill>
                            <a:schemeClr val="tx1"/>
                          </a:solidFill>
                        </a:rPr>
                        <a:t>No move: a unit never crosses another swap.</a:t>
                      </a:r>
                      <a:endParaRPr lang="en-US" sz="1250" dirty="0"/>
                    </a:p>
                  </a:txBody>
                  <a:tcPr marL="64008" marR="64008" marT="64008" marB="64008" anchor="ctr">
                    <a:lnL w="6350" cap="flat" cmpd="sng" algn="ctr">
                      <a:solidFill>
                        <a:srgbClr val="C8D0D3"/>
                      </a:solidFill>
                      <a:prstDash val="solid"/>
                      <a:round/>
                      <a:headEnd type="none" w="med" len="med"/>
                      <a:tailEnd type="none" w="med" len="med"/>
                    </a:lnL>
                    <a:lnR w="6350" cap="flat" cmpd="sng" algn="ctr">
                      <a:solidFill>
                        <a:srgbClr val="C8D0D3"/>
                      </a:solidFill>
                      <a:prstDash val="solid"/>
                      <a:round/>
                      <a:headEnd type="none" w="med" len="med"/>
                      <a:tailEnd type="none" w="med" len="med"/>
                    </a:lnR>
                    <a:lnT w="6350" cap="flat" cmpd="sng" algn="ctr">
                      <a:solidFill>
                        <a:srgbClr val="C8D0D3"/>
                      </a:solidFill>
                      <a:prstDash val="solid"/>
                      <a:round/>
                      <a:headEnd type="none" w="med" len="med"/>
                      <a:tailEnd type="none" w="med" len="med"/>
                    </a:lnT>
                    <a:lnB w="6350" cap="flat" cmpd="sng" algn="ctr">
                      <a:solidFill>
                        <a:srgbClr val="C8D0D3"/>
                      </a:solidFill>
                      <a:prstDash val="solid"/>
                      <a:round/>
                      <a:headEnd type="none" w="med" len="med"/>
                      <a:tailEnd type="none" w="med" len="med"/>
                    </a:lnB>
                  </a:tcPr>
                </a:tc>
              </a:tr>
            </a:tbl>
          </a:graphicData>
        </a:graphic>
      </p:graphicFrame>
      <p:sp>
        <p:nvSpPr>
          <p:cNvPr id="5" name="Shape 1"/>
          <p:cNvSpPr/>
          <p:nvPr/>
        </p:nvSpPr>
        <p:spPr>
          <a:xfrm>
            <a:off x="548640" y="4343400"/>
            <a:ext cx="11091672" cy="1783080"/>
          </a:xfrm>
          <a:prstGeom prst="roundRect">
            <a:avLst>
              <a:gd name="adj" fmla="val 4103"/>
            </a:avLst>
          </a:prstGeom>
          <a:solidFill>
            <a:schemeClr val="bg2"/>
          </a:solidFill>
          <a:ln w="9525">
            <a:solidFill>
              <a:srgbClr val="C8D0D3"/>
            </a:solidFill>
            <a:prstDash val="solid"/>
          </a:ln>
        </p:spPr>
      </p:sp>
      <p:sp>
        <p:nvSpPr>
          <p:cNvPr id="6" name="Text 2"/>
          <p:cNvSpPr txBox="1"/>
          <p:nvPr/>
        </p:nvSpPr>
        <p:spPr>
          <a:xfrm>
            <a:off x="777240" y="4480560"/>
            <a:ext cx="10607040" cy="274320"/>
          </a:xfrm>
          <a:prstGeom prst="rect">
            <a:avLst/>
          </a:prstGeom>
          <a:noFill/>
          <a:ln/>
        </p:spPr>
        <p:txBody>
          <a:bodyPr wrap="square" lIns="0" tIns="0" rIns="0" bIns="0" rtlCol="0" anchor="t"/>
          <a:lstStyle/>
          <a:p>
            <a:pPr algn="l" indent="0" marL="0">
              <a:buNone/>
            </a:pPr>
            <a:r>
              <a:rPr lang="en-US" sz="1300" b="1" dirty="0">
                <a:solidFill>
                  <a:schemeClr val="accent1"/>
                </a:solidFill>
              </a:rPr>
              <a:t>What every circuit check asserts</a:t>
            </a:r>
            <a:endParaRPr lang="en-US" sz="1300" dirty="0"/>
          </a:p>
        </p:txBody>
      </p:sp>
      <p:sp>
        <p:nvSpPr>
          <p:cNvPr id="7" name="Text 3"/>
          <p:cNvSpPr txBox="1"/>
          <p:nvPr/>
        </p:nvSpPr>
        <p:spPr>
          <a:xfrm>
            <a:off x="777240" y="4800600"/>
            <a:ext cx="10607040" cy="128016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250" dirty="0">
                <a:solidFill>
                  <a:schemeClr val="tx1"/>
                </a:solidFill>
              </a:rPr>
              <a:t>The full operator is unchanged, with a non-zero global phase of 0.19 on the input, so a phase slip would fail.</a:t>
            </a:r>
            <a:endParaRPr lang="en-US" sz="1250" dirty="0"/>
          </a:p>
          <a:p>
            <a:pPr marL="342900" indent="-342900">
              <a:lnSpc>
                <a:spcPct val="105000"/>
              </a:lnSpc>
              <a:spcAft>
                <a:spcPts val="400"/>
              </a:spcAft>
              <a:buSzPct val="100000"/>
              <a:buChar char="•"/>
            </a:pPr>
            <a:r>
              <a:rPr lang="en-US" sz="1250" dirty="0">
                <a:solidFill>
                  <a:schemeClr val="tx1"/>
                </a:solidFill>
              </a:rPr>
              <a:t>The gate inventory is unchanged: nothing is dropped, duplicated or replaced.</a:t>
            </a:r>
            <a:endParaRPr lang="en-US" sz="1250" dirty="0"/>
          </a:p>
          <a:p>
            <a:pPr marL="342900" indent="-342900">
              <a:lnSpc>
                <a:spcPct val="105000"/>
              </a:lnSpc>
              <a:spcAft>
                <a:spcPts val="400"/>
              </a:spcAft>
              <a:buSzPct val="100000"/>
              <a:buChar char="•"/>
            </a:pPr>
            <a:r>
              <a:rPr lang="en-US" sz="1250" dirty="0">
                <a:solidFill>
                  <a:schemeClr val="tx1"/>
                </a:solidFill>
              </a:rPr>
              <a:t>Something moved if and only if the rule says it should; the moving checks also assert where the unit landed next to the swap.</a:t>
            </a:r>
            <a:endParaRPr lang="en-US" sz="125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Records and the report</a:t>
            </a:r>
            <a:endParaRPr lang="en-US" sz="3000" dirty="0"/>
          </a:p>
        </p:txBody>
      </p:sp>
      <p:sp>
        <p:nvSpPr>
          <p:cNvPr id="4" name="Shape 1"/>
          <p:cNvSpPr/>
          <p:nvPr/>
        </p:nvSpPr>
        <p:spPr>
          <a:xfrm>
            <a:off x="640080" y="1417320"/>
            <a:ext cx="3383280" cy="2697480"/>
          </a:xfrm>
          <a:prstGeom prst="roundRect">
            <a:avLst>
              <a:gd name="adj" fmla="val 2034"/>
            </a:avLst>
          </a:prstGeom>
          <a:solidFill>
            <a:schemeClr val="bg1"/>
          </a:solidFill>
          <a:ln w="12700">
            <a:solidFill>
              <a:schemeClr val="tx1"/>
            </a:solidFill>
            <a:prstDash val="solid"/>
          </a:ln>
        </p:spPr>
      </p:sp>
      <p:sp>
        <p:nvSpPr>
          <p:cNvPr id="5" name="Text 2"/>
          <p:cNvSpPr txBox="1"/>
          <p:nvPr/>
        </p:nvSpPr>
        <p:spPr>
          <a:xfrm>
            <a:off x="777240" y="1508760"/>
            <a:ext cx="3108960" cy="256032"/>
          </a:xfrm>
          <a:prstGeom prst="rect">
            <a:avLst/>
          </a:prstGeom>
          <a:noFill/>
          <a:ln/>
        </p:spPr>
        <p:txBody>
          <a:bodyPr wrap="square" lIns="0" tIns="0" rIns="0" bIns="0" rtlCol="0" anchor="t"/>
          <a:lstStyle/>
          <a:p>
            <a:pPr algn="l" indent="0" marL="0">
              <a:buNone/>
            </a:pPr>
            <a:r>
              <a:rPr lang="en-US" sz="1100" b="1" dirty="0">
                <a:solidFill>
                  <a:schemeClr val="tx1"/>
                </a:solidFill>
                <a:latin typeface="Courier New" pitchFamily="34" charset="0"/>
                <a:ea typeface="Courier New" pitchFamily="34" charset="-122"/>
                <a:cs typeface="Courier New" pitchFamily="34" charset="-120"/>
              </a:rPr>
              <a:t>results/results.jsonl</a:t>
            </a:r>
            <a:endParaRPr lang="en-US" sz="1100" dirty="0"/>
          </a:p>
        </p:txBody>
      </p:sp>
      <p:sp>
        <p:nvSpPr>
          <p:cNvPr id="6" name="Text 3"/>
          <p:cNvSpPr txBox="1"/>
          <p:nvPr/>
        </p:nvSpPr>
        <p:spPr>
          <a:xfrm>
            <a:off x="777240" y="1847088"/>
            <a:ext cx="3108960" cy="237744"/>
          </a:xfrm>
          <a:prstGeom prst="rect">
            <a:avLst/>
          </a:prstGeom>
          <a:noFill/>
          <a:ln/>
        </p:spPr>
        <p:txBody>
          <a:bodyPr wrap="square" lIns="0" tIns="0" rIns="0" bIns="0" rtlCol="0" anchor="t"/>
          <a:lstStyle/>
          <a:p>
            <a:pPr algn="l" indent="0" marL="0">
              <a:buNone/>
            </a:pPr>
            <a:r>
              <a:rPr lang="en-US" sz="1100" dirty="0">
                <a:solidFill>
                  <a:schemeClr val="tx1"/>
                </a:solidFill>
              </a:rPr>
              <a:t>environment × 1 — schema 4, enabled_vs_disabled</a:t>
            </a:r>
            <a:endParaRPr lang="en-US" sz="1100" dirty="0"/>
          </a:p>
        </p:txBody>
      </p:sp>
      <p:sp>
        <p:nvSpPr>
          <p:cNvPr id="7" name="Text 4"/>
          <p:cNvSpPr txBox="1"/>
          <p:nvPr/>
        </p:nvSpPr>
        <p:spPr>
          <a:xfrm>
            <a:off x="777240" y="2121408"/>
            <a:ext cx="3108960" cy="237744"/>
          </a:xfrm>
          <a:prstGeom prst="rect">
            <a:avLst/>
          </a:prstGeom>
          <a:noFill/>
          <a:ln/>
        </p:spPr>
        <p:txBody>
          <a:bodyPr wrap="square" lIns="0" tIns="0" rIns="0" bIns="0" rtlCol="0" anchor="t"/>
          <a:lstStyle/>
          <a:p>
            <a:pPr algn="l" indent="0" marL="0">
              <a:buNone/>
            </a:pPr>
            <a:r>
              <a:rPr lang="en-US" sz="1100" dirty="0">
                <a:solidFill>
                  <a:schemeClr val="tx1"/>
                </a:solidFill>
              </a:rPr>
              <a:t>case × 132 — fixture · seed · level</a:t>
            </a:r>
            <a:endParaRPr lang="en-US" sz="1100" dirty="0"/>
          </a:p>
        </p:txBody>
      </p:sp>
      <p:sp>
        <p:nvSpPr>
          <p:cNvPr id="8" name="Text 5"/>
          <p:cNvSpPr txBox="1"/>
          <p:nvPr/>
        </p:nvSpPr>
        <p:spPr>
          <a:xfrm>
            <a:off x="777240" y="2395728"/>
            <a:ext cx="3108960" cy="237744"/>
          </a:xfrm>
          <a:prstGeom prst="rect">
            <a:avLst/>
          </a:prstGeom>
          <a:noFill/>
          <a:ln/>
        </p:spPr>
        <p:txBody>
          <a:bodyPr wrap="square" lIns="0" tIns="0" rIns="0" bIns="0" rtlCol="0" anchor="t"/>
          <a:lstStyle/>
          <a:p>
            <a:pPr algn="l" indent="0" marL="0">
              <a:buNone/>
            </a:pPr>
            <a:r>
              <a:rPr lang="en-US" sz="1100" dirty="0">
                <a:solidFill>
                  <a:schemeClr val="tx1"/>
                </a:solidFill>
              </a:rPr>
              <a:t>self_check × 4 — name · level</a:t>
            </a:r>
            <a:endParaRPr lang="en-US" sz="1100" dirty="0"/>
          </a:p>
        </p:txBody>
      </p:sp>
      <p:sp>
        <p:nvSpPr>
          <p:cNvPr id="9" name="Text 6"/>
          <p:cNvSpPr txBox="1"/>
          <p:nvPr/>
        </p:nvSpPr>
        <p:spPr>
          <a:xfrm>
            <a:off x="777240" y="2670048"/>
            <a:ext cx="3108960" cy="237744"/>
          </a:xfrm>
          <a:prstGeom prst="rect">
            <a:avLst/>
          </a:prstGeom>
          <a:noFill/>
          <a:ln/>
        </p:spPr>
        <p:txBody>
          <a:bodyPr wrap="square" lIns="0" tIns="0" rIns="0" bIns="0" rtlCol="0" anchor="t"/>
          <a:lstStyle/>
          <a:p>
            <a:pPr algn="l" indent="0" marL="0">
              <a:buNone/>
            </a:pPr>
            <a:r>
              <a:rPr lang="en-US" sz="1100" dirty="0">
                <a:solidFill>
                  <a:schemeClr val="tx1"/>
                </a:solidFill>
              </a:rPr>
              <a:t>coverage × 2 — level</a:t>
            </a:r>
            <a:endParaRPr lang="en-US" sz="1100" dirty="0"/>
          </a:p>
        </p:txBody>
      </p:sp>
      <p:sp>
        <p:nvSpPr>
          <p:cNvPr id="10" name="Text 7"/>
          <p:cNvSpPr txBox="1"/>
          <p:nvPr/>
        </p:nvSpPr>
        <p:spPr>
          <a:xfrm>
            <a:off x="777240" y="2944368"/>
            <a:ext cx="3108960" cy="237744"/>
          </a:xfrm>
          <a:prstGeom prst="rect">
            <a:avLst/>
          </a:prstGeom>
          <a:noFill/>
          <a:ln/>
        </p:spPr>
        <p:txBody>
          <a:bodyPr wrap="square" lIns="0" tIns="0" rIns="0" bIns="0" rtlCol="0" anchor="t"/>
          <a:lstStyle/>
          <a:p>
            <a:pPr algn="l" indent="0" marL="0">
              <a:buNone/>
            </a:pPr>
            <a:r>
              <a:rPr lang="en-US" sz="1100" dirty="0">
                <a:solidFill>
                  <a:schemeClr val="tx1"/>
                </a:solidFill>
              </a:rPr>
              <a:t>feature_check × 10 — name</a:t>
            </a:r>
            <a:endParaRPr lang="en-US" sz="1100" dirty="0"/>
          </a:p>
        </p:txBody>
      </p:sp>
      <p:sp>
        <p:nvSpPr>
          <p:cNvPr id="11" name="Text 8"/>
          <p:cNvSpPr txBox="1"/>
          <p:nvPr/>
        </p:nvSpPr>
        <p:spPr>
          <a:xfrm>
            <a:off x="777240" y="3291840"/>
            <a:ext cx="3108960" cy="237744"/>
          </a:xfrm>
          <a:prstGeom prst="rect">
            <a:avLst/>
          </a:prstGeom>
          <a:noFill/>
          <a:ln/>
        </p:spPr>
        <p:txBody>
          <a:bodyPr wrap="square" lIns="0" tIns="0" rIns="0" bIns="0" rtlCol="0" anchor="t"/>
          <a:lstStyle/>
          <a:p>
            <a:pPr algn="l" indent="0" marL="0">
              <a:buNone/>
            </a:pPr>
            <a:r>
              <a:rPr lang="en-US" sz="1050" dirty="0">
                <a:solidFill>
                  <a:schemeClr val="tx2"/>
                </a:solidFill>
              </a:rPr>
              <a:t>passed per record; error when failed</a:t>
            </a:r>
            <a:endParaRPr lang="en-US" sz="1050" dirty="0"/>
          </a:p>
        </p:txBody>
      </p:sp>
      <p:sp>
        <p:nvSpPr>
          <p:cNvPr id="12" name="Text 9"/>
          <p:cNvSpPr txBox="1"/>
          <p:nvPr/>
        </p:nvSpPr>
        <p:spPr>
          <a:xfrm>
            <a:off x="777240" y="3584448"/>
            <a:ext cx="3108960" cy="411480"/>
          </a:xfrm>
          <a:prstGeom prst="rect">
            <a:avLst/>
          </a:prstGeom>
          <a:noFill/>
          <a:ln/>
        </p:spPr>
        <p:txBody>
          <a:bodyPr wrap="square" lIns="0" tIns="0" rIns="0" bIns="0" rtlCol="0" anchor="t"/>
          <a:lstStyle/>
          <a:p>
            <a:pPr algn="l" indent="0" marL="0">
              <a:lnSpc>
                <a:spcPct val="105000"/>
              </a:lnSpc>
              <a:buNone/>
            </a:pPr>
            <a:r>
              <a:rPr lang="en-US" sz="1050" dirty="0">
                <a:solidFill>
                  <a:schemeClr val="accent2"/>
                </a:solidFill>
              </a:rPr>
              <a:t>while a run is in progress: one run_status record, passed = false</a:t>
            </a:r>
            <a:endParaRPr lang="en-US" sz="1050" dirty="0"/>
          </a:p>
        </p:txBody>
      </p:sp>
      <p:sp>
        <p:nvSpPr>
          <p:cNvPr id="13" name="Shape 10"/>
          <p:cNvSpPr/>
          <p:nvPr/>
        </p:nvSpPr>
        <p:spPr>
          <a:xfrm>
            <a:off x="4663440" y="1417320"/>
            <a:ext cx="3291840" cy="2697480"/>
          </a:xfrm>
          <a:prstGeom prst="roundRect">
            <a:avLst>
              <a:gd name="adj" fmla="val 2034"/>
            </a:avLst>
          </a:prstGeom>
          <a:solidFill>
            <a:schemeClr val="bg1"/>
          </a:solidFill>
          <a:ln w="12700">
            <a:solidFill>
              <a:schemeClr val="tx1"/>
            </a:solidFill>
            <a:prstDash val="solid"/>
          </a:ln>
        </p:spPr>
      </p:sp>
      <p:sp>
        <p:nvSpPr>
          <p:cNvPr id="14" name="Text 11"/>
          <p:cNvSpPr txBox="1"/>
          <p:nvPr/>
        </p:nvSpPr>
        <p:spPr>
          <a:xfrm>
            <a:off x="4800600" y="1508760"/>
            <a:ext cx="3017520" cy="256032"/>
          </a:xfrm>
          <a:prstGeom prst="rect">
            <a:avLst/>
          </a:prstGeom>
          <a:noFill/>
          <a:ln/>
        </p:spPr>
        <p:txBody>
          <a:bodyPr wrap="square" lIns="0" tIns="0" rIns="0" bIns="0" rtlCol="0" anchor="t"/>
          <a:lstStyle/>
          <a:p>
            <a:pPr algn="l" indent="0" marL="0">
              <a:buNone/>
            </a:pPr>
            <a:r>
              <a:rPr lang="en-US" sz="1100" b="1" dirty="0">
                <a:solidFill>
                  <a:schemeClr val="tx1"/>
                </a:solidFill>
                <a:latin typeface="Courier New" pitchFamily="34" charset="0"/>
                <a:ea typeface="Courier New" pitchFamily="34" charset="-122"/>
                <a:cs typeface="Courier New" pitchFamily="34" charset="-120"/>
              </a:rPr>
              <a:t>make_report.py</a:t>
            </a:r>
            <a:endParaRPr lang="en-US" sz="1100" dirty="0"/>
          </a:p>
        </p:txBody>
      </p:sp>
      <p:sp>
        <p:nvSpPr>
          <p:cNvPr id="15" name="Text 12"/>
          <p:cNvSpPr txBox="1"/>
          <p:nvPr/>
        </p:nvSpPr>
        <p:spPr>
          <a:xfrm>
            <a:off x="4800600" y="1828800"/>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no run_status record (the run completed)</a:t>
            </a:r>
            <a:endParaRPr lang="en-US" sz="1000" dirty="0"/>
          </a:p>
        </p:txBody>
      </p:sp>
      <p:sp>
        <p:nvSpPr>
          <p:cNvPr id="16" name="Text 13"/>
          <p:cNvSpPr txBox="1"/>
          <p:nvPr/>
        </p:nvSpPr>
        <p:spPr>
          <a:xfrm>
            <a:off x="4800600" y="2075688"/>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exactly one environment, schema 4</a:t>
            </a:r>
            <a:endParaRPr lang="en-US" sz="1000" dirty="0"/>
          </a:p>
        </p:txBody>
      </p:sp>
      <p:sp>
        <p:nvSpPr>
          <p:cNvPr id="17" name="Text 14"/>
          <p:cNvSpPr txBox="1"/>
          <p:nvPr/>
        </p:nvSpPr>
        <p:spPr>
          <a:xfrm>
            <a:off x="4800600" y="2322576"/>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11 fixtures, distinct seeds, levels in {2, 3}</a:t>
            </a:r>
            <a:endParaRPr lang="en-US" sz="1000" dirty="0"/>
          </a:p>
        </p:txBody>
      </p:sp>
      <p:sp>
        <p:nvSpPr>
          <p:cNvPr id="18" name="Text 15"/>
          <p:cNvSpPr txBox="1"/>
          <p:nvPr/>
        </p:nvSpPr>
        <p:spPr>
          <a:xfrm>
            <a:off x="4800600" y="2569464"/>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cases = fixtures × seeds × levels, unique, ids typed</a:t>
            </a:r>
            <a:endParaRPr lang="en-US" sz="1000" dirty="0"/>
          </a:p>
        </p:txBody>
      </p:sp>
      <p:sp>
        <p:nvSpPr>
          <p:cNvPr id="19" name="Text 16"/>
          <p:cNvSpPr txBox="1"/>
          <p:nvPr/>
        </p:nvSpPr>
        <p:spPr>
          <a:xfrm>
            <a:off x="4800600" y="2816352"/>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self-checks, coverage, features: exact sets</a:t>
            </a:r>
            <a:endParaRPr lang="en-US" sz="1000" dirty="0"/>
          </a:p>
        </p:txBody>
      </p:sp>
      <p:sp>
        <p:nvSpPr>
          <p:cNvPr id="20" name="Text 17"/>
          <p:cNvSpPr txBox="1"/>
          <p:nvPr/>
        </p:nvSpPr>
        <p:spPr>
          <a:xfrm>
            <a:off x="4800600" y="3063240"/>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every case: both outputs pass, moves &gt; 0, changed</a:t>
            </a:r>
            <a:endParaRPr lang="en-US" sz="1000" dirty="0"/>
          </a:p>
        </p:txBody>
      </p:sp>
      <p:sp>
        <p:nvSpPr>
          <p:cNvPr id="21" name="Text 18"/>
          <p:cNvSpPr txBox="1"/>
          <p:nvPr/>
        </p:nvSpPr>
        <p:spPr>
          <a:xfrm>
            <a:off x="4800600" y="3310128"/>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coverage recomputed from the cases, must match</a:t>
            </a:r>
            <a:endParaRPr lang="en-US" sz="1000" dirty="0"/>
          </a:p>
        </p:txBody>
      </p:sp>
      <p:sp>
        <p:nvSpPr>
          <p:cNvPr id="22" name="Text 19"/>
          <p:cNvSpPr txBox="1"/>
          <p:nvPr/>
        </p:nvSpPr>
        <p:spPr>
          <a:xfrm>
            <a:off x="4800600" y="3557016"/>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self-checks name a passing non-identity case</a:t>
            </a:r>
            <a:endParaRPr lang="en-US" sz="1000" dirty="0"/>
          </a:p>
        </p:txBody>
      </p:sp>
      <p:sp>
        <p:nvSpPr>
          <p:cNvPr id="23" name="Text 20"/>
          <p:cNvSpPr txBox="1"/>
          <p:nvPr/>
        </p:nvSpPr>
        <p:spPr>
          <a:xfrm>
            <a:off x="4800600" y="3803904"/>
            <a:ext cx="3017520" cy="237744"/>
          </a:xfrm>
          <a:prstGeom prst="rect">
            <a:avLst/>
          </a:prstGeom>
          <a:noFill/>
          <a:ln/>
        </p:spPr>
        <p:txBody>
          <a:bodyPr wrap="square" lIns="0" tIns="0" rIns="0" bIns="0" rtlCol="0" anchor="t"/>
          <a:lstStyle/>
          <a:p>
            <a:pPr algn="l" indent="0" marL="0">
              <a:buNone/>
            </a:pPr>
            <a:r>
              <a:rPr lang="en-US" sz="1000" dirty="0">
                <a:solidFill>
                  <a:schemeClr val="tx1"/>
                </a:solidFill>
              </a:rPr>
              <a:t>settings match, no failed record</a:t>
            </a:r>
            <a:endParaRPr lang="en-US" sz="1000" dirty="0"/>
          </a:p>
        </p:txBody>
      </p:sp>
      <p:sp>
        <p:nvSpPr>
          <p:cNvPr id="24" name="Shape 21"/>
          <p:cNvSpPr/>
          <p:nvPr/>
        </p:nvSpPr>
        <p:spPr>
          <a:xfrm>
            <a:off x="9052560" y="1783080"/>
            <a:ext cx="2560320" cy="731520"/>
          </a:xfrm>
          <a:prstGeom prst="roundRect">
            <a:avLst>
              <a:gd name="adj" fmla="val 7500"/>
            </a:avLst>
          </a:prstGeom>
          <a:solidFill>
            <a:srgbClr val="DCEFE3"/>
          </a:solidFill>
          <a:ln w="15875">
            <a:solidFill>
              <a:schemeClr val="accent3"/>
            </a:solidFill>
            <a:prstDash val="solid"/>
          </a:ln>
        </p:spPr>
      </p:sp>
      <p:sp>
        <p:nvSpPr>
          <p:cNvPr id="25" name="Text 22"/>
          <p:cNvSpPr txBox="1"/>
          <p:nvPr/>
        </p:nvSpPr>
        <p:spPr>
          <a:xfrm>
            <a:off x="9189720" y="1856232"/>
            <a:ext cx="2286000" cy="274320"/>
          </a:xfrm>
          <a:prstGeom prst="rect">
            <a:avLst/>
          </a:prstGeom>
          <a:noFill/>
          <a:ln/>
        </p:spPr>
        <p:txBody>
          <a:bodyPr wrap="square" lIns="0" tIns="0" rIns="0" bIns="0" rtlCol="0" anchor="t"/>
          <a:lstStyle/>
          <a:p>
            <a:pPr algn="l" indent="0" marL="0">
              <a:buNone/>
            </a:pPr>
            <a:r>
              <a:rPr lang="en-US" sz="1250" b="1" dirty="0">
                <a:solidFill>
                  <a:schemeClr val="accent3"/>
                </a:solidFill>
              </a:rPr>
              <a:t>report.md: PASS</a:t>
            </a:r>
            <a:endParaRPr lang="en-US" sz="1250" dirty="0"/>
          </a:p>
        </p:txBody>
      </p:sp>
      <p:sp>
        <p:nvSpPr>
          <p:cNvPr id="26" name="Text 23"/>
          <p:cNvSpPr txBox="1"/>
          <p:nvPr/>
        </p:nvSpPr>
        <p:spPr>
          <a:xfrm>
            <a:off x="9189720" y="2148840"/>
            <a:ext cx="2286000" cy="237744"/>
          </a:xfrm>
          <a:prstGeom prst="rect">
            <a:avLst/>
          </a:prstGeom>
          <a:noFill/>
          <a:ln/>
        </p:spPr>
        <p:txBody>
          <a:bodyPr wrap="square" lIns="0" tIns="0" rIns="0" bIns="0" rtlCol="0" anchor="t"/>
          <a:lstStyle/>
          <a:p>
            <a:pPr algn="l" indent="0" marL="0">
              <a:buNone/>
            </a:pPr>
            <a:r>
              <a:rPr lang="en-US" sz="1050" dirty="0">
                <a:solidFill>
                  <a:schemeClr val="tx2"/>
                </a:solidFill>
              </a:rPr>
              <a:t>exit code 0</a:t>
            </a:r>
            <a:endParaRPr lang="en-US" sz="1050" dirty="0"/>
          </a:p>
        </p:txBody>
      </p:sp>
      <p:sp>
        <p:nvSpPr>
          <p:cNvPr id="27" name="Shape 24"/>
          <p:cNvSpPr/>
          <p:nvPr/>
        </p:nvSpPr>
        <p:spPr>
          <a:xfrm>
            <a:off x="9052560" y="3017520"/>
            <a:ext cx="2560320" cy="731520"/>
          </a:xfrm>
          <a:prstGeom prst="roundRect">
            <a:avLst>
              <a:gd name="adj" fmla="val 7500"/>
            </a:avLst>
          </a:prstGeom>
          <a:solidFill>
            <a:srgbClr val="F8DDDA"/>
          </a:solidFill>
          <a:ln w="15875">
            <a:solidFill>
              <a:schemeClr val="accent4"/>
            </a:solidFill>
            <a:prstDash val="solid"/>
          </a:ln>
        </p:spPr>
      </p:sp>
      <p:sp>
        <p:nvSpPr>
          <p:cNvPr id="28" name="Text 25"/>
          <p:cNvSpPr txBox="1"/>
          <p:nvPr/>
        </p:nvSpPr>
        <p:spPr>
          <a:xfrm>
            <a:off x="9189720" y="3090672"/>
            <a:ext cx="2286000" cy="274320"/>
          </a:xfrm>
          <a:prstGeom prst="rect">
            <a:avLst/>
          </a:prstGeom>
          <a:noFill/>
          <a:ln/>
        </p:spPr>
        <p:txBody>
          <a:bodyPr wrap="square" lIns="0" tIns="0" rIns="0" bIns="0" rtlCol="0" anchor="t"/>
          <a:lstStyle/>
          <a:p>
            <a:pPr algn="l" indent="0" marL="0">
              <a:buNone/>
            </a:pPr>
            <a:r>
              <a:rPr lang="en-US" sz="1250" b="1" dirty="0">
                <a:solidFill>
                  <a:schemeClr val="accent4"/>
                </a:solidFill>
              </a:rPr>
              <a:t>report.md: FAIL</a:t>
            </a:r>
            <a:endParaRPr lang="en-US" sz="1250" dirty="0"/>
          </a:p>
        </p:txBody>
      </p:sp>
      <p:sp>
        <p:nvSpPr>
          <p:cNvPr id="29" name="Text 26"/>
          <p:cNvSpPr txBox="1"/>
          <p:nvPr/>
        </p:nvSpPr>
        <p:spPr>
          <a:xfrm>
            <a:off x="9189720" y="3383280"/>
            <a:ext cx="2286000" cy="237744"/>
          </a:xfrm>
          <a:prstGeom prst="rect">
            <a:avLst/>
          </a:prstGeom>
          <a:noFill/>
          <a:ln/>
        </p:spPr>
        <p:txBody>
          <a:bodyPr wrap="square" lIns="0" tIns="0" rIns="0" bIns="0" rtlCol="0" anchor="t"/>
          <a:lstStyle/>
          <a:p>
            <a:pPr algn="l" indent="0" marL="0">
              <a:buNone/>
            </a:pPr>
            <a:r>
              <a:rPr lang="en-US" sz="1050" dirty="0">
                <a:solidFill>
                  <a:schemeClr val="tx2"/>
                </a:solidFill>
              </a:rPr>
              <a:t>exit code 1, every reason listed</a:t>
            </a:r>
            <a:endParaRPr lang="en-US" sz="1050" dirty="0"/>
          </a:p>
        </p:txBody>
      </p:sp>
      <p:sp>
        <p:nvSpPr>
          <p:cNvPr id="30" name="Shape 27"/>
          <p:cNvSpPr/>
          <p:nvPr/>
        </p:nvSpPr>
        <p:spPr>
          <a:xfrm>
            <a:off x="4023360" y="2743200"/>
            <a:ext cx="640080" cy="0"/>
          </a:xfrm>
          <a:prstGeom prst="line">
            <a:avLst/>
          </a:prstGeom>
          <a:noFill/>
          <a:ln w="15875">
            <a:solidFill>
              <a:schemeClr val="tx1"/>
            </a:solidFill>
            <a:prstDash val="solid"/>
            <a:tailEnd type="triangle"/>
          </a:ln>
        </p:spPr>
      </p:sp>
      <p:sp>
        <p:nvSpPr>
          <p:cNvPr id="31" name="Text 28"/>
          <p:cNvSpPr txBox="1"/>
          <p:nvPr/>
        </p:nvSpPr>
        <p:spPr>
          <a:xfrm>
            <a:off x="3977640" y="2487168"/>
            <a:ext cx="731520" cy="201168"/>
          </a:xfrm>
          <a:prstGeom prst="rect">
            <a:avLst/>
          </a:prstGeom>
          <a:noFill/>
          <a:ln/>
        </p:spPr>
        <p:txBody>
          <a:bodyPr wrap="square" lIns="0" tIns="0" rIns="0" bIns="0" rtlCol="0" anchor="ctr"/>
          <a:lstStyle/>
          <a:p>
            <a:pPr algn="ctr" indent="0" marL="0">
              <a:buNone/>
            </a:pPr>
            <a:r>
              <a:rPr lang="en-US" sz="950" dirty="0">
                <a:solidFill>
                  <a:schemeClr val="tx2"/>
                </a:solidFill>
              </a:rPr>
              <a:t>json lines</a:t>
            </a:r>
            <a:endParaRPr lang="en-US" sz="950" dirty="0"/>
          </a:p>
        </p:txBody>
      </p:sp>
      <p:sp>
        <p:nvSpPr>
          <p:cNvPr id="32" name="Shape 29"/>
          <p:cNvSpPr/>
          <p:nvPr/>
        </p:nvSpPr>
        <p:spPr>
          <a:xfrm>
            <a:off x="7955280" y="2148840"/>
            <a:ext cx="1097280" cy="0"/>
          </a:xfrm>
          <a:prstGeom prst="line">
            <a:avLst/>
          </a:prstGeom>
          <a:noFill/>
          <a:ln w="15875">
            <a:solidFill>
              <a:schemeClr val="tx1"/>
            </a:solidFill>
            <a:prstDash val="solid"/>
            <a:tailEnd type="triangle"/>
          </a:ln>
        </p:spPr>
      </p:sp>
      <p:sp>
        <p:nvSpPr>
          <p:cNvPr id="33" name="Text 30"/>
          <p:cNvSpPr txBox="1"/>
          <p:nvPr/>
        </p:nvSpPr>
        <p:spPr>
          <a:xfrm>
            <a:off x="7955280" y="1901952"/>
            <a:ext cx="1097280" cy="201168"/>
          </a:xfrm>
          <a:prstGeom prst="rect">
            <a:avLst/>
          </a:prstGeom>
          <a:noFill/>
          <a:ln/>
        </p:spPr>
        <p:txBody>
          <a:bodyPr wrap="square" lIns="0" tIns="0" rIns="0" bIns="0" rtlCol="0" anchor="ctr"/>
          <a:lstStyle/>
          <a:p>
            <a:pPr algn="ctr" indent="0" marL="0">
              <a:buNone/>
            </a:pPr>
            <a:r>
              <a:rPr lang="en-US" sz="950" dirty="0">
                <a:solidFill>
                  <a:schemeClr val="tx2"/>
                </a:solidFill>
              </a:rPr>
              <a:t>all gates hold</a:t>
            </a:r>
            <a:endParaRPr lang="en-US" sz="950" dirty="0"/>
          </a:p>
        </p:txBody>
      </p:sp>
      <p:sp>
        <p:nvSpPr>
          <p:cNvPr id="34" name="Shape 31"/>
          <p:cNvSpPr/>
          <p:nvPr/>
        </p:nvSpPr>
        <p:spPr>
          <a:xfrm>
            <a:off x="7955280" y="3383280"/>
            <a:ext cx="1097280" cy="0"/>
          </a:xfrm>
          <a:prstGeom prst="line">
            <a:avLst/>
          </a:prstGeom>
          <a:noFill/>
          <a:ln w="15875">
            <a:solidFill>
              <a:schemeClr val="tx1"/>
            </a:solidFill>
            <a:prstDash val="solid"/>
            <a:tailEnd type="triangle"/>
          </a:ln>
        </p:spPr>
      </p:sp>
      <p:sp>
        <p:nvSpPr>
          <p:cNvPr id="35" name="Text 32"/>
          <p:cNvSpPr txBox="1"/>
          <p:nvPr/>
        </p:nvSpPr>
        <p:spPr>
          <a:xfrm>
            <a:off x="7955280" y="3136392"/>
            <a:ext cx="1097280" cy="201168"/>
          </a:xfrm>
          <a:prstGeom prst="rect">
            <a:avLst/>
          </a:prstGeom>
          <a:noFill/>
          <a:ln/>
        </p:spPr>
        <p:txBody>
          <a:bodyPr wrap="square" lIns="0" tIns="0" rIns="0" bIns="0" rtlCol="0" anchor="ctr"/>
          <a:lstStyle/>
          <a:p>
            <a:pPr algn="ctr" indent="0" marL="0">
              <a:buNone/>
            </a:pPr>
            <a:r>
              <a:rPr lang="en-US" sz="950" dirty="0">
                <a:solidFill>
                  <a:schemeClr val="tx2"/>
                </a:solidFill>
              </a:rPr>
              <a:t>any gate fails</a:t>
            </a:r>
            <a:endParaRPr lang="en-US" sz="950" dirty="0"/>
          </a:p>
        </p:txBody>
      </p:sp>
      <p:sp>
        <p:nvSpPr>
          <p:cNvPr id="36" name="Text 33"/>
          <p:cNvSpPr txBox="1"/>
          <p:nvPr/>
        </p:nvSpPr>
        <p:spPr>
          <a:xfrm>
            <a:off x="548640" y="4343400"/>
            <a:ext cx="5440680" cy="2011680"/>
          </a:xfrm>
          <a:prstGeom prst="rect">
            <a:avLst/>
          </a:prstGeom>
          <a:noFill/>
          <a:ln/>
        </p:spPr>
        <p:txBody>
          <a:bodyPr wrap="square" lIns="0" tIns="0" rIns="0" bIns="0" rtlCol="0" anchor="t"/>
          <a:lstStyle/>
          <a:p>
            <a:pPr algn="l" indent="0" marL="0">
              <a:lnSpc>
                <a:spcPct val="108000"/>
              </a:lnSpc>
              <a:buNone/>
            </a:pPr>
            <a:r>
              <a:rPr lang="en-US" sz="1100" b="1" dirty="0">
                <a:solidFill>
                  <a:schemeClr val="tx1"/>
                </a:solidFill>
              </a:rPr>
              <a:t>Environment record: </a:t>
            </a:r>
            <a:pPr algn="l" indent="0" marL="0">
              <a:lnSpc>
                <a:spcPct val="108000"/>
              </a:lnSpc>
              <a:buNone/>
            </a:pPr>
            <a:r>
              <a:rPr lang="en-US" sz="1100" dirty="0">
                <a:solidFill>
                  <a:schemeClr val="tx1"/>
                </a:solidFill>
              </a:rPr>
              <a:t>schema_version 4, sha, qiskit_version, qiskit_source, accelerate_file, accelerate_sha256, comparison_method (dag), comparison_mode (enabled_vs_disabled), python, timestamp, fixtures, seeds, optimization_levels, basis_gates, coupling_map, layout_method, routing_method, translation_method, approximation_degree, qubits_initially_zero, routing_trials. The reporter checks the settings against the values the suite claims, so a run with other settings cannot be reported as this suite's PASS.</a:t>
            </a:r>
            <a:endParaRPr lang="en-US" sz="1100" dirty="0"/>
          </a:p>
        </p:txBody>
      </p:sp>
      <p:sp>
        <p:nvSpPr>
          <p:cNvPr id="37" name="Text 34"/>
          <p:cNvSpPr txBox="1"/>
          <p:nvPr/>
        </p:nvSpPr>
        <p:spPr>
          <a:xfrm>
            <a:off x="6199632" y="4343400"/>
            <a:ext cx="5440680" cy="2011680"/>
          </a:xfrm>
          <a:prstGeom prst="rect">
            <a:avLst/>
          </a:prstGeom>
          <a:noFill/>
          <a:ln/>
        </p:spPr>
        <p:txBody>
          <a:bodyPr wrap="square" lIns="0" tIns="0" rIns="0" bIns="0" rtlCol="0" anchor="t"/>
          <a:lstStyle/>
          <a:p>
            <a:pPr algn="l" indent="0" marL="0">
              <a:lnSpc>
                <a:spcPct val="108000"/>
              </a:lnSpc>
              <a:buNone/>
            </a:pPr>
            <a:r>
              <a:rPr lang="en-US" sz="1100" b="1" dirty="0">
                <a:solidFill>
                  <a:schemeClr val="tx1"/>
                </a:solidFill>
              </a:rPr>
              <a:t>Case record: </a:t>
            </a:r>
            <a:pPr algn="l" indent="0" marL="0">
              <a:lnSpc>
                <a:spcPct val="108000"/>
              </a:lnSpc>
              <a:buNone/>
            </a:pPr>
            <a:r>
              <a:rPr lang="en-US" sz="1100" dirty="0">
                <a:solidFill>
                  <a:schemeClr val="tx1"/>
                </a:solidFill>
              </a:rPr>
              <a:t>fixture, seed, optimization_level, passed, enabled_passed, disabled_passed, absorption_runs, absorption_moves, absorption_swaps_seen, absorption_changed, depth, two_qubit_gates, final_permutation and the same three metrics with a disabled_ prefix; error holds the exception's repr. Starting a run first overwrites the results file with a single failing run_status record, so an interrupted or failed run can never be mistaken for the previous success.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Running and extending the suite</a:t>
            </a:r>
            <a:endParaRPr lang="en-US" sz="3000" dirty="0"/>
          </a:p>
        </p:txBody>
      </p:sp>
      <p:sp>
        <p:nvSpPr>
          <p:cNvPr id="4" name="Text 1"/>
          <p:cNvSpPr txBox="1"/>
          <p:nvPr/>
        </p:nvSpPr>
        <p:spPr>
          <a:xfrm>
            <a:off x="548640" y="1371600"/>
            <a:ext cx="11091672" cy="2377440"/>
          </a:xfrm>
          <a:prstGeom prst="rect">
            <a:avLst/>
          </a:prstGeom>
          <a:solidFill>
            <a:schemeClr val="bg2"/>
          </a:solidFill>
          <a:ln w="9525">
            <a:solidFill>
              <a:srgbClr val="C8D0D3"/>
            </a:solidFill>
          </a:ln>
        </p:spPr>
        <p:txBody>
          <a:bodyPr wrap="square" lIns="1524" tIns="1524" rIns="1524" bIns="1524"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 full matrix: 132 cases, each transpiled twice; the report is generated only on success</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../qiskit-evolved/.venv/bin/python run_validation.py --qiskit-src ../qiskit-swap-absorption &amp;&amp; \</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../qiskit-evolved/.venv/bin/python make_report.py</a:t>
            </a:r>
            <a:endParaRPr lang="en-US" sz="1050" dirty="0"/>
          </a:p>
          <a:p>
            <a:pPr algn="l" indent="0" marL="0">
              <a:buNone/>
            </a:pP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 smaller runs</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../qiskit-evolved/.venv/bin/python run_validation.py --seeds 0 --optimization-levels 2 --out results/smoke.jsonl</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../qiskit-evolved/.venv/bin/python make_report.py --results results/smoke.jsonl --out smoke.md</a:t>
            </a:r>
            <a:endParaRPr lang="en-US" sz="1050" dirty="0"/>
          </a:p>
          <a:p>
            <a:pPr algn="l" indent="0" marL="0">
              <a:buNone/>
            </a:pP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 rebuild the extension after any Rust change (inside the checkout)</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cd ../qiskit-swap-absorption &amp;&amp; ../qiskit-evolved/.venv/bin/python setup.py build_rust --inplace --release</a:t>
            </a:r>
            <a:endParaRPr lang="en-US" sz="1050" dirty="0"/>
          </a:p>
          <a:p>
            <a:pPr algn="l" indent="0" marL="0">
              <a:buNone/>
            </a:pP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 unit tests of the runner and the reporter, no Qiskit needed</a:t>
            </a:r>
            <a:endParaRPr lang="en-US" sz="1050" dirty="0"/>
          </a:p>
          <a:p>
            <a:pPr algn="l" indent="0" marL="0">
              <a:buNone/>
            </a:pPr>
            <a:r>
              <a:rPr lang="en-US" sz="1050" dirty="0">
                <a:solidFill>
                  <a:schemeClr val="tx1"/>
                </a:solidFill>
                <a:latin typeface="Courier New" pitchFamily="34" charset="0"/>
                <a:ea typeface="Courier New" pitchFamily="34" charset="-122"/>
                <a:cs typeface="Courier New" pitchFamily="34" charset="-120"/>
              </a:rPr>
              <a:t>python3 -m unittest test_make_report test_run_validation</a:t>
            </a:r>
            <a:endParaRPr lang="en-US" sz="1050" dirty="0"/>
          </a:p>
        </p:txBody>
      </p:sp>
      <p:sp>
        <p:nvSpPr>
          <p:cNvPr id="5" name="Text 2"/>
          <p:cNvSpPr txBox="1"/>
          <p:nvPr/>
        </p:nvSpPr>
        <p:spPr>
          <a:xfrm>
            <a:off x="548640" y="3931920"/>
            <a:ext cx="11091672" cy="237744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200" b="1" dirty="0">
                <a:solidFill>
                  <a:schemeClr val="tx1"/>
                </a:solidFill>
              </a:rPr>
              <a:t>Both scripts exit non-zero on failure, </a:t>
            </a:r>
            <a:pPr indent="0" marL="0">
              <a:lnSpc>
                <a:spcPct val="105000"/>
              </a:lnSpc>
              <a:spcAft>
                <a:spcPts val="500"/>
              </a:spcAft>
              <a:buNone/>
            </a:pPr>
            <a:r>
              <a:rPr lang="en-US" sz="1200" dirty="0">
                <a:solidFill>
                  <a:schemeClr val="tx1"/>
                </a:solidFill>
              </a:rPr>
              <a:t>so they can gate a CI job directly.</a:t>
            </a:r>
            <a:endParaRPr lang="en-US" sz="1200" dirty="0"/>
          </a:p>
          <a:p>
            <a:pPr marL="342900" indent="-342900">
              <a:lnSpc>
                <a:spcPct val="105000"/>
              </a:lnSpc>
              <a:spcAft>
                <a:spcPts val="500"/>
              </a:spcAft>
              <a:buSzPct val="100000"/>
              <a:buChar char="•"/>
            </a:pPr>
            <a:r>
              <a:rPr lang="en-US" sz="1200" b="1" dirty="0">
                <a:solidFill>
                  <a:schemeClr val="tx1"/>
                </a:solidFill>
              </a:rPr>
              <a:t>Starting a run invalidates the previous results file </a:t>
            </a:r>
            <a:pPr indent="0" marL="0">
              <a:lnSpc>
                <a:spcPct val="105000"/>
              </a:lnSpc>
              <a:spcAft>
                <a:spcPts val="500"/>
              </a:spcAft>
              <a:buNone/>
            </a:pPr>
            <a:r>
              <a:rPr lang="en-US" sz="1200" dirty="0">
                <a:solidFill>
                  <a:schemeClr val="tx1"/>
                </a:solidFill>
              </a:rPr>
              <a:t>with a failing run_status record before Qiskit is loaded; an interrupted or failed run therefore leaves evidence that the reporter rejects instead of a stale PASS.</a:t>
            </a:r>
            <a:endParaRPr lang="en-US" sz="1200" dirty="0"/>
          </a:p>
          <a:p>
            <a:pPr marL="342900" indent="-342900">
              <a:lnSpc>
                <a:spcPct val="105000"/>
              </a:lnSpc>
              <a:spcAft>
                <a:spcPts val="500"/>
              </a:spcAft>
              <a:buSzPct val="100000"/>
              <a:buChar char="•"/>
            </a:pPr>
            <a:r>
              <a:rPr lang="en-US" sz="1200" b="1" dirty="0">
                <a:solidFill>
                  <a:schemeClr val="tx1"/>
                </a:solidFill>
              </a:rPr>
              <a:t>Adding a fixture </a:t>
            </a:r>
            <a:pPr indent="0" marL="0">
              <a:lnSpc>
                <a:spcPct val="105000"/>
              </a:lnSpc>
              <a:spcAft>
                <a:spcPts val="500"/>
              </a:spcAft>
              <a:buNone/>
            </a:pPr>
            <a:r>
              <a:rPr lang="en-US" sz="1200" dirty="0">
                <a:solidFill>
                  <a:schemeClr val="tx1"/>
                </a:solidFill>
              </a:rPr>
              <a:t>means adding one builder to fixtures() and updating the fixture count the reporter expects. Every builder must be deterministic, end with exactly 10 qubits, and make at least one move with a changed output for every seed and level, or the run fails with “modify this fixture”.</a:t>
            </a:r>
            <a:endParaRPr lang="en-US" sz="1200" dirty="0"/>
          </a:p>
          <a:p>
            <a:pPr marL="342900" indent="-342900">
              <a:lnSpc>
                <a:spcPct val="105000"/>
              </a:lnSpc>
              <a:spcAft>
                <a:spcPts val="500"/>
              </a:spcAft>
              <a:buSzPct val="100000"/>
              <a:buChar char="•"/>
            </a:pPr>
            <a:r>
              <a:rPr lang="en-US" sz="1200" b="1" dirty="0">
                <a:solidFill>
                  <a:schemeClr val="tx1"/>
                </a:solidFill>
              </a:rPr>
              <a:t>Adding a focused check </a:t>
            </a:r>
            <a:pPr indent="0" marL="0">
              <a:lnSpc>
                <a:spcPct val="105000"/>
              </a:lnSpc>
              <a:spcAft>
                <a:spcPts val="500"/>
              </a:spcAft>
              <a:buNone/>
            </a:pPr>
            <a:r>
              <a:rPr lang="en-US" sz="1200" dirty="0">
                <a:solidFill>
                  <a:schemeClr val="tx1"/>
                </a:solidFill>
              </a:rPr>
              <a:t>means adding a name to FEATURE_CHECKS and a matching callable in feature_checks(); the two sequences are zipped strictly so they cannot drift apart.</a:t>
            </a:r>
            <a:endParaRPr lang="en-US" sz="1200" dirty="0"/>
          </a:p>
          <a:p>
            <a:pPr marL="342900" indent="-342900">
              <a:lnSpc>
                <a:spcPct val="105000"/>
              </a:lnSpc>
              <a:spcAft>
                <a:spcPts val="500"/>
              </a:spcAft>
              <a:buSzPct val="100000"/>
              <a:buChar char="•"/>
            </a:pPr>
            <a:r>
              <a:rPr lang="en-US" sz="1200" b="1" dirty="0">
                <a:solidFill>
                  <a:schemeClr val="tx1"/>
                </a:solidFill>
              </a:rPr>
              <a:t>Other levels or layouts </a:t>
            </a:r>
            <a:pPr indent="0" marL="0">
              <a:lnSpc>
                <a:spcPct val="105000"/>
              </a:lnSpc>
              <a:spcAft>
                <a:spcPts val="500"/>
              </a:spcAft>
              <a:buNone/>
            </a:pPr>
            <a:r>
              <a:rPr lang="en-US" sz="1200" dirty="0">
                <a:solidFill>
                  <a:schemeClr val="tx1"/>
                </a:solidFill>
              </a:rPr>
              <a:t>are deliberately rejected by the argument parser and the reporter: the suite's claims are specific to levels 2 and 3 on a trivial 10-qubit line.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31520"/>
          </a:xfrm>
          <a:prstGeom prst="rect">
            <a:avLst/>
          </a:prstGeom>
          <a:noFill/>
          <a:ln/>
        </p:spPr>
        <p:txBody>
          <a:bodyPr wrap="square" lIns="0" tIns="0" rIns="0" bIns="0" rtlCol="0" anchor="ctr"/>
          <a:lstStyle/>
          <a:p>
            <a:pPr algn="l" indent="0" marL="0">
              <a:buNone/>
            </a:pPr>
            <a:r>
              <a:rPr lang="en-US" sz="3000" b="1" dirty="0">
                <a:solidFill>
                  <a:schemeClr val="tx1"/>
                </a:solidFill>
              </a:rPr>
              <a:t>What changed since the 2026-10-28 walkthrough</a:t>
            </a:r>
            <a:endParaRPr lang="en-US" sz="3000" dirty="0"/>
          </a:p>
        </p:txBody>
      </p:sp>
      <p:sp>
        <p:nvSpPr>
          <p:cNvPr id="4" name="Text 1"/>
          <p:cNvSpPr txBox="1"/>
          <p:nvPr/>
        </p:nvSpPr>
        <p:spPr>
          <a:xfrm>
            <a:off x="548640" y="1371600"/>
            <a:ext cx="5394960" cy="274320"/>
          </a:xfrm>
          <a:prstGeom prst="rect">
            <a:avLst/>
          </a:prstGeom>
          <a:noFill/>
          <a:ln/>
        </p:spPr>
        <p:txBody>
          <a:bodyPr wrap="square" lIns="0" tIns="0" rIns="0" bIns="0" rtlCol="0" anchor="t"/>
          <a:lstStyle/>
          <a:p>
            <a:pPr algn="l" indent="0" marL="0">
              <a:buNone/>
            </a:pPr>
            <a:r>
              <a:rPr lang="en-US" sz="1400" b="1" dirty="0">
                <a:solidFill>
                  <a:schemeClr val="accent1"/>
                </a:solidFill>
              </a:rPr>
              <a:t>Harness</a:t>
            </a:r>
            <a:endParaRPr lang="en-US" sz="1400" dirty="0"/>
          </a:p>
        </p:txBody>
      </p:sp>
      <p:sp>
        <p:nvSpPr>
          <p:cNvPr id="5" name="Text 2"/>
          <p:cNvSpPr txBox="1"/>
          <p:nvPr/>
        </p:nvSpPr>
        <p:spPr>
          <a:xfrm>
            <a:off x="548640" y="1737360"/>
            <a:ext cx="5394960" cy="27432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b="1" dirty="0">
                <a:solidFill>
                  <a:schemeClr val="tx1"/>
                </a:solidFill>
              </a:rPr>
              <a:t>One checkout, two runs. </a:t>
            </a:r>
            <a:pPr indent="0" marL="0">
              <a:lnSpc>
                <a:spcPct val="105000"/>
              </a:lnSpc>
              <a:spcAft>
                <a:spcPts val="600"/>
              </a:spcAft>
              <a:buNone/>
            </a:pPr>
            <a:r>
              <a:rPr lang="en-US" sz="1200" dirty="0">
                <a:solidFill>
                  <a:schemeClr val="tx1"/>
                </a:solidFill>
              </a:rPr>
              <a:t>The two-checkout baseline comparison is gone; the disabled control is the same pipeline with _AbsorbIntoSwaps.run patched to a no-op, so the comparison isolates the pass within revision 6b5145d2e.</a:t>
            </a:r>
            <a:endParaRPr lang="en-US" sz="1200" dirty="0"/>
          </a:p>
          <a:p>
            <a:pPr marL="342900" indent="-342900">
              <a:lnSpc>
                <a:spcPct val="105000"/>
              </a:lnSpc>
              <a:spcAft>
                <a:spcPts val="600"/>
              </a:spcAft>
              <a:buSzPct val="100000"/>
              <a:buChar char="•"/>
            </a:pPr>
            <a:r>
              <a:rPr lang="en-US" sz="1200" b="1" dirty="0">
                <a:solidFill>
                  <a:schemeClr val="tx1"/>
                </a:solidFill>
              </a:rPr>
              <a:t>Effect is now mandatory. </a:t>
            </a:r>
            <a:pPr indent="0" marL="0">
              <a:lnSpc>
                <a:spcPct val="105000"/>
              </a:lnSpc>
              <a:spcAft>
                <a:spcPts val="600"/>
              </a:spcAft>
              <a:buNone/>
            </a:pPr>
            <a:r>
              <a:rPr lang="en-US" sz="1200" dirty="0">
                <a:solidFill>
                  <a:schemeClr val="tx1"/>
                </a:solidFill>
              </a:rPr>
              <a:t>Every case must execute the pass, select at least one move and produce a different gate DAG from the disabled run; coverage records per level summarise this and the reporter recomputes them.</a:t>
            </a:r>
            <a:endParaRPr lang="en-US" sz="1200" dirty="0"/>
          </a:p>
          <a:p>
            <a:pPr marL="342900" indent="-342900">
              <a:lnSpc>
                <a:spcPct val="105000"/>
              </a:lnSpc>
              <a:spcAft>
                <a:spcPts val="600"/>
              </a:spcAft>
              <a:buSzPct val="100000"/>
              <a:buChar char="•"/>
            </a:pPr>
            <a:r>
              <a:rPr lang="en-US" sz="1200" b="1" dirty="0">
                <a:solidFill>
                  <a:schemeClr val="tx1"/>
                </a:solidFill>
              </a:rPr>
              <a:t>Both outputs are checked. </a:t>
            </a:r>
            <a:pPr indent="0" marL="0">
              <a:lnSpc>
                <a:spcPct val="105000"/>
              </a:lnSpc>
              <a:spcAft>
                <a:spcPts val="600"/>
              </a:spcAft>
              <a:buNone/>
            </a:pPr>
            <a:r>
              <a:rPr lang="en-US" sz="1200" dirty="0">
                <a:solidFill>
                  <a:schemeClr val="tx1"/>
                </a:solidFill>
              </a:rPr>
              <a:t>The disabled output must pass the same structural and strict unitary checks; its metrics carry a disabled_ prefix, which gives the gate-count and depth comparison the old suite lacked.</a:t>
            </a:r>
            <a:endParaRPr lang="en-US" sz="1200" dirty="0"/>
          </a:p>
          <a:p>
            <a:pPr marL="342900" indent="-342900">
              <a:lnSpc>
                <a:spcPct val="105000"/>
              </a:lnSpc>
              <a:spcAft>
                <a:spcPts val="600"/>
              </a:spcAft>
              <a:buSzPct val="100000"/>
              <a:buChar char="•"/>
            </a:pPr>
            <a:r>
              <a:rPr lang="en-US" sz="1200" b="1" dirty="0">
                <a:solidFill>
                  <a:schemeClr val="tx1"/>
                </a:solidFill>
              </a:rPr>
              <a:t>Fixtures: 16 → 11. </a:t>
            </a:r>
            <a:pPr indent="0" marL="0">
              <a:lnSpc>
                <a:spcPct val="105000"/>
              </a:lnSpc>
              <a:spcAft>
                <a:spcPts val="600"/>
              </a:spcAft>
              <a:buNone/>
            </a:pPr>
            <a:r>
              <a:rPr lang="en-US" sz="1200" dirty="0">
                <a:solidFill>
                  <a:schemeClr val="tx1"/>
                </a:solidFill>
              </a:rPr>
              <a:t>Five families were removed after the baseline investigation; ring10, bvlike10 and mcx10 were reworked and seven fixtures embedded on wire permutations so that every seed makes a move.</a:t>
            </a:r>
            <a:endParaRPr lang="en-US" sz="1200" dirty="0"/>
          </a:p>
        </p:txBody>
      </p:sp>
      <p:sp>
        <p:nvSpPr>
          <p:cNvPr id="6" name="Text 3"/>
          <p:cNvSpPr txBox="1"/>
          <p:nvPr/>
        </p:nvSpPr>
        <p:spPr>
          <a:xfrm>
            <a:off x="6263640" y="1371600"/>
            <a:ext cx="5394960" cy="274320"/>
          </a:xfrm>
          <a:prstGeom prst="rect">
            <a:avLst/>
          </a:prstGeom>
          <a:noFill/>
          <a:ln/>
        </p:spPr>
        <p:txBody>
          <a:bodyPr wrap="square" lIns="0" tIns="0" rIns="0" bIns="0" rtlCol="0" anchor="t"/>
          <a:lstStyle/>
          <a:p>
            <a:pPr algn="l" indent="0" marL="0">
              <a:buNone/>
            </a:pPr>
            <a:r>
              <a:rPr lang="en-US" sz="1400" b="1" dirty="0">
                <a:solidFill>
                  <a:schemeClr val="accent1"/>
                </a:solidFill>
              </a:rPr>
              <a:t>Evidence and reporting</a:t>
            </a:r>
            <a:endParaRPr lang="en-US" sz="1400" dirty="0"/>
          </a:p>
        </p:txBody>
      </p:sp>
      <p:sp>
        <p:nvSpPr>
          <p:cNvPr id="7" name="Text 4"/>
          <p:cNvSpPr txBox="1"/>
          <p:nvPr/>
        </p:nvSpPr>
        <p:spPr>
          <a:xfrm>
            <a:off x="6263640" y="1737360"/>
            <a:ext cx="5394960" cy="27432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b="1" dirty="0">
                <a:solidFill>
                  <a:schemeClr val="tx1"/>
                </a:solidFill>
              </a:rPr>
              <a:t>Schema 4. </a:t>
            </a:r>
            <a:pPr indent="0" marL="0">
              <a:lnSpc>
                <a:spcPct val="105000"/>
              </a:lnSpc>
              <a:spcAft>
                <a:spcPts val="600"/>
              </a:spcAft>
              <a:buNone/>
            </a:pPr>
            <a:r>
              <a:rPr lang="en-US" sz="1200" dirty="0">
                <a:solidFill>
                  <a:schemeClr val="tx1"/>
                </a:solidFill>
              </a:rPr>
              <a:t>Environment records carry comparison_method = dag and comparison_mode = enabled_vs_disabled; results files from the earlier workflow are rejected.</a:t>
            </a:r>
            <a:endParaRPr lang="en-US" sz="1200" dirty="0"/>
          </a:p>
          <a:p>
            <a:pPr marL="342900" indent="-342900">
              <a:lnSpc>
                <a:spcPct val="105000"/>
              </a:lnSpc>
              <a:spcAft>
                <a:spcPts val="600"/>
              </a:spcAft>
              <a:buSzPct val="100000"/>
              <a:buChar char="•"/>
            </a:pPr>
            <a:r>
              <a:rPr lang="en-US" sz="1200" b="1" dirty="0">
                <a:solidFill>
                  <a:schemeClr val="tx1"/>
                </a:solidFill>
              </a:rPr>
              <a:t>Run-status sentinel. </a:t>
            </a:r>
            <a:pPr indent="0" marL="0">
              <a:lnSpc>
                <a:spcPct val="105000"/>
              </a:lnSpc>
              <a:spcAft>
                <a:spcPts val="600"/>
              </a:spcAft>
              <a:buNone/>
            </a:pPr>
            <a:r>
              <a:rPr lang="en-US" sz="1200" dirty="0">
                <a:solidFill>
                  <a:schemeClr val="tx1"/>
                </a:solidFill>
              </a:rPr>
              <a:t>run_validation.py overwrites the results file with a failing run_status record before loading Qiskit; make_report.py refuses such a file.</a:t>
            </a:r>
            <a:endParaRPr lang="en-US" sz="1200" dirty="0"/>
          </a:p>
          <a:p>
            <a:pPr marL="342900" indent="-342900">
              <a:lnSpc>
                <a:spcPct val="105000"/>
              </a:lnSpc>
              <a:spcAft>
                <a:spcPts val="600"/>
              </a:spcAft>
              <a:buSzPct val="100000"/>
              <a:buChar char="•"/>
            </a:pPr>
            <a:r>
              <a:rPr lang="en-US" sz="1200" b="1" dirty="0">
                <a:solidFill>
                  <a:schemeClr val="tx1"/>
                </a:solidFill>
              </a:rPr>
              <a:t>Stricter reporter. </a:t>
            </a:r>
            <a:pPr indent="0" marL="0">
              <a:lnSpc>
                <a:spcPct val="105000"/>
              </a:lnSpc>
              <a:spcAft>
                <a:spcPts val="600"/>
              </a:spcAft>
              <a:buNone/>
            </a:pPr>
            <a:r>
              <a:rPr lang="en-US" sz="1200" dirty="0">
                <a:solidFill>
                  <a:schemeClr val="tx1"/>
                </a:solidFill>
              </a:rPr>
              <a:t>Case identifiers must be typed (no bools or floats equating to integers), only unique requested cases count, coverage totals are recomputed, and a negative self-check only counts if it names a passing case with a non-identity permutation.</a:t>
            </a:r>
            <a:endParaRPr lang="en-US" sz="1200" dirty="0"/>
          </a:p>
          <a:p>
            <a:pPr marL="342900" indent="-342900">
              <a:lnSpc>
                <a:spcPct val="105000"/>
              </a:lnSpc>
              <a:spcAft>
                <a:spcPts val="600"/>
              </a:spcAft>
              <a:buSzPct val="100000"/>
              <a:buChar char="•"/>
            </a:pPr>
            <a:r>
              <a:rPr lang="en-US" sz="1200" b="1" dirty="0">
                <a:solidFill>
                  <a:schemeClr val="tx1"/>
                </a:solidFill>
              </a:rPr>
              <a:t>Baseline bug documented. </a:t>
            </a:r>
            <a:pPr indent="0" marL="0">
              <a:lnSpc>
                <a:spcPct val="105000"/>
              </a:lnSpc>
              <a:spcAft>
                <a:spcPts val="600"/>
              </a:spcAft>
              <a:buNone/>
            </a:pPr>
            <a:r>
              <a:rPr lang="en-US" sz="1200" dirty="0">
                <a:solidFill>
                  <a:schemeClr val="tx1"/>
                </a:solidFill>
              </a:rPr>
              <a:t>The former baseline's 34 mismatches were a global-phase sign error in TwoQubitBasisDecomposer, fixed upstream in PR #17163; report, reproducer and diagnostics live under bug/.</a:t>
            </a:r>
            <a:endParaRPr lang="en-US" sz="1200" dirty="0"/>
          </a:p>
        </p:txBody>
      </p:sp>
      <p:sp>
        <p:nvSpPr>
          <p:cNvPr id="8" name="Shape 5"/>
          <p:cNvSpPr/>
          <p:nvPr/>
        </p:nvSpPr>
        <p:spPr>
          <a:xfrm>
            <a:off x="548640" y="4663440"/>
            <a:ext cx="11091672" cy="1463040"/>
          </a:xfrm>
          <a:prstGeom prst="roundRect">
            <a:avLst>
              <a:gd name="adj" fmla="val 5000"/>
            </a:avLst>
          </a:prstGeom>
          <a:solidFill>
            <a:schemeClr val="bg2"/>
          </a:solidFill>
          <a:ln w="9525">
            <a:solidFill>
              <a:srgbClr val="C8D0D3"/>
            </a:solidFill>
            <a:prstDash val="solid"/>
          </a:ln>
        </p:spPr>
      </p:sp>
      <p:sp>
        <p:nvSpPr>
          <p:cNvPr id="9" name="Text 6"/>
          <p:cNvSpPr txBox="1"/>
          <p:nvPr/>
        </p:nvSpPr>
        <p:spPr>
          <a:xfrm>
            <a:off x="777240" y="4782312"/>
            <a:ext cx="10607040" cy="274320"/>
          </a:xfrm>
          <a:prstGeom prst="rect">
            <a:avLst/>
          </a:prstGeom>
          <a:noFill/>
          <a:ln/>
        </p:spPr>
        <p:txBody>
          <a:bodyPr wrap="square" lIns="0" tIns="0" rIns="0" bIns="0" rtlCol="0" anchor="t"/>
          <a:lstStyle/>
          <a:p>
            <a:pPr algn="l" indent="0" marL="0">
              <a:buNone/>
            </a:pPr>
            <a:r>
              <a:rPr lang="en-US" sz="1300" b="1" dirty="0">
                <a:solidFill>
                  <a:schemeClr val="accent1"/>
                </a:solidFill>
              </a:rPr>
              <a:t>Working tree on 2026-10-29, when this deck was updated</a:t>
            </a:r>
            <a:endParaRPr lang="en-US" sz="1300" dirty="0"/>
          </a:p>
        </p:txBody>
      </p:sp>
      <p:sp>
        <p:nvSpPr>
          <p:cNvPr id="10" name="Text 7"/>
          <p:cNvSpPr txBox="1"/>
          <p:nvPr/>
        </p:nvSpPr>
        <p:spPr>
          <a:xfrm>
            <a:off x="777240" y="5074920"/>
            <a:ext cx="10607040" cy="960120"/>
          </a:xfrm>
          <a:prstGeom prst="rect">
            <a:avLst/>
          </a:prstGeom>
          <a:noFill/>
          <a:ln/>
        </p:spPr>
        <p:txBody>
          <a:bodyPr wrap="square" lIns="0" tIns="0" rIns="0" bIns="0" rtlCol="0" anchor="t"/>
          <a:lstStyle/>
          <a:p>
            <a:pPr algn="l" indent="0" marL="0">
              <a:lnSpc>
                <a:spcPct val="108000"/>
              </a:lnSpc>
              <a:buNone/>
            </a:pPr>
            <a:r>
              <a:rPr lang="en-US" sz="1200" dirty="0">
                <a:solidFill>
                  <a:schemeClr val="tx1"/>
                </a:solidFill>
              </a:rPr>
              <a:t>Committed: b98dc15 “Refactored to use one Qiskit checkout”, with the recorded run and report. Staged, not yet committed: the run_status sentinel in run_validation.py, the reporter hardening in make_report.py, their unit tests, and README wording. With these changes 48 of 48 unit tests pass, and the committed report.md regenerates byte-identically from results/results.jsonl.</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731520"/>
            <a:ext cx="10515600" cy="914400"/>
          </a:xfrm>
          <a:prstGeom prst="rect">
            <a:avLst/>
          </a:prstGeom>
          <a:noFill/>
          <a:ln/>
        </p:spPr>
        <p:txBody>
          <a:bodyPr wrap="square" lIns="0" tIns="0" rIns="0" bIns="0" rtlCol="0" anchor="ctr"/>
          <a:lstStyle/>
          <a:p>
            <a:pPr algn="l" indent="0" marL="0">
              <a:buNone/>
            </a:pPr>
            <a:r>
              <a:rPr lang="en-US" sz="4000" b="1" dirty="0">
                <a:solidFill>
                  <a:schemeClr val="bg1"/>
                </a:solidFill>
              </a:rPr>
              <a:t>Verification performed</a:t>
            </a:r>
            <a:endParaRPr lang="en-US" sz="4000" dirty="0"/>
          </a:p>
        </p:txBody>
      </p:sp>
      <p:sp>
        <p:nvSpPr>
          <p:cNvPr id="3" name="Shape 1"/>
          <p:cNvSpPr/>
          <p:nvPr/>
        </p:nvSpPr>
        <p:spPr>
          <a:xfrm>
            <a:off x="868680" y="1865376"/>
            <a:ext cx="365760" cy="365760"/>
          </a:xfrm>
          <a:prstGeom prst="ellipse">
            <a:avLst/>
          </a:prstGeom>
          <a:solidFill>
            <a:schemeClr val="accent3"/>
          </a:solidFill>
          <a:ln w="6350">
            <a:solidFill>
              <a:schemeClr val="accent3"/>
            </a:solidFill>
            <a:prstDash val="solid"/>
          </a:ln>
        </p:spPr>
      </p:sp>
      <p:sp>
        <p:nvSpPr>
          <p:cNvPr id="4" name="Text 2"/>
          <p:cNvSpPr txBox="1"/>
          <p:nvPr/>
        </p:nvSpPr>
        <p:spPr>
          <a:xfrm>
            <a:off x="868680" y="186537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 name="Text 3"/>
          <p:cNvSpPr txBox="1"/>
          <p:nvPr/>
        </p:nvSpPr>
        <p:spPr>
          <a:xfrm>
            <a:off x="1417320" y="1828800"/>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Full matrix, 2026-10-29 04:05 UTC: 132 of 132 cases, 4 of 4 negative controls, 10 of 10 focused checks. Every case executed the pass once, made 1 to 51 moves and changed the gate DAG.</a:t>
            </a:r>
            <a:endParaRPr lang="en-US" sz="1400" dirty="0"/>
          </a:p>
        </p:txBody>
      </p:sp>
      <p:sp>
        <p:nvSpPr>
          <p:cNvPr id="6" name="Shape 4"/>
          <p:cNvSpPr/>
          <p:nvPr/>
        </p:nvSpPr>
        <p:spPr>
          <a:xfrm>
            <a:off x="868680" y="2560320"/>
            <a:ext cx="365760" cy="365760"/>
          </a:xfrm>
          <a:prstGeom prst="ellipse">
            <a:avLst/>
          </a:prstGeom>
          <a:solidFill>
            <a:schemeClr val="accent3"/>
          </a:solidFill>
          <a:ln w="6350">
            <a:solidFill>
              <a:schemeClr val="accent3"/>
            </a:solidFill>
            <a:prstDash val="solid"/>
          </a:ln>
        </p:spPr>
      </p:sp>
      <p:sp>
        <p:nvSpPr>
          <p:cNvPr id="7" name="Text 5"/>
          <p:cNvSpPr txBox="1"/>
          <p:nvPr/>
        </p:nvSpPr>
        <p:spPr>
          <a:xfrm>
            <a:off x="868680" y="25603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8" name="Text 6"/>
          <p:cNvSpPr txBox="1"/>
          <p:nvPr/>
        </p:nvSpPr>
        <p:spPr>
          <a:xfrm>
            <a:off x="1417320" y="2523744"/>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Both outputs of every case match the input unitary, global phase included. Enabled and disabled final permutations agree in all 132 cases: the difference is in the gates, not in routing.</a:t>
            </a:r>
            <a:endParaRPr lang="en-US" sz="1400" dirty="0"/>
          </a:p>
        </p:txBody>
      </p:sp>
      <p:sp>
        <p:nvSpPr>
          <p:cNvPr id="9" name="Shape 7"/>
          <p:cNvSpPr/>
          <p:nvPr/>
        </p:nvSpPr>
        <p:spPr>
          <a:xfrm>
            <a:off x="868680" y="3255264"/>
            <a:ext cx="365760" cy="365760"/>
          </a:xfrm>
          <a:prstGeom prst="ellipse">
            <a:avLst/>
          </a:prstGeom>
          <a:solidFill>
            <a:schemeClr val="accent3"/>
          </a:solidFill>
          <a:ln w="6350">
            <a:solidFill>
              <a:schemeClr val="accent3"/>
            </a:solidFill>
            <a:prstDash val="solid"/>
          </a:ln>
        </p:spPr>
      </p:sp>
      <p:sp>
        <p:nvSpPr>
          <p:cNvPr id="10" name="Text 8"/>
          <p:cNvSpPr txBox="1"/>
          <p:nvPr/>
        </p:nvSpPr>
        <p:spPr>
          <a:xfrm>
            <a:off x="868680" y="325526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1" name="Text 9"/>
          <p:cNvSpPr txBox="1"/>
          <p:nvPr/>
        </p:nvSpPr>
        <p:spPr>
          <a:xfrm>
            <a:off x="1417320" y="3218688"/>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Two-qubit gates never increase: 108 of 132 cases improve, 24 are equal (bvlike10, modular_adder10), none get worse; 18 187 → 17 405 per level. Depth is a diagnostic only.</a:t>
            </a:r>
            <a:endParaRPr lang="en-US" sz="1400" dirty="0"/>
          </a:p>
        </p:txBody>
      </p:sp>
      <p:sp>
        <p:nvSpPr>
          <p:cNvPr id="12" name="Shape 10"/>
          <p:cNvSpPr/>
          <p:nvPr/>
        </p:nvSpPr>
        <p:spPr>
          <a:xfrm>
            <a:off x="868680" y="3950208"/>
            <a:ext cx="365760" cy="365760"/>
          </a:xfrm>
          <a:prstGeom prst="ellipse">
            <a:avLst/>
          </a:prstGeom>
          <a:solidFill>
            <a:schemeClr val="accent3"/>
          </a:solidFill>
          <a:ln w="6350">
            <a:solidFill>
              <a:schemeClr val="accent3"/>
            </a:solidFill>
            <a:prstDash val="solid"/>
          </a:ln>
        </p:spPr>
      </p:sp>
      <p:sp>
        <p:nvSpPr>
          <p:cNvPr id="13" name="Text 11"/>
          <p:cNvSpPr txBox="1"/>
          <p:nvPr/>
        </p:nvSpPr>
        <p:spPr>
          <a:xfrm>
            <a:off x="868680" y="395020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4" name="Text 12"/>
          <p:cNvSpPr txBox="1"/>
          <p:nvPr/>
        </p:nvSpPr>
        <p:spPr>
          <a:xfrm>
            <a:off x="1417320" y="3913632"/>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Unit tests: 48 of 48 pass on Python 3.9 and 3.11 with the staged runner and reporter changes; report.md regenerates byte-identically from results/results.jsonl.</a:t>
            </a:r>
            <a:endParaRPr lang="en-US" sz="1400" dirty="0"/>
          </a:p>
        </p:txBody>
      </p:sp>
      <p:sp>
        <p:nvSpPr>
          <p:cNvPr id="15" name="Shape 13"/>
          <p:cNvSpPr/>
          <p:nvPr/>
        </p:nvSpPr>
        <p:spPr>
          <a:xfrm>
            <a:off x="868680" y="4645152"/>
            <a:ext cx="365760" cy="365760"/>
          </a:xfrm>
          <a:prstGeom prst="ellipse">
            <a:avLst/>
          </a:prstGeom>
          <a:solidFill>
            <a:schemeClr val="accent3"/>
          </a:solidFill>
          <a:ln w="6350">
            <a:solidFill>
              <a:schemeClr val="accent3"/>
            </a:solidFill>
            <a:prstDash val="solid"/>
          </a:ln>
        </p:spPr>
      </p:sp>
      <p:sp>
        <p:nvSpPr>
          <p:cNvPr id="16" name="Text 14"/>
          <p:cNvSpPr txBox="1"/>
          <p:nvPr/>
        </p:nvSpPr>
        <p:spPr>
          <a:xfrm>
            <a:off x="868680" y="46451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Text 15"/>
          <p:cNvSpPr txBox="1"/>
          <p:nvPr/>
        </p:nvSpPr>
        <p:spPr>
          <a:xfrm>
            <a:off x="1417320" y="4608576"/>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The loaded extension, SHA-256 627034a6…, is the one rebuilt from source on 2026-10-28; the checkout's HEAD is 6b5145d2e with a clean tree, as the run's provenance guards require.</a:t>
            </a:r>
            <a:endParaRPr lang="en-US" sz="1400" dirty="0"/>
          </a:p>
        </p:txBody>
      </p:sp>
      <p:sp>
        <p:nvSpPr>
          <p:cNvPr id="18" name="Shape 16"/>
          <p:cNvSpPr/>
          <p:nvPr/>
        </p:nvSpPr>
        <p:spPr>
          <a:xfrm>
            <a:off x="868680" y="5340096"/>
            <a:ext cx="365760" cy="365760"/>
          </a:xfrm>
          <a:prstGeom prst="ellipse">
            <a:avLst/>
          </a:prstGeom>
          <a:solidFill>
            <a:schemeClr val="accent3"/>
          </a:solidFill>
          <a:ln w="6350">
            <a:solidFill>
              <a:schemeClr val="accent3"/>
            </a:solidFill>
            <a:prstDash val="solid"/>
          </a:ln>
        </p:spPr>
      </p:sp>
      <p:sp>
        <p:nvSpPr>
          <p:cNvPr id="19" name="Text 17"/>
          <p:cNvSpPr txBox="1"/>
          <p:nvPr/>
        </p:nvSpPr>
        <p:spPr>
          <a:xfrm>
            <a:off x="868680" y="53400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0" name="Text 18"/>
          <p:cNvSpPr txBox="1"/>
          <p:nvPr/>
        </p:nvSpPr>
        <p:spPr>
          <a:xfrm>
            <a:off x="1417320" y="5303520"/>
            <a:ext cx="9966960" cy="603504"/>
          </a:xfrm>
          <a:prstGeom prst="rect">
            <a:avLst/>
          </a:prstGeom>
          <a:noFill/>
          <a:ln/>
        </p:spPr>
        <p:txBody>
          <a:bodyPr wrap="square" lIns="0" tIns="0" rIns="0" bIns="0" rtlCol="0" anchor="ctr"/>
          <a:lstStyle/>
          <a:p>
            <a:pPr algn="l" indent="0" marL="0">
              <a:lnSpc>
                <a:spcPct val="105000"/>
              </a:lnSpc>
              <a:buNone/>
            </a:pPr>
            <a:r>
              <a:rPr lang="en-US" sz="1400" dirty="0">
                <a:solidFill>
                  <a:schemeClr val="bg1"/>
                </a:solidFill>
              </a:rPr>
              <a:t>Qiskit's own tests for the pass and the commutation checker (147 of 147) and a strict-equality copy of test_swap_absorption.py (43 of 43) passed against this extension on 2026-10-28.</a:t>
            </a:r>
            <a:endParaRPr lang="en-US" sz="1400" dirty="0"/>
          </a:p>
        </p:txBody>
      </p:sp>
    </p:spTree>
  </p:cSld>
  <p:clrMapOvr>
    <a:masterClrMapping/>
  </p:clrMapOvr>
</p:sld>
</file>

<file path=ppt/theme/theme1.xml><?xml version="1.0" encoding="utf-8"?>
<a:theme xmlns:a="http://schemas.openxmlformats.org/drawingml/2006/main" name="Swap Absorption">
  <a:themeElements>
    <a:clrScheme name="Swap Absorption">
      <a:dk1>
        <a:srgbClr val="1A1F23"/>
      </a:dk1>
      <a:lt1>
        <a:srgbClr val="FFFFFF"/>
      </a:lt1>
      <a:dk2>
        <a:srgbClr val="5B6670"/>
      </a:dk2>
      <a:lt2>
        <a:srgbClr val="F4F6F5"/>
      </a:lt2>
      <a:accent1>
        <a:srgbClr val="0E6B86"/>
      </a:accent1>
      <a:accent2>
        <a:srgbClr val="B5641B"/>
      </a:accent2>
      <a:accent3>
        <a:srgbClr val="2A7A4B"/>
      </a:accent3>
      <a:accent4>
        <a:srgbClr val="B3261E"/>
      </a:accent4>
      <a:accent5>
        <a:srgbClr val="D8EBF1"/>
      </a:accent5>
      <a:accent6>
        <a:srgbClr val="F7E5D2"/>
      </a:accent6>
      <a:hlink>
        <a:srgbClr val="0E6B86"/>
      </a:hlink>
      <a:folHlink>
        <a:srgbClr val="5B6670"/>
      </a:folHlink>
    </a:clrScheme>
    <a:fontScheme name="Swap Absorp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SWAP-Absorption Validation</dc:title>
  <dc:subject>How the validation harness works and what it proves</dc:subject>
  <dc:creator>ophir</dc:creator>
  <cp:lastModifiedBy>ophir</cp:lastModifiedBy>
  <cp:revision>1</cp:revision>
  <dcterms:created xsi:type="dcterms:W3CDTF">2026-10-29T04:38:42Z</dcterms:created>
  <dcterms:modified xsi:type="dcterms:W3CDTF">2026-10-29T04:38:42Z</dcterms:modified>
</cp:coreProperties>
</file>