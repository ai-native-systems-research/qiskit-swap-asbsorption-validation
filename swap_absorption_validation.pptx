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cd55383-c771-01fc-96f0-5d25f88b3b83}">
          <p14:sldIdLst>
            <p14:sldId id="256"/>
            <p14:sldId id="257"/>
          </p14:sldIdLst>
        </p14:section>
        <p14:section name="The pass" id="{e41072f1-3bbc-099f-946f-5416fe336013}">
          <p14:sldIdLst>
            <p14:sldId id="258"/>
            <p14:sldId id="259"/>
          </p14:sldIdLst>
        </p14:section>
        <p14:section name="Provenance" id="{9668978e-fd21-70d0-ef77-f3f67cddbfc5}">
          <p14:sldIdLst>
            <p14:sldId id="260"/>
            <p14:sldId id="261"/>
          </p14:sldIdLst>
        </p14:section>
        <p14:section name="How a case runs" id="{38ea5125-7539-9992-fc96-aa4932b2bb04}">
          <p14:sldIdLst>
            <p14:sldId id="262"/>
            <p14:sldId id="263"/>
            <p14:sldId id="264"/>
          </p14:sldIdLst>
        </p14:section>
        <p14:section name="The checks" id="{f2a851c0-d03a-2ee8-f684-058a2a83e238}">
          <p14:sldIdLst>
            <p14:sldId id="265"/>
            <p14:sldId id="266"/>
            <p14:sldId id="267"/>
            <p14:sldId id="268"/>
            <p14:sldId id="269"/>
          </p14:sldIdLst>
        </p14:section>
        <p14:section name="Evidence" id="{85e80212-4b33-45eb-4091-83b184c05530}">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walks through what the validation repository checks, how one case runs, why the comparison is strict equality, and how the recorded evidence is tied to the exact revision and compiled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narrow and strong: the complete preset pipeline, with the new pass in it, produces circuits whose full unitary equals the input's, global phase included, once the layout is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swaps cost three CX each; a swap followed by an interaction on the same pair can be synthesized together more cheaply. The pass moves the interaction exactly, across operations it commutes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harness never calls the pass directly in the main matrix. It builds the real preset pass manager and lets the pass run where users meet it: first task of the translation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Python environment can substitute for the checkout: the venv has no qiskit package at all. The runner puts the checkout first on sys.path and checks, before building a circuit, that it imported exactly that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Rebuilding from the current source reproduced the exact binary the recorded validation had loaded, so the committed results already describe the Rust code at this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case is one fixture, one seed and one level. It is recorded whether it passes or not; a fixture that fails to build is recorded as failing for every seed instead of aborting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 pin layout and routing so the final permutation comes from routing alone, demand exact synthesis, and require correctness for arbitrary input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algorithms and random circuits together, so the pass meets diagonal interactions, CX-rich arithmetic, explicit swaps in the input and Haar-random two-qubit unitaries.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reviewer asked for assertEqual instead of equiv. The repository already compares with ==, which includes global phase; this slide shows what each comparison certifies.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comparison in the repository is strict, and from_circuit is what makes the comparison layout-aware.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that can never fail proves nothing, so a passing case with a real permutation is broken twice, and both breaks must be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checks pin down the preset placement and the four kinds of unit the pass moves, independently of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guards: a non-commuting gate, a barrier, a terminal wire, and an intervening swap each block the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reporter treats the results file as evidence to audit: it recomputes totals and refuses PASS unless the records form exactly the expected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from the repository folder. The validation needs the checkout to be built; the reporter and the unit tests need only a standard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from-scratch review found the correctness logic sound; the changes close the two gaps the review and the two questions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was run on 2026-10-28 on the machine that holds both checkouts.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SWAP-Absorption Validation  ·  2026-10-28</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A1F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74520"/>
            <a:ext cx="105156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A1F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73152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274320"/>
          </a:xfrm>
          <a:prstGeom prst="rect">
            <a:avLst/>
          </a:prstGeom>
          <a:noFill/>
          <a:ln/>
        </p:spPr>
        <p:txBody>
          <a:bodyPr wrap="square" lIns="0" tIns="0" rIns="0" bIns="0" rtlCol="0" anchor="t"/>
          <a:lstStyle/>
          <a:p>
            <a:pPr algn="l" indent="0" marL="0">
              <a:buNone/>
            </a:pPr>
            <a:r>
              <a:rPr lang="en-US" sz="1100" b="1" dirty="0">
                <a:solidFill>
                  <a:schemeClr val="accent5"/>
                </a:solidFill>
              </a:rPr>
              <a:t>REPOSITORY WALKTHROUGH</a:t>
            </a:r>
            <a:endParaRPr lang="en-US" sz="1100" dirty="0"/>
          </a:p>
        </p:txBody>
      </p:sp>
      <p:sp>
        <p:nvSpPr>
          <p:cNvPr id="3" name="Text 0"/>
          <p:cNvSpPr/>
          <p:nvPr>
            <p:ph idx="100" type="title" hasCustomPrompt="1"/>
          </p:nvPr>
        </p:nvSpPr>
        <p:spPr>
          <a:xfrm>
            <a:off x="822960" y="1874520"/>
            <a:ext cx="10515600" cy="914400"/>
          </a:xfrm>
          <a:prstGeom prst="rect">
            <a:avLst/>
          </a:prstGeom>
          <a:noFill/>
          <a:ln/>
        </p:spPr>
        <p:txBody>
          <a:bodyPr wrap="square" lIns="0" tIns="0" rIns="0" bIns="0" rtlCol="0" anchor="ctr"/>
          <a:lstStyle/>
          <a:p>
            <a:pPr algn="l" indent="0" marL="0">
              <a:buNone/>
            </a:pPr>
            <a:r>
              <a:rPr lang="en-US" sz="4400" b="1" dirty="0">
                <a:solidFill>
                  <a:schemeClr val="bg1"/>
                </a:solidFill>
              </a:rPr>
              <a:t>SWAP-Absorption Validation</a:t>
            </a:r>
            <a:endParaRPr lang="en-US" sz="4400" dirty="0"/>
          </a:p>
        </p:txBody>
      </p:sp>
      <p:sp>
        <p:nvSpPr>
          <p:cNvPr id="4" name="Text 2"/>
          <p:cNvSpPr txBox="1"/>
          <p:nvPr/>
        </p:nvSpPr>
        <p:spPr>
          <a:xfrm>
            <a:off x="822960" y="2926080"/>
            <a:ext cx="8778240" cy="1005840"/>
          </a:xfrm>
          <a:prstGeom prst="rect">
            <a:avLst/>
          </a:prstGeom>
          <a:noFill/>
          <a:ln/>
        </p:spPr>
        <p:txBody>
          <a:bodyPr wrap="square" lIns="0" tIns="0" rIns="0" bIns="0" rtlCol="0" anchor="t"/>
          <a:lstStyle/>
          <a:p>
            <a:pPr algn="l" indent="0" marL="0">
              <a:lnSpc>
                <a:spcPct val="110000"/>
              </a:lnSpc>
              <a:buNone/>
            </a:pPr>
            <a:r>
              <a:rPr lang="en-US" sz="1800" dirty="0">
                <a:solidFill>
                  <a:schemeClr val="accent5"/>
                </a:solidFill>
              </a:rPr>
              <a:t>How the validation harness proves that Qiskit's swap-absorption pass keeps the preset transpilation pipeline exact, and how its evidence ties back to the exact code it tested.</a:t>
            </a:r>
            <a:endParaRPr lang="en-US" sz="1800" dirty="0"/>
          </a:p>
        </p:txBody>
      </p:sp>
      <p:sp>
        <p:nvSpPr>
          <p:cNvPr id="5" name="Shape 3"/>
          <p:cNvSpPr/>
          <p:nvPr/>
        </p:nvSpPr>
        <p:spPr>
          <a:xfrm>
            <a:off x="822960" y="4343400"/>
            <a:ext cx="2057400" cy="365760"/>
          </a:xfrm>
          <a:prstGeom prst="roundRect">
            <a:avLst>
              <a:gd name="adj" fmla="val 50000"/>
            </a:avLst>
          </a:prstGeom>
          <a:solidFill>
            <a:schemeClr val="accent3"/>
          </a:solidFill>
          <a:ln w="12700">
            <a:solidFill>
              <a:schemeClr val="accent3"/>
            </a:solidFill>
            <a:prstDash val="solid"/>
          </a:ln>
        </p:spPr>
      </p:sp>
      <p:sp>
        <p:nvSpPr>
          <p:cNvPr id="6" name="Text 4"/>
          <p:cNvSpPr txBox="1"/>
          <p:nvPr/>
        </p:nvSpPr>
        <p:spPr>
          <a:xfrm>
            <a:off x="822960" y="4343400"/>
            <a:ext cx="2057400" cy="365760"/>
          </a:xfrm>
          <a:prstGeom prst="rect">
            <a:avLst/>
          </a:prstGeom>
          <a:noFill/>
          <a:ln/>
        </p:spPr>
        <p:txBody>
          <a:bodyPr wrap="square" lIns="0" tIns="0" rIns="0" bIns="0" rtlCol="0" anchor="ctr"/>
          <a:lstStyle/>
          <a:p>
            <a:pPr algn="ctr" indent="0" marL="0">
              <a:buNone/>
            </a:pPr>
            <a:r>
              <a:rPr lang="en-US" sz="1200" b="1" dirty="0">
                <a:solidFill>
                  <a:schemeClr val="bg1"/>
                </a:solidFill>
              </a:rPr>
              <a:t>PASS 192 / 192 cases</a:t>
            </a:r>
            <a:endParaRPr lang="en-US" sz="1200" dirty="0"/>
          </a:p>
        </p:txBody>
      </p:sp>
      <p:sp>
        <p:nvSpPr>
          <p:cNvPr id="7" name="Shape 5"/>
          <p:cNvSpPr/>
          <p:nvPr/>
        </p:nvSpPr>
        <p:spPr>
          <a:xfrm>
            <a:off x="3044952" y="4343400"/>
            <a:ext cx="1828800" cy="365760"/>
          </a:xfrm>
          <a:prstGeom prst="roundRect">
            <a:avLst>
              <a:gd name="adj" fmla="val 50000"/>
            </a:avLst>
          </a:prstGeom>
          <a:solidFill>
            <a:srgbClr val="1A1F23"/>
          </a:solidFill>
          <a:ln w="12700">
            <a:solidFill>
              <a:schemeClr val="accent5"/>
            </a:solidFill>
            <a:prstDash val="solid"/>
          </a:ln>
        </p:spPr>
      </p:sp>
      <p:sp>
        <p:nvSpPr>
          <p:cNvPr id="8" name="Text 6"/>
          <p:cNvSpPr txBox="1"/>
          <p:nvPr/>
        </p:nvSpPr>
        <p:spPr>
          <a:xfrm>
            <a:off x="3044952" y="4343400"/>
            <a:ext cx="1828800" cy="365760"/>
          </a:xfrm>
          <a:prstGeom prst="rect">
            <a:avLst/>
          </a:prstGeom>
          <a:noFill/>
          <a:ln/>
        </p:spPr>
        <p:txBody>
          <a:bodyPr wrap="square" lIns="0" tIns="0" rIns="0" bIns="0" rtlCol="0" anchor="ctr"/>
          <a:lstStyle/>
          <a:p>
            <a:pPr algn="ctr" indent="0" marL="0">
              <a:buNone/>
            </a:pPr>
            <a:r>
              <a:rPr lang="en-US" sz="1200" dirty="0">
                <a:solidFill>
                  <a:schemeClr val="accent5"/>
                </a:solidFill>
              </a:rPr>
              <a:t>Revision 6b5145d2e</a:t>
            </a:r>
            <a:endParaRPr lang="en-US" sz="1200" dirty="0"/>
          </a:p>
        </p:txBody>
      </p:sp>
      <p:sp>
        <p:nvSpPr>
          <p:cNvPr id="9" name="Shape 7"/>
          <p:cNvSpPr/>
          <p:nvPr/>
        </p:nvSpPr>
        <p:spPr>
          <a:xfrm>
            <a:off x="5038344" y="4343400"/>
            <a:ext cx="2377440" cy="365760"/>
          </a:xfrm>
          <a:prstGeom prst="roundRect">
            <a:avLst>
              <a:gd name="adj" fmla="val 50000"/>
            </a:avLst>
          </a:prstGeom>
          <a:solidFill>
            <a:srgbClr val="1A1F23"/>
          </a:solidFill>
          <a:ln w="12700">
            <a:solidFill>
              <a:schemeClr val="accent5"/>
            </a:solidFill>
            <a:prstDash val="solid"/>
          </a:ln>
        </p:spPr>
      </p:sp>
      <p:sp>
        <p:nvSpPr>
          <p:cNvPr id="10" name="Text 8"/>
          <p:cNvSpPr txBox="1"/>
          <p:nvPr/>
        </p:nvSpPr>
        <p:spPr>
          <a:xfrm>
            <a:off x="5038344" y="4343400"/>
            <a:ext cx="2377440" cy="365760"/>
          </a:xfrm>
          <a:prstGeom prst="rect">
            <a:avLst/>
          </a:prstGeom>
          <a:noFill/>
          <a:ln/>
        </p:spPr>
        <p:txBody>
          <a:bodyPr wrap="square" lIns="0" tIns="0" rIns="0" bIns="0" rtlCol="0" anchor="ctr"/>
          <a:lstStyle/>
          <a:p>
            <a:pPr algn="ctr" indent="0" marL="0">
              <a:buNone/>
            </a:pPr>
            <a:r>
              <a:rPr lang="en-US" sz="1200" dirty="0">
                <a:solidFill>
                  <a:schemeClr val="accent5"/>
                </a:solidFill>
              </a:rPr>
              <a:t>Qiskit 2.7.0.dev0+6b5145d</a:t>
            </a:r>
            <a:endParaRPr lang="en-US" sz="1200" dirty="0"/>
          </a:p>
        </p:txBody>
      </p:sp>
      <p:sp>
        <p:nvSpPr>
          <p:cNvPr id="11" name="Shape 9"/>
          <p:cNvSpPr/>
          <p:nvPr/>
        </p:nvSpPr>
        <p:spPr>
          <a:xfrm>
            <a:off x="7580376" y="4343400"/>
            <a:ext cx="1463040" cy="365760"/>
          </a:xfrm>
          <a:prstGeom prst="roundRect">
            <a:avLst>
              <a:gd name="adj" fmla="val 50000"/>
            </a:avLst>
          </a:prstGeom>
          <a:solidFill>
            <a:srgbClr val="1A1F23"/>
          </a:solidFill>
          <a:ln w="12700">
            <a:solidFill>
              <a:schemeClr val="accent5"/>
            </a:solidFill>
            <a:prstDash val="solid"/>
          </a:ln>
        </p:spPr>
      </p:sp>
      <p:sp>
        <p:nvSpPr>
          <p:cNvPr id="12" name="Text 10"/>
          <p:cNvSpPr txBox="1"/>
          <p:nvPr/>
        </p:nvSpPr>
        <p:spPr>
          <a:xfrm>
            <a:off x="7580376" y="4343400"/>
            <a:ext cx="1463040" cy="365760"/>
          </a:xfrm>
          <a:prstGeom prst="rect">
            <a:avLst/>
          </a:prstGeom>
          <a:noFill/>
          <a:ln/>
        </p:spPr>
        <p:txBody>
          <a:bodyPr wrap="square" lIns="0" tIns="0" rIns="0" bIns="0" rtlCol="0" anchor="ctr"/>
          <a:lstStyle/>
          <a:p>
            <a:pPr algn="ctr" indent="0" marL="0">
              <a:buNone/>
            </a:pPr>
            <a:r>
              <a:rPr lang="en-US" sz="1200" dirty="0">
                <a:solidFill>
                  <a:schemeClr val="accent5"/>
                </a:solidFill>
              </a:rPr>
              <a:t>Python 3.11.8</a:t>
            </a:r>
            <a:endParaRPr lang="en-US" sz="1200" dirty="0"/>
          </a:p>
        </p:txBody>
      </p:sp>
      <p:sp>
        <p:nvSpPr>
          <p:cNvPr id="13" name="Shape 11"/>
          <p:cNvSpPr/>
          <p:nvPr/>
        </p:nvSpPr>
        <p:spPr>
          <a:xfrm>
            <a:off x="9208008" y="4343400"/>
            <a:ext cx="1920240" cy="365760"/>
          </a:xfrm>
          <a:prstGeom prst="roundRect">
            <a:avLst>
              <a:gd name="adj" fmla="val 50000"/>
            </a:avLst>
          </a:prstGeom>
          <a:solidFill>
            <a:srgbClr val="1A1F23"/>
          </a:solidFill>
          <a:ln w="12700">
            <a:solidFill>
              <a:schemeClr val="accent5"/>
            </a:solidFill>
            <a:prstDash val="solid"/>
          </a:ln>
        </p:spPr>
      </p:sp>
      <p:sp>
        <p:nvSpPr>
          <p:cNvPr id="14" name="Text 12"/>
          <p:cNvSpPr txBox="1"/>
          <p:nvPr/>
        </p:nvSpPr>
        <p:spPr>
          <a:xfrm>
            <a:off x="9208008" y="4343400"/>
            <a:ext cx="1920240" cy="365760"/>
          </a:xfrm>
          <a:prstGeom prst="rect">
            <a:avLst/>
          </a:prstGeom>
          <a:noFill/>
          <a:ln/>
        </p:spPr>
        <p:txBody>
          <a:bodyPr wrap="square" lIns="0" tIns="0" rIns="0" bIns="0" rtlCol="0" anchor="ctr"/>
          <a:lstStyle/>
          <a:p>
            <a:pPr algn="ctr" indent="0" marL="0">
              <a:buNone/>
            </a:pPr>
            <a:r>
              <a:rPr lang="en-US" sz="1200" dirty="0">
                <a:solidFill>
                  <a:schemeClr val="accent5"/>
                </a:solidFill>
              </a:rPr>
              <a:t>Extension 627034a6…</a:t>
            </a:r>
            <a:endParaRPr lang="en-US" sz="1200" dirty="0"/>
          </a:p>
        </p:txBody>
      </p:sp>
      <p:sp>
        <p:nvSpPr>
          <p:cNvPr id="15" name="Text 13"/>
          <p:cNvSpPr txBox="1"/>
          <p:nvPr/>
        </p:nvSpPr>
        <p:spPr>
          <a:xfrm>
            <a:off x="822960" y="5943600"/>
            <a:ext cx="10515600" cy="274320"/>
          </a:xfrm>
          <a:prstGeom prst="rect">
            <a:avLst/>
          </a:prstGeom>
          <a:noFill/>
          <a:ln/>
        </p:spPr>
        <p:txBody>
          <a:bodyPr wrap="square" lIns="0" tIns="0" rIns="0" bIns="0" rtlCol="0" anchor="t"/>
          <a:lstStyle/>
          <a:p>
            <a:pPr algn="l" indent="0" marL="0">
              <a:buNone/>
            </a:pPr>
            <a:r>
              <a:rPr lang="en-US" sz="1100" dirty="0">
                <a:solidFill>
                  <a:schemeClr val="tx2"/>
                </a:solidFill>
              </a:rPr>
              <a:t>Harness: qiskit-swap-absorption-validation-simplified  ·  Code under test: ../qiskit-swap-absorption  ·  Run: 2026-10-28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What the repository proves</a:t>
            </a:r>
            <a:endParaRPr lang="en-US" sz="3000" dirty="0"/>
          </a:p>
        </p:txBody>
      </p:sp>
      <p:sp>
        <p:nvSpPr>
          <p:cNvPr id="4" name="Text 1"/>
          <p:cNvSpPr txBox="1"/>
          <p:nvPr/>
        </p:nvSpPr>
        <p:spPr>
          <a:xfrm>
            <a:off x="548640" y="1371600"/>
            <a:ext cx="5212080" cy="173736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Qiskit's preset pass managers at optimization levels 2 and 3 now start their translation stage with _AbsorbIntoSwaps. The pass moves a two-qubit interaction next to a routing swap on the same qubit pair so that two-qubit synthesis can merge the two into one block.</a:t>
            </a:r>
            <a:endParaRPr lang="en-US" sz="1500" dirty="0"/>
          </a:p>
        </p:txBody>
      </p:sp>
      <p:sp>
        <p:nvSpPr>
          <p:cNvPr id="5" name="Text 2"/>
          <p:cNvSpPr txBox="1"/>
          <p:nvPr/>
        </p:nvSpPr>
        <p:spPr>
          <a:xfrm>
            <a:off x="548640" y="3154680"/>
            <a:ext cx="5212080" cy="137160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This repository checks that the complete preset pipeline with that pass still produces circuits with exactly the same unitary as their input, global phase included, once the qubit layout is accounted for.</a:t>
            </a:r>
            <a:endParaRPr lang="en-US" sz="1500" dirty="0"/>
          </a:p>
        </p:txBody>
      </p:sp>
      <p:sp>
        <p:nvSpPr>
          <p:cNvPr id="6" name="Text 3"/>
          <p:cNvSpPr txBox="1"/>
          <p:nvPr/>
        </p:nvSpPr>
        <p:spPr>
          <a:xfrm>
            <a:off x="548640" y="4617720"/>
            <a:ext cx="5212080" cy="1371600"/>
          </a:xfrm>
          <a:prstGeom prst="rect">
            <a:avLst/>
          </a:prstGeom>
          <a:noFill/>
          <a:ln/>
        </p:spPr>
        <p:txBody>
          <a:bodyPr wrap="square" lIns="0" tIns="0" rIns="0" bIns="0" rtlCol="0" anchor="t"/>
          <a:lstStyle/>
          <a:p>
            <a:pPr algn="l" indent="0" marL="0">
              <a:lnSpc>
                <a:spcPct val="110000"/>
              </a:lnSpc>
              <a:buNone/>
            </a:pPr>
            <a:r>
              <a:rPr lang="en-US" sz="1300" dirty="0">
                <a:solidFill>
                  <a:schemeClr val="tx2"/>
                </a:solidFill>
              </a:rPr>
              <a:t>A correctness suite for the integration, not a benchmark and not a proof: 16 ten-qubit circuits, six transpiler seeds, both levels, negative controls that must fail, and focused checks of the pass's own rules.</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126480" y="1371600"/>
          <a:ext cx="5513832" cy="914400"/>
        </p:xfrm>
        <a:graphic>
          <a:graphicData uri="http://schemas.openxmlformats.org/drawingml/2006/table">
            <a:tbl>
              <a:tblPr/>
              <a:tblGrid>
                <a:gridCol w="3291840"/>
                <a:gridCol w="2221992"/>
              </a:tblGrid>
              <a:tr h="0">
                <a:tc>
                  <a:txBody>
                    <a:bodyPr/>
                    <a:lstStyle/>
                    <a:p>
                      <a:pPr indent="0" marL="0">
                        <a:buNone/>
                      </a:pPr>
                      <a:r>
                        <a:rPr lang="en-US" sz="1050" b="1" dirty="0">
                          <a:solidFill>
                            <a:schemeClr val="tx2"/>
                          </a:solidFill>
                        </a:rPr>
                        <a:t>Check</a:t>
                      </a: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50" b="1" dirty="0">
                          <a:solidFill>
                            <a:schemeClr val="tx2"/>
                          </a:solidFill>
                        </a:rPr>
                        <a:t>Recorded result</a:t>
                      </a: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0">
                <a:tc>
                  <a:txBody>
                    <a:bodyPr/>
                    <a:lstStyle/>
                    <a:p>
                      <a:pPr indent="0" marL="0">
                        <a:buNone/>
                      </a:pPr>
                      <a:r>
                        <a:rPr lang="en-US" sz="1250" dirty="0">
                          <a:solidFill>
                            <a:schemeClr val="tx1"/>
                          </a:solidFill>
                        </a:rPr>
                        <a:t>Full-pipeline cases (16 circuits × 6 seeds × 2 levels)</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b="1" dirty="0">
                          <a:solidFill>
                            <a:schemeClr val="accent3"/>
                          </a:solidFill>
                        </a:rPr>
                        <a:t>192 / 192 pass</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50" dirty="0">
                          <a:solidFill>
                            <a:schemeClr val="tx1"/>
                          </a:solidFill>
                        </a:rPr>
                        <a:t>Negative self-checks (two per level, must be detected)</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b="1" dirty="0">
                          <a:solidFill>
                            <a:schemeClr val="accent3"/>
                          </a:solidFill>
                        </a:rPr>
                        <a:t>4 / 4 detected</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50" dirty="0">
                          <a:solidFill>
                            <a:schemeClr val="tx1"/>
                          </a:solidFill>
                        </a:rPr>
                        <a:t>Focused checks of the pass and its preset placement</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b="1" dirty="0">
                          <a:solidFill>
                            <a:schemeClr val="accent3"/>
                          </a:solidFill>
                        </a:rPr>
                        <a:t>10 / 10 pass</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50" dirty="0">
                          <a:solidFill>
                            <a:schemeClr val="tx1"/>
                          </a:solidFill>
                        </a:rPr>
                        <a:t>Pass executions observed</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96 per level, one per case</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50" dirty="0">
                          <a:solidFill>
                            <a:schemeClr val="tx1"/>
                          </a:solidFill>
                        </a:rPr>
                        <a:t>Cases in which the pass selected at least one move</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42 of 96 per level</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50" dirty="0">
                          <a:solidFill>
                            <a:schemeClr val="tx1"/>
                          </a:solidFill>
                        </a:rPr>
                        <a:t>Moves selected in total</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410 per level</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50" dirty="0">
                          <a:solidFill>
                            <a:schemeClr val="tx1"/>
                          </a:solidFill>
                        </a:rPr>
                        <a:t>Outputs ending with a non-identity qubit permutation</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154 of 192</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sp>
        <p:nvSpPr>
          <p:cNvPr id="8" name="Text 4"/>
          <p:cNvSpPr txBox="1"/>
          <p:nvPr/>
        </p:nvSpPr>
        <p:spPr>
          <a:xfrm>
            <a:off x="6126480" y="4937760"/>
            <a:ext cx="5513832" cy="914400"/>
          </a:xfrm>
          <a:prstGeom prst="rect">
            <a:avLst/>
          </a:prstGeom>
          <a:noFill/>
          <a:ln/>
        </p:spPr>
        <p:txBody>
          <a:bodyPr wrap="square" lIns="0" tIns="0" rIns="0" bIns="0" rtlCol="0" anchor="t"/>
          <a:lstStyle/>
          <a:p>
            <a:pPr algn="l" indent="0" marL="0">
              <a:lnSpc>
                <a:spcPct val="110000"/>
              </a:lnSpc>
              <a:buNone/>
            </a:pPr>
            <a:r>
              <a:rPr lang="en-US" sz="1150" dirty="0">
                <a:solidFill>
                  <a:schemeClr val="tx2"/>
                </a:solidFill>
              </a:rPr>
              <a:t>Every number comes from results/results.jsonl. report.md is regenerated from that file and refuses to say PASS unless the case matrix is complete and every record passed.</a:t>
            </a:r>
            <a:endParaRPr lang="en-US" sz="11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The pass under test</a:t>
            </a:r>
            <a:endParaRPr lang="en-US" sz="3000" dirty="0"/>
          </a:p>
        </p:txBody>
      </p:sp>
      <p:sp>
        <p:nvSpPr>
          <p:cNvPr id="4" name="Text 1"/>
          <p:cNvSpPr txBox="1"/>
          <p:nvPr/>
        </p:nvSpPr>
        <p:spPr>
          <a:xfrm>
            <a:off x="640080" y="1280160"/>
            <a:ext cx="4846320" cy="274320"/>
          </a:xfrm>
          <a:prstGeom prst="rect">
            <a:avLst/>
          </a:prstGeom>
          <a:noFill/>
          <a:ln/>
        </p:spPr>
        <p:txBody>
          <a:bodyPr wrap="square" lIns="0" tIns="0" rIns="0" bIns="0" rtlCol="0" anchor="ctr"/>
          <a:lstStyle/>
          <a:p>
            <a:pPr algn="ctr" indent="0" marL="0">
              <a:buNone/>
            </a:pPr>
            <a:r>
              <a:rPr lang="en-US" sz="1300" b="1" dirty="0">
                <a:solidFill>
                  <a:schemeClr val="tx1"/>
                </a:solidFill>
              </a:rPr>
              <a:t>Before the pass</a:t>
            </a:r>
            <a:endParaRPr lang="en-US" sz="1300" dirty="0"/>
          </a:p>
        </p:txBody>
      </p:sp>
      <p:sp>
        <p:nvSpPr>
          <p:cNvPr id="5" name="Text 2"/>
          <p:cNvSpPr txBox="1"/>
          <p:nvPr/>
        </p:nvSpPr>
        <p:spPr>
          <a:xfrm>
            <a:off x="6309360" y="1280160"/>
            <a:ext cx="4846320" cy="274320"/>
          </a:xfrm>
          <a:prstGeom prst="rect">
            <a:avLst/>
          </a:prstGeom>
          <a:noFill/>
          <a:ln/>
        </p:spPr>
        <p:txBody>
          <a:bodyPr wrap="square" lIns="0" tIns="0" rIns="0" bIns="0" rtlCol="0" anchor="ctr"/>
          <a:lstStyle/>
          <a:p>
            <a:pPr algn="ctr" indent="0" marL="0">
              <a:buNone/>
            </a:pPr>
            <a:r>
              <a:rPr lang="en-US" sz="1300" b="1" dirty="0">
                <a:solidFill>
                  <a:schemeClr val="tx1"/>
                </a:solidFill>
              </a:rPr>
              <a:t>After the pass</a:t>
            </a:r>
            <a:endParaRPr lang="en-US" sz="1300" dirty="0"/>
          </a:p>
        </p:txBody>
      </p:sp>
      <p:sp>
        <p:nvSpPr>
          <p:cNvPr id="6" name="Shape 3"/>
          <p:cNvSpPr/>
          <p:nvPr/>
        </p:nvSpPr>
        <p:spPr>
          <a:xfrm>
            <a:off x="6949440" y="1536192"/>
            <a:ext cx="1371600" cy="1097280"/>
          </a:xfrm>
          <a:prstGeom prst="roundRect">
            <a:avLst>
              <a:gd name="adj" fmla="val 8333"/>
            </a:avLst>
          </a:prstGeom>
          <a:solidFill>
            <a:schemeClr val="accent5"/>
          </a:solidFill>
          <a:ln w="12700">
            <a:solidFill>
              <a:schemeClr val="accent1"/>
            </a:solidFill>
            <a:prstDash val="dash"/>
          </a:ln>
        </p:spPr>
      </p:sp>
      <p:sp>
        <p:nvSpPr>
          <p:cNvPr id="7" name="Text 4"/>
          <p:cNvSpPr txBox="1"/>
          <p:nvPr/>
        </p:nvSpPr>
        <p:spPr>
          <a:xfrm>
            <a:off x="640080" y="1673352"/>
            <a:ext cx="365760" cy="219456"/>
          </a:xfrm>
          <a:prstGeom prst="rect">
            <a:avLst/>
          </a:prstGeom>
          <a:noFill/>
          <a:ln/>
        </p:spPr>
        <p:txBody>
          <a:bodyPr wrap="square" lIns="0" tIns="0" rIns="0" bIns="0" rtlCol="0" anchor="ctr"/>
          <a:lstStyle/>
          <a:p>
            <a:pPr algn="r" indent="0" marL="0">
              <a:buNone/>
            </a:pPr>
            <a:r>
              <a:rPr lang="en-US" sz="1100" dirty="0">
                <a:solidFill>
                  <a:schemeClr val="tx2"/>
                </a:solidFill>
                <a:latin typeface="Courier New" pitchFamily="34" charset="0"/>
                <a:ea typeface="Courier New" pitchFamily="34" charset="-122"/>
                <a:cs typeface="Courier New" pitchFamily="34" charset="-120"/>
              </a:rPr>
              <a:t>q0</a:t>
            </a:r>
            <a:endParaRPr lang="en-US" sz="1100" dirty="0"/>
          </a:p>
        </p:txBody>
      </p:sp>
      <p:sp>
        <p:nvSpPr>
          <p:cNvPr id="8" name="Text 5"/>
          <p:cNvSpPr txBox="1"/>
          <p:nvPr/>
        </p:nvSpPr>
        <p:spPr>
          <a:xfrm>
            <a:off x="640080" y="2176272"/>
            <a:ext cx="365760" cy="219456"/>
          </a:xfrm>
          <a:prstGeom prst="rect">
            <a:avLst/>
          </a:prstGeom>
          <a:noFill/>
          <a:ln/>
        </p:spPr>
        <p:txBody>
          <a:bodyPr wrap="square" lIns="0" tIns="0" rIns="0" bIns="0" rtlCol="0" anchor="ctr"/>
          <a:lstStyle/>
          <a:p>
            <a:pPr algn="r" indent="0" marL="0">
              <a:buNone/>
            </a:pPr>
            <a:r>
              <a:rPr lang="en-US" sz="1100" dirty="0">
                <a:solidFill>
                  <a:schemeClr val="tx2"/>
                </a:solidFill>
                <a:latin typeface="Courier New" pitchFamily="34" charset="0"/>
                <a:ea typeface="Courier New" pitchFamily="34" charset="-122"/>
                <a:cs typeface="Courier New" pitchFamily="34" charset="-120"/>
              </a:rPr>
              <a:t>q1</a:t>
            </a:r>
            <a:endParaRPr lang="en-US" sz="1100" dirty="0"/>
          </a:p>
        </p:txBody>
      </p:sp>
      <p:sp>
        <p:nvSpPr>
          <p:cNvPr id="9" name="Text 6"/>
          <p:cNvSpPr txBox="1"/>
          <p:nvPr/>
        </p:nvSpPr>
        <p:spPr>
          <a:xfrm>
            <a:off x="640080" y="2679192"/>
            <a:ext cx="365760" cy="219456"/>
          </a:xfrm>
          <a:prstGeom prst="rect">
            <a:avLst/>
          </a:prstGeom>
          <a:noFill/>
          <a:ln/>
        </p:spPr>
        <p:txBody>
          <a:bodyPr wrap="square" lIns="0" tIns="0" rIns="0" bIns="0" rtlCol="0" anchor="ctr"/>
          <a:lstStyle/>
          <a:p>
            <a:pPr algn="r" indent="0" marL="0">
              <a:buNone/>
            </a:pPr>
            <a:r>
              <a:rPr lang="en-US" sz="1100" dirty="0">
                <a:solidFill>
                  <a:schemeClr val="tx2"/>
                </a:solidFill>
                <a:latin typeface="Courier New" pitchFamily="34" charset="0"/>
                <a:ea typeface="Courier New" pitchFamily="34" charset="-122"/>
                <a:cs typeface="Courier New" pitchFamily="34" charset="-120"/>
              </a:rPr>
              <a:t>q2</a:t>
            </a:r>
            <a:endParaRPr lang="en-US" sz="1100" dirty="0"/>
          </a:p>
        </p:txBody>
      </p:sp>
      <p:sp>
        <p:nvSpPr>
          <p:cNvPr id="10" name="Shape 7"/>
          <p:cNvSpPr/>
          <p:nvPr/>
        </p:nvSpPr>
        <p:spPr>
          <a:xfrm>
            <a:off x="1097280" y="1783080"/>
            <a:ext cx="4389120" cy="0"/>
          </a:xfrm>
          <a:prstGeom prst="line">
            <a:avLst/>
          </a:prstGeom>
          <a:noFill/>
          <a:ln w="15875">
            <a:solidFill>
              <a:schemeClr val="tx1"/>
            </a:solidFill>
            <a:prstDash val="solid"/>
          </a:ln>
        </p:spPr>
      </p:sp>
      <p:sp>
        <p:nvSpPr>
          <p:cNvPr id="11" name="Shape 8"/>
          <p:cNvSpPr/>
          <p:nvPr/>
        </p:nvSpPr>
        <p:spPr>
          <a:xfrm>
            <a:off x="1097280" y="2286000"/>
            <a:ext cx="4389120" cy="0"/>
          </a:xfrm>
          <a:prstGeom prst="line">
            <a:avLst/>
          </a:prstGeom>
          <a:noFill/>
          <a:ln w="15875">
            <a:solidFill>
              <a:schemeClr val="tx1"/>
            </a:solidFill>
            <a:prstDash val="solid"/>
          </a:ln>
        </p:spPr>
      </p:sp>
      <p:sp>
        <p:nvSpPr>
          <p:cNvPr id="12" name="Shape 9"/>
          <p:cNvSpPr/>
          <p:nvPr/>
        </p:nvSpPr>
        <p:spPr>
          <a:xfrm>
            <a:off x="1097280" y="2788920"/>
            <a:ext cx="4389120" cy="0"/>
          </a:xfrm>
          <a:prstGeom prst="line">
            <a:avLst/>
          </a:prstGeom>
          <a:noFill/>
          <a:ln w="15875">
            <a:solidFill>
              <a:schemeClr val="tx1"/>
            </a:solidFill>
            <a:prstDash val="solid"/>
          </a:ln>
        </p:spPr>
      </p:sp>
      <p:sp>
        <p:nvSpPr>
          <p:cNvPr id="13" name="Shape 10"/>
          <p:cNvSpPr/>
          <p:nvPr/>
        </p:nvSpPr>
        <p:spPr>
          <a:xfrm>
            <a:off x="1554480" y="1783080"/>
            <a:ext cx="0" cy="502920"/>
          </a:xfrm>
          <a:prstGeom prst="line">
            <a:avLst/>
          </a:prstGeom>
          <a:noFill/>
          <a:ln w="19050">
            <a:solidFill>
              <a:schemeClr val="tx1"/>
            </a:solidFill>
            <a:prstDash val="solid"/>
          </a:ln>
        </p:spPr>
      </p:sp>
      <p:sp>
        <p:nvSpPr>
          <p:cNvPr id="14" name="Shape 11"/>
          <p:cNvSpPr/>
          <p:nvPr/>
        </p:nvSpPr>
        <p:spPr>
          <a:xfrm>
            <a:off x="1481328" y="1709928"/>
            <a:ext cx="146304" cy="146304"/>
          </a:xfrm>
          <a:prstGeom prst="line">
            <a:avLst/>
          </a:prstGeom>
          <a:noFill/>
          <a:ln w="19050">
            <a:solidFill>
              <a:schemeClr val="tx1"/>
            </a:solidFill>
            <a:prstDash val="solid"/>
          </a:ln>
        </p:spPr>
      </p:sp>
      <p:sp>
        <p:nvSpPr>
          <p:cNvPr id="15" name="Shape 12"/>
          <p:cNvSpPr/>
          <p:nvPr/>
        </p:nvSpPr>
        <p:spPr>
          <a:xfrm flipV="1">
            <a:off x="1481328" y="1709928"/>
            <a:ext cx="146304" cy="146304"/>
          </a:xfrm>
          <a:prstGeom prst="line">
            <a:avLst/>
          </a:prstGeom>
          <a:noFill/>
          <a:ln w="19050">
            <a:solidFill>
              <a:schemeClr val="tx1"/>
            </a:solidFill>
            <a:prstDash val="solid"/>
          </a:ln>
        </p:spPr>
      </p:sp>
      <p:sp>
        <p:nvSpPr>
          <p:cNvPr id="16" name="Shape 13"/>
          <p:cNvSpPr/>
          <p:nvPr/>
        </p:nvSpPr>
        <p:spPr>
          <a:xfrm>
            <a:off x="1481328" y="2212848"/>
            <a:ext cx="146304" cy="146304"/>
          </a:xfrm>
          <a:prstGeom prst="line">
            <a:avLst/>
          </a:prstGeom>
          <a:noFill/>
          <a:ln w="19050">
            <a:solidFill>
              <a:schemeClr val="tx1"/>
            </a:solidFill>
            <a:prstDash val="solid"/>
          </a:ln>
        </p:spPr>
      </p:sp>
      <p:sp>
        <p:nvSpPr>
          <p:cNvPr id="17" name="Shape 14"/>
          <p:cNvSpPr/>
          <p:nvPr/>
        </p:nvSpPr>
        <p:spPr>
          <a:xfrm flipV="1">
            <a:off x="1481328" y="2212848"/>
            <a:ext cx="146304" cy="146304"/>
          </a:xfrm>
          <a:prstGeom prst="line">
            <a:avLst/>
          </a:prstGeom>
          <a:noFill/>
          <a:ln w="19050">
            <a:solidFill>
              <a:schemeClr val="tx1"/>
            </a:solidFill>
            <a:prstDash val="solid"/>
          </a:ln>
        </p:spPr>
      </p:sp>
      <p:sp>
        <p:nvSpPr>
          <p:cNvPr id="18" name="Shape 15"/>
          <p:cNvSpPr/>
          <p:nvPr/>
        </p:nvSpPr>
        <p:spPr>
          <a:xfrm>
            <a:off x="2377440" y="1783080"/>
            <a:ext cx="0" cy="1005840"/>
          </a:xfrm>
          <a:prstGeom prst="line">
            <a:avLst/>
          </a:prstGeom>
          <a:noFill/>
          <a:ln w="19050">
            <a:solidFill>
              <a:schemeClr val="tx1"/>
            </a:solidFill>
            <a:prstDash val="solid"/>
          </a:ln>
        </p:spPr>
      </p:sp>
      <p:sp>
        <p:nvSpPr>
          <p:cNvPr id="19" name="Shape 16"/>
          <p:cNvSpPr/>
          <p:nvPr/>
        </p:nvSpPr>
        <p:spPr>
          <a:xfrm>
            <a:off x="2313432" y="1719072"/>
            <a:ext cx="128016" cy="128016"/>
          </a:xfrm>
          <a:prstGeom prst="ellipse">
            <a:avLst/>
          </a:prstGeom>
          <a:solidFill>
            <a:schemeClr val="tx1"/>
          </a:solidFill>
          <a:ln w="6350">
            <a:solidFill>
              <a:schemeClr val="tx1"/>
            </a:solidFill>
            <a:prstDash val="solid"/>
          </a:ln>
        </p:spPr>
      </p:sp>
      <p:sp>
        <p:nvSpPr>
          <p:cNvPr id="20" name="Shape 17"/>
          <p:cNvSpPr/>
          <p:nvPr/>
        </p:nvSpPr>
        <p:spPr>
          <a:xfrm>
            <a:off x="2313432" y="2724912"/>
            <a:ext cx="128016" cy="128016"/>
          </a:xfrm>
          <a:prstGeom prst="ellipse">
            <a:avLst/>
          </a:prstGeom>
          <a:solidFill>
            <a:schemeClr val="tx1"/>
          </a:solidFill>
          <a:ln w="6350">
            <a:solidFill>
              <a:schemeClr val="tx1"/>
            </a:solidFill>
            <a:prstDash val="solid"/>
          </a:ln>
        </p:spPr>
      </p:sp>
      <p:sp>
        <p:nvSpPr>
          <p:cNvPr id="21" name="Shape 18"/>
          <p:cNvSpPr/>
          <p:nvPr/>
        </p:nvSpPr>
        <p:spPr>
          <a:xfrm>
            <a:off x="3200400" y="1783080"/>
            <a:ext cx="0" cy="502920"/>
          </a:xfrm>
          <a:prstGeom prst="line">
            <a:avLst/>
          </a:prstGeom>
          <a:noFill/>
          <a:ln w="19050">
            <a:solidFill>
              <a:schemeClr val="tx1"/>
            </a:solidFill>
            <a:prstDash val="solid"/>
          </a:ln>
        </p:spPr>
      </p:sp>
      <p:sp>
        <p:nvSpPr>
          <p:cNvPr id="22" name="Shape 19"/>
          <p:cNvSpPr/>
          <p:nvPr/>
        </p:nvSpPr>
        <p:spPr>
          <a:xfrm>
            <a:off x="3136392" y="1719072"/>
            <a:ext cx="128016" cy="128016"/>
          </a:xfrm>
          <a:prstGeom prst="ellipse">
            <a:avLst/>
          </a:prstGeom>
          <a:solidFill>
            <a:schemeClr val="tx1"/>
          </a:solidFill>
          <a:ln w="6350">
            <a:solidFill>
              <a:schemeClr val="tx1"/>
            </a:solidFill>
            <a:prstDash val="solid"/>
          </a:ln>
        </p:spPr>
      </p:sp>
      <p:sp>
        <p:nvSpPr>
          <p:cNvPr id="23" name="Shape 20"/>
          <p:cNvSpPr/>
          <p:nvPr/>
        </p:nvSpPr>
        <p:spPr>
          <a:xfrm>
            <a:off x="3008376" y="2139696"/>
            <a:ext cx="384048" cy="292608"/>
          </a:xfrm>
          <a:prstGeom prst="roundRect">
            <a:avLst>
              <a:gd name="adj" fmla="val 15625"/>
            </a:avLst>
          </a:prstGeom>
          <a:solidFill>
            <a:schemeClr val="bg1"/>
          </a:solidFill>
          <a:ln w="15875">
            <a:solidFill>
              <a:schemeClr val="tx1"/>
            </a:solidFill>
            <a:prstDash val="solid"/>
          </a:ln>
        </p:spPr>
      </p:sp>
      <p:sp>
        <p:nvSpPr>
          <p:cNvPr id="24" name="Text 21"/>
          <p:cNvSpPr txBox="1"/>
          <p:nvPr/>
        </p:nvSpPr>
        <p:spPr>
          <a:xfrm>
            <a:off x="3008376" y="2139696"/>
            <a:ext cx="384048" cy="292608"/>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cp</a:t>
            </a:r>
            <a:endParaRPr lang="en-US" sz="1000" dirty="0"/>
          </a:p>
        </p:txBody>
      </p:sp>
      <p:sp>
        <p:nvSpPr>
          <p:cNvPr id="25" name="Shape 22"/>
          <p:cNvSpPr/>
          <p:nvPr/>
        </p:nvSpPr>
        <p:spPr>
          <a:xfrm>
            <a:off x="4023360" y="1783080"/>
            <a:ext cx="0" cy="1005840"/>
          </a:xfrm>
          <a:prstGeom prst="line">
            <a:avLst/>
          </a:prstGeom>
          <a:noFill/>
          <a:ln w="19050">
            <a:solidFill>
              <a:schemeClr val="tx1"/>
            </a:solidFill>
            <a:prstDash val="solid"/>
          </a:ln>
        </p:spPr>
      </p:sp>
      <p:sp>
        <p:nvSpPr>
          <p:cNvPr id="26" name="Shape 23"/>
          <p:cNvSpPr/>
          <p:nvPr/>
        </p:nvSpPr>
        <p:spPr>
          <a:xfrm>
            <a:off x="3959352" y="1719072"/>
            <a:ext cx="128016" cy="128016"/>
          </a:xfrm>
          <a:prstGeom prst="ellipse">
            <a:avLst/>
          </a:prstGeom>
          <a:solidFill>
            <a:schemeClr val="tx1"/>
          </a:solidFill>
          <a:ln w="6350">
            <a:solidFill>
              <a:schemeClr val="tx1"/>
            </a:solidFill>
            <a:prstDash val="solid"/>
          </a:ln>
        </p:spPr>
      </p:sp>
      <p:sp>
        <p:nvSpPr>
          <p:cNvPr id="27" name="Shape 24"/>
          <p:cNvSpPr/>
          <p:nvPr/>
        </p:nvSpPr>
        <p:spPr>
          <a:xfrm>
            <a:off x="3904488" y="2670048"/>
            <a:ext cx="237744" cy="237744"/>
          </a:xfrm>
          <a:prstGeom prst="ellipse">
            <a:avLst/>
          </a:prstGeom>
          <a:solidFill>
            <a:schemeClr val="bg1"/>
          </a:solidFill>
          <a:ln w="15875">
            <a:solidFill>
              <a:schemeClr val="tx1"/>
            </a:solidFill>
            <a:prstDash val="solid"/>
          </a:ln>
        </p:spPr>
      </p:sp>
      <p:sp>
        <p:nvSpPr>
          <p:cNvPr id="28" name="Shape 25"/>
          <p:cNvSpPr/>
          <p:nvPr/>
        </p:nvSpPr>
        <p:spPr>
          <a:xfrm>
            <a:off x="3904488" y="2788920"/>
            <a:ext cx="237744" cy="0"/>
          </a:xfrm>
          <a:prstGeom prst="line">
            <a:avLst/>
          </a:prstGeom>
          <a:noFill/>
          <a:ln w="15875">
            <a:solidFill>
              <a:schemeClr val="tx1"/>
            </a:solidFill>
            <a:prstDash val="solid"/>
          </a:ln>
        </p:spPr>
      </p:sp>
      <p:sp>
        <p:nvSpPr>
          <p:cNvPr id="29" name="Shape 26"/>
          <p:cNvSpPr/>
          <p:nvPr/>
        </p:nvSpPr>
        <p:spPr>
          <a:xfrm>
            <a:off x="4023360" y="2670048"/>
            <a:ext cx="0" cy="237744"/>
          </a:xfrm>
          <a:prstGeom prst="line">
            <a:avLst/>
          </a:prstGeom>
          <a:noFill/>
          <a:ln w="15875">
            <a:solidFill>
              <a:schemeClr val="tx1"/>
            </a:solidFill>
            <a:prstDash val="solid"/>
          </a:ln>
        </p:spPr>
      </p:sp>
      <p:sp>
        <p:nvSpPr>
          <p:cNvPr id="30" name="Shape 27"/>
          <p:cNvSpPr/>
          <p:nvPr/>
        </p:nvSpPr>
        <p:spPr>
          <a:xfrm>
            <a:off x="4846320" y="2286000"/>
            <a:ext cx="0" cy="502920"/>
          </a:xfrm>
          <a:prstGeom prst="line">
            <a:avLst/>
          </a:prstGeom>
          <a:noFill/>
          <a:ln w="19050">
            <a:solidFill>
              <a:schemeClr val="tx1"/>
            </a:solidFill>
            <a:prstDash val="solid"/>
          </a:ln>
        </p:spPr>
      </p:sp>
      <p:sp>
        <p:nvSpPr>
          <p:cNvPr id="31" name="Shape 28"/>
          <p:cNvSpPr/>
          <p:nvPr/>
        </p:nvSpPr>
        <p:spPr>
          <a:xfrm>
            <a:off x="4782312" y="2221992"/>
            <a:ext cx="128016" cy="128016"/>
          </a:xfrm>
          <a:prstGeom prst="ellipse">
            <a:avLst/>
          </a:prstGeom>
          <a:solidFill>
            <a:schemeClr val="tx1"/>
          </a:solidFill>
          <a:ln w="6350">
            <a:solidFill>
              <a:schemeClr val="tx1"/>
            </a:solidFill>
            <a:prstDash val="solid"/>
          </a:ln>
        </p:spPr>
      </p:sp>
      <p:sp>
        <p:nvSpPr>
          <p:cNvPr id="32" name="Shape 29"/>
          <p:cNvSpPr/>
          <p:nvPr/>
        </p:nvSpPr>
        <p:spPr>
          <a:xfrm>
            <a:off x="4727448" y="2670048"/>
            <a:ext cx="237744" cy="237744"/>
          </a:xfrm>
          <a:prstGeom prst="ellipse">
            <a:avLst/>
          </a:prstGeom>
          <a:solidFill>
            <a:schemeClr val="bg1"/>
          </a:solidFill>
          <a:ln w="15875">
            <a:solidFill>
              <a:schemeClr val="tx1"/>
            </a:solidFill>
            <a:prstDash val="solid"/>
          </a:ln>
        </p:spPr>
      </p:sp>
      <p:sp>
        <p:nvSpPr>
          <p:cNvPr id="33" name="Shape 30"/>
          <p:cNvSpPr/>
          <p:nvPr/>
        </p:nvSpPr>
        <p:spPr>
          <a:xfrm>
            <a:off x="4727448" y="2788920"/>
            <a:ext cx="237744" cy="0"/>
          </a:xfrm>
          <a:prstGeom prst="line">
            <a:avLst/>
          </a:prstGeom>
          <a:noFill/>
          <a:ln w="15875">
            <a:solidFill>
              <a:schemeClr val="tx1"/>
            </a:solidFill>
            <a:prstDash val="solid"/>
          </a:ln>
        </p:spPr>
      </p:sp>
      <p:sp>
        <p:nvSpPr>
          <p:cNvPr id="34" name="Shape 31"/>
          <p:cNvSpPr/>
          <p:nvPr/>
        </p:nvSpPr>
        <p:spPr>
          <a:xfrm>
            <a:off x="4846320" y="2670048"/>
            <a:ext cx="0" cy="237744"/>
          </a:xfrm>
          <a:prstGeom prst="line">
            <a:avLst/>
          </a:prstGeom>
          <a:noFill/>
          <a:ln w="15875">
            <a:solidFill>
              <a:schemeClr val="tx1"/>
            </a:solidFill>
            <a:prstDash val="solid"/>
          </a:ln>
        </p:spPr>
      </p:sp>
      <p:sp>
        <p:nvSpPr>
          <p:cNvPr id="35" name="Text 32"/>
          <p:cNvSpPr txBox="1"/>
          <p:nvPr/>
        </p:nvSpPr>
        <p:spPr>
          <a:xfrm>
            <a:off x="6309360" y="1673352"/>
            <a:ext cx="365760" cy="219456"/>
          </a:xfrm>
          <a:prstGeom prst="rect">
            <a:avLst/>
          </a:prstGeom>
          <a:noFill/>
          <a:ln/>
        </p:spPr>
        <p:txBody>
          <a:bodyPr wrap="square" lIns="0" tIns="0" rIns="0" bIns="0" rtlCol="0" anchor="ctr"/>
          <a:lstStyle/>
          <a:p>
            <a:pPr algn="r" indent="0" marL="0">
              <a:buNone/>
            </a:pPr>
            <a:r>
              <a:rPr lang="en-US" sz="1100" dirty="0">
                <a:solidFill>
                  <a:schemeClr val="tx2"/>
                </a:solidFill>
                <a:latin typeface="Courier New" pitchFamily="34" charset="0"/>
                <a:ea typeface="Courier New" pitchFamily="34" charset="-122"/>
                <a:cs typeface="Courier New" pitchFamily="34" charset="-120"/>
              </a:rPr>
              <a:t>q0</a:t>
            </a:r>
            <a:endParaRPr lang="en-US" sz="1100" dirty="0"/>
          </a:p>
        </p:txBody>
      </p:sp>
      <p:sp>
        <p:nvSpPr>
          <p:cNvPr id="36" name="Text 33"/>
          <p:cNvSpPr txBox="1"/>
          <p:nvPr/>
        </p:nvSpPr>
        <p:spPr>
          <a:xfrm>
            <a:off x="6309360" y="2176272"/>
            <a:ext cx="365760" cy="219456"/>
          </a:xfrm>
          <a:prstGeom prst="rect">
            <a:avLst/>
          </a:prstGeom>
          <a:noFill/>
          <a:ln/>
        </p:spPr>
        <p:txBody>
          <a:bodyPr wrap="square" lIns="0" tIns="0" rIns="0" bIns="0" rtlCol="0" anchor="ctr"/>
          <a:lstStyle/>
          <a:p>
            <a:pPr algn="r" indent="0" marL="0">
              <a:buNone/>
            </a:pPr>
            <a:r>
              <a:rPr lang="en-US" sz="1100" dirty="0">
                <a:solidFill>
                  <a:schemeClr val="tx2"/>
                </a:solidFill>
                <a:latin typeface="Courier New" pitchFamily="34" charset="0"/>
                <a:ea typeface="Courier New" pitchFamily="34" charset="-122"/>
                <a:cs typeface="Courier New" pitchFamily="34" charset="-120"/>
              </a:rPr>
              <a:t>q1</a:t>
            </a:r>
            <a:endParaRPr lang="en-US" sz="1100" dirty="0"/>
          </a:p>
        </p:txBody>
      </p:sp>
      <p:sp>
        <p:nvSpPr>
          <p:cNvPr id="37" name="Text 34"/>
          <p:cNvSpPr txBox="1"/>
          <p:nvPr/>
        </p:nvSpPr>
        <p:spPr>
          <a:xfrm>
            <a:off x="6309360" y="2679192"/>
            <a:ext cx="365760" cy="219456"/>
          </a:xfrm>
          <a:prstGeom prst="rect">
            <a:avLst/>
          </a:prstGeom>
          <a:noFill/>
          <a:ln/>
        </p:spPr>
        <p:txBody>
          <a:bodyPr wrap="square" lIns="0" tIns="0" rIns="0" bIns="0" rtlCol="0" anchor="ctr"/>
          <a:lstStyle/>
          <a:p>
            <a:pPr algn="r" indent="0" marL="0">
              <a:buNone/>
            </a:pPr>
            <a:r>
              <a:rPr lang="en-US" sz="1100" dirty="0">
                <a:solidFill>
                  <a:schemeClr val="tx2"/>
                </a:solidFill>
                <a:latin typeface="Courier New" pitchFamily="34" charset="0"/>
                <a:ea typeface="Courier New" pitchFamily="34" charset="-122"/>
                <a:cs typeface="Courier New" pitchFamily="34" charset="-120"/>
              </a:rPr>
              <a:t>q2</a:t>
            </a:r>
            <a:endParaRPr lang="en-US" sz="1100" dirty="0"/>
          </a:p>
        </p:txBody>
      </p:sp>
      <p:sp>
        <p:nvSpPr>
          <p:cNvPr id="38" name="Shape 35"/>
          <p:cNvSpPr/>
          <p:nvPr/>
        </p:nvSpPr>
        <p:spPr>
          <a:xfrm>
            <a:off x="6766560" y="1783080"/>
            <a:ext cx="4389120" cy="0"/>
          </a:xfrm>
          <a:prstGeom prst="line">
            <a:avLst/>
          </a:prstGeom>
          <a:noFill/>
          <a:ln w="15875">
            <a:solidFill>
              <a:schemeClr val="tx1"/>
            </a:solidFill>
            <a:prstDash val="solid"/>
          </a:ln>
        </p:spPr>
      </p:sp>
      <p:sp>
        <p:nvSpPr>
          <p:cNvPr id="39" name="Shape 36"/>
          <p:cNvSpPr/>
          <p:nvPr/>
        </p:nvSpPr>
        <p:spPr>
          <a:xfrm>
            <a:off x="6766560" y="2286000"/>
            <a:ext cx="4389120" cy="0"/>
          </a:xfrm>
          <a:prstGeom prst="line">
            <a:avLst/>
          </a:prstGeom>
          <a:noFill/>
          <a:ln w="15875">
            <a:solidFill>
              <a:schemeClr val="tx1"/>
            </a:solidFill>
            <a:prstDash val="solid"/>
          </a:ln>
        </p:spPr>
      </p:sp>
      <p:sp>
        <p:nvSpPr>
          <p:cNvPr id="40" name="Shape 37"/>
          <p:cNvSpPr/>
          <p:nvPr/>
        </p:nvSpPr>
        <p:spPr>
          <a:xfrm>
            <a:off x="6766560" y="2788920"/>
            <a:ext cx="4389120" cy="0"/>
          </a:xfrm>
          <a:prstGeom prst="line">
            <a:avLst/>
          </a:prstGeom>
          <a:noFill/>
          <a:ln w="15875">
            <a:solidFill>
              <a:schemeClr val="tx1"/>
            </a:solidFill>
            <a:prstDash val="solid"/>
          </a:ln>
        </p:spPr>
      </p:sp>
      <p:sp>
        <p:nvSpPr>
          <p:cNvPr id="41" name="Shape 38"/>
          <p:cNvSpPr/>
          <p:nvPr/>
        </p:nvSpPr>
        <p:spPr>
          <a:xfrm>
            <a:off x="7223760" y="1783080"/>
            <a:ext cx="0" cy="502920"/>
          </a:xfrm>
          <a:prstGeom prst="line">
            <a:avLst/>
          </a:prstGeom>
          <a:noFill/>
          <a:ln w="19050">
            <a:solidFill>
              <a:schemeClr val="tx1"/>
            </a:solidFill>
            <a:prstDash val="solid"/>
          </a:ln>
        </p:spPr>
      </p:sp>
      <p:sp>
        <p:nvSpPr>
          <p:cNvPr id="42" name="Shape 39"/>
          <p:cNvSpPr/>
          <p:nvPr/>
        </p:nvSpPr>
        <p:spPr>
          <a:xfrm>
            <a:off x="7150608" y="1709928"/>
            <a:ext cx="146304" cy="146304"/>
          </a:xfrm>
          <a:prstGeom prst="line">
            <a:avLst/>
          </a:prstGeom>
          <a:noFill/>
          <a:ln w="19050">
            <a:solidFill>
              <a:schemeClr val="tx1"/>
            </a:solidFill>
            <a:prstDash val="solid"/>
          </a:ln>
        </p:spPr>
      </p:sp>
      <p:sp>
        <p:nvSpPr>
          <p:cNvPr id="43" name="Shape 40"/>
          <p:cNvSpPr/>
          <p:nvPr/>
        </p:nvSpPr>
        <p:spPr>
          <a:xfrm flipV="1">
            <a:off x="7150608" y="1709928"/>
            <a:ext cx="146304" cy="146304"/>
          </a:xfrm>
          <a:prstGeom prst="line">
            <a:avLst/>
          </a:prstGeom>
          <a:noFill/>
          <a:ln w="19050">
            <a:solidFill>
              <a:schemeClr val="tx1"/>
            </a:solidFill>
            <a:prstDash val="solid"/>
          </a:ln>
        </p:spPr>
      </p:sp>
      <p:sp>
        <p:nvSpPr>
          <p:cNvPr id="44" name="Shape 41"/>
          <p:cNvSpPr/>
          <p:nvPr/>
        </p:nvSpPr>
        <p:spPr>
          <a:xfrm>
            <a:off x="7150608" y="2212848"/>
            <a:ext cx="146304" cy="146304"/>
          </a:xfrm>
          <a:prstGeom prst="line">
            <a:avLst/>
          </a:prstGeom>
          <a:noFill/>
          <a:ln w="19050">
            <a:solidFill>
              <a:schemeClr val="tx1"/>
            </a:solidFill>
            <a:prstDash val="solid"/>
          </a:ln>
        </p:spPr>
      </p:sp>
      <p:sp>
        <p:nvSpPr>
          <p:cNvPr id="45" name="Shape 42"/>
          <p:cNvSpPr/>
          <p:nvPr/>
        </p:nvSpPr>
        <p:spPr>
          <a:xfrm flipV="1">
            <a:off x="7150608" y="2212848"/>
            <a:ext cx="146304" cy="146304"/>
          </a:xfrm>
          <a:prstGeom prst="line">
            <a:avLst/>
          </a:prstGeom>
          <a:noFill/>
          <a:ln w="19050">
            <a:solidFill>
              <a:schemeClr val="tx1"/>
            </a:solidFill>
            <a:prstDash val="solid"/>
          </a:ln>
        </p:spPr>
      </p:sp>
      <p:sp>
        <p:nvSpPr>
          <p:cNvPr id="46" name="Shape 43"/>
          <p:cNvSpPr/>
          <p:nvPr/>
        </p:nvSpPr>
        <p:spPr>
          <a:xfrm>
            <a:off x="8046720" y="1783080"/>
            <a:ext cx="0" cy="502920"/>
          </a:xfrm>
          <a:prstGeom prst="line">
            <a:avLst/>
          </a:prstGeom>
          <a:noFill/>
          <a:ln w="19050">
            <a:solidFill>
              <a:schemeClr val="accent2"/>
            </a:solidFill>
            <a:prstDash val="solid"/>
          </a:ln>
        </p:spPr>
      </p:sp>
      <p:sp>
        <p:nvSpPr>
          <p:cNvPr id="47" name="Shape 44"/>
          <p:cNvSpPr/>
          <p:nvPr/>
        </p:nvSpPr>
        <p:spPr>
          <a:xfrm>
            <a:off x="7982712" y="1719072"/>
            <a:ext cx="128016" cy="128016"/>
          </a:xfrm>
          <a:prstGeom prst="ellipse">
            <a:avLst/>
          </a:prstGeom>
          <a:solidFill>
            <a:schemeClr val="accent2"/>
          </a:solidFill>
          <a:ln w="6350">
            <a:solidFill>
              <a:schemeClr val="accent2"/>
            </a:solidFill>
            <a:prstDash val="solid"/>
          </a:ln>
        </p:spPr>
      </p:sp>
      <p:sp>
        <p:nvSpPr>
          <p:cNvPr id="48" name="Shape 45"/>
          <p:cNvSpPr/>
          <p:nvPr/>
        </p:nvSpPr>
        <p:spPr>
          <a:xfrm>
            <a:off x="7854696" y="2139696"/>
            <a:ext cx="384048" cy="292608"/>
          </a:xfrm>
          <a:prstGeom prst="roundRect">
            <a:avLst>
              <a:gd name="adj" fmla="val 15625"/>
            </a:avLst>
          </a:prstGeom>
          <a:solidFill>
            <a:schemeClr val="accent6"/>
          </a:solidFill>
          <a:ln w="15875">
            <a:solidFill>
              <a:schemeClr val="accent2"/>
            </a:solidFill>
            <a:prstDash val="solid"/>
          </a:ln>
        </p:spPr>
      </p:sp>
      <p:sp>
        <p:nvSpPr>
          <p:cNvPr id="49" name="Text 46"/>
          <p:cNvSpPr txBox="1"/>
          <p:nvPr/>
        </p:nvSpPr>
        <p:spPr>
          <a:xfrm>
            <a:off x="7854696" y="2139696"/>
            <a:ext cx="384048" cy="292608"/>
          </a:xfrm>
          <a:prstGeom prst="rect">
            <a:avLst/>
          </a:prstGeom>
          <a:noFill/>
          <a:ln/>
        </p:spPr>
        <p:txBody>
          <a:bodyPr wrap="square" lIns="0" tIns="0" rIns="0" bIns="0" rtlCol="0" anchor="ctr"/>
          <a:lstStyle/>
          <a:p>
            <a:pPr algn="ctr" indent="0" marL="0">
              <a:buNone/>
            </a:pPr>
            <a:r>
              <a:rPr lang="en-US" sz="1000" b="1" dirty="0">
                <a:solidFill>
                  <a:schemeClr val="accent2"/>
                </a:solidFill>
                <a:latin typeface="Courier New" pitchFamily="34" charset="0"/>
                <a:ea typeface="Courier New" pitchFamily="34" charset="-122"/>
                <a:cs typeface="Courier New" pitchFamily="34" charset="-120"/>
              </a:rPr>
              <a:t>cp</a:t>
            </a:r>
            <a:endParaRPr lang="en-US" sz="1000" dirty="0"/>
          </a:p>
        </p:txBody>
      </p:sp>
      <p:sp>
        <p:nvSpPr>
          <p:cNvPr id="50" name="Shape 47"/>
          <p:cNvSpPr/>
          <p:nvPr/>
        </p:nvSpPr>
        <p:spPr>
          <a:xfrm>
            <a:off x="8869680" y="1783080"/>
            <a:ext cx="0" cy="1005840"/>
          </a:xfrm>
          <a:prstGeom prst="line">
            <a:avLst/>
          </a:prstGeom>
          <a:noFill/>
          <a:ln w="19050">
            <a:solidFill>
              <a:schemeClr val="tx1"/>
            </a:solidFill>
            <a:prstDash val="solid"/>
          </a:ln>
        </p:spPr>
      </p:sp>
      <p:sp>
        <p:nvSpPr>
          <p:cNvPr id="51" name="Shape 48"/>
          <p:cNvSpPr/>
          <p:nvPr/>
        </p:nvSpPr>
        <p:spPr>
          <a:xfrm>
            <a:off x="8805672" y="1719072"/>
            <a:ext cx="128016" cy="128016"/>
          </a:xfrm>
          <a:prstGeom prst="ellipse">
            <a:avLst/>
          </a:prstGeom>
          <a:solidFill>
            <a:schemeClr val="tx1"/>
          </a:solidFill>
          <a:ln w="6350">
            <a:solidFill>
              <a:schemeClr val="tx1"/>
            </a:solidFill>
            <a:prstDash val="solid"/>
          </a:ln>
        </p:spPr>
      </p:sp>
      <p:sp>
        <p:nvSpPr>
          <p:cNvPr id="52" name="Shape 49"/>
          <p:cNvSpPr/>
          <p:nvPr/>
        </p:nvSpPr>
        <p:spPr>
          <a:xfrm>
            <a:off x="8805672" y="2724912"/>
            <a:ext cx="128016" cy="128016"/>
          </a:xfrm>
          <a:prstGeom prst="ellipse">
            <a:avLst/>
          </a:prstGeom>
          <a:solidFill>
            <a:schemeClr val="tx1"/>
          </a:solidFill>
          <a:ln w="6350">
            <a:solidFill>
              <a:schemeClr val="tx1"/>
            </a:solidFill>
            <a:prstDash val="solid"/>
          </a:ln>
        </p:spPr>
      </p:sp>
      <p:sp>
        <p:nvSpPr>
          <p:cNvPr id="53" name="Shape 50"/>
          <p:cNvSpPr/>
          <p:nvPr/>
        </p:nvSpPr>
        <p:spPr>
          <a:xfrm>
            <a:off x="9692640" y="1783080"/>
            <a:ext cx="0" cy="1005840"/>
          </a:xfrm>
          <a:prstGeom prst="line">
            <a:avLst/>
          </a:prstGeom>
          <a:noFill/>
          <a:ln w="19050">
            <a:solidFill>
              <a:schemeClr val="tx1"/>
            </a:solidFill>
            <a:prstDash val="solid"/>
          </a:ln>
        </p:spPr>
      </p:sp>
      <p:sp>
        <p:nvSpPr>
          <p:cNvPr id="54" name="Shape 51"/>
          <p:cNvSpPr/>
          <p:nvPr/>
        </p:nvSpPr>
        <p:spPr>
          <a:xfrm>
            <a:off x="9628632" y="1719072"/>
            <a:ext cx="128016" cy="128016"/>
          </a:xfrm>
          <a:prstGeom prst="ellipse">
            <a:avLst/>
          </a:prstGeom>
          <a:solidFill>
            <a:schemeClr val="tx1"/>
          </a:solidFill>
          <a:ln w="6350">
            <a:solidFill>
              <a:schemeClr val="tx1"/>
            </a:solidFill>
            <a:prstDash val="solid"/>
          </a:ln>
        </p:spPr>
      </p:sp>
      <p:sp>
        <p:nvSpPr>
          <p:cNvPr id="55" name="Shape 52"/>
          <p:cNvSpPr/>
          <p:nvPr/>
        </p:nvSpPr>
        <p:spPr>
          <a:xfrm>
            <a:off x="9573768" y="2670048"/>
            <a:ext cx="237744" cy="237744"/>
          </a:xfrm>
          <a:prstGeom prst="ellipse">
            <a:avLst/>
          </a:prstGeom>
          <a:solidFill>
            <a:schemeClr val="bg1"/>
          </a:solidFill>
          <a:ln w="15875">
            <a:solidFill>
              <a:schemeClr val="tx1"/>
            </a:solidFill>
            <a:prstDash val="solid"/>
          </a:ln>
        </p:spPr>
      </p:sp>
      <p:sp>
        <p:nvSpPr>
          <p:cNvPr id="56" name="Shape 53"/>
          <p:cNvSpPr/>
          <p:nvPr/>
        </p:nvSpPr>
        <p:spPr>
          <a:xfrm>
            <a:off x="9573768" y="2788920"/>
            <a:ext cx="237744" cy="0"/>
          </a:xfrm>
          <a:prstGeom prst="line">
            <a:avLst/>
          </a:prstGeom>
          <a:noFill/>
          <a:ln w="15875">
            <a:solidFill>
              <a:schemeClr val="tx1"/>
            </a:solidFill>
            <a:prstDash val="solid"/>
          </a:ln>
        </p:spPr>
      </p:sp>
      <p:sp>
        <p:nvSpPr>
          <p:cNvPr id="57" name="Shape 54"/>
          <p:cNvSpPr/>
          <p:nvPr/>
        </p:nvSpPr>
        <p:spPr>
          <a:xfrm>
            <a:off x="9692640" y="2670048"/>
            <a:ext cx="0" cy="237744"/>
          </a:xfrm>
          <a:prstGeom prst="line">
            <a:avLst/>
          </a:prstGeom>
          <a:noFill/>
          <a:ln w="15875">
            <a:solidFill>
              <a:schemeClr val="tx1"/>
            </a:solidFill>
            <a:prstDash val="solid"/>
          </a:ln>
        </p:spPr>
      </p:sp>
      <p:sp>
        <p:nvSpPr>
          <p:cNvPr id="58" name="Shape 55"/>
          <p:cNvSpPr/>
          <p:nvPr/>
        </p:nvSpPr>
        <p:spPr>
          <a:xfrm>
            <a:off x="10515600" y="2286000"/>
            <a:ext cx="0" cy="502920"/>
          </a:xfrm>
          <a:prstGeom prst="line">
            <a:avLst/>
          </a:prstGeom>
          <a:noFill/>
          <a:ln w="19050">
            <a:solidFill>
              <a:schemeClr val="tx1"/>
            </a:solidFill>
            <a:prstDash val="solid"/>
          </a:ln>
        </p:spPr>
      </p:sp>
      <p:sp>
        <p:nvSpPr>
          <p:cNvPr id="59" name="Shape 56"/>
          <p:cNvSpPr/>
          <p:nvPr/>
        </p:nvSpPr>
        <p:spPr>
          <a:xfrm>
            <a:off x="10451592" y="2221992"/>
            <a:ext cx="128016" cy="128016"/>
          </a:xfrm>
          <a:prstGeom prst="ellipse">
            <a:avLst/>
          </a:prstGeom>
          <a:solidFill>
            <a:schemeClr val="tx1"/>
          </a:solidFill>
          <a:ln w="6350">
            <a:solidFill>
              <a:schemeClr val="tx1"/>
            </a:solidFill>
            <a:prstDash val="solid"/>
          </a:ln>
        </p:spPr>
      </p:sp>
      <p:sp>
        <p:nvSpPr>
          <p:cNvPr id="60" name="Shape 57"/>
          <p:cNvSpPr/>
          <p:nvPr/>
        </p:nvSpPr>
        <p:spPr>
          <a:xfrm>
            <a:off x="10396728" y="2670048"/>
            <a:ext cx="237744" cy="237744"/>
          </a:xfrm>
          <a:prstGeom prst="ellipse">
            <a:avLst/>
          </a:prstGeom>
          <a:solidFill>
            <a:schemeClr val="bg1"/>
          </a:solidFill>
          <a:ln w="15875">
            <a:solidFill>
              <a:schemeClr val="tx1"/>
            </a:solidFill>
            <a:prstDash val="solid"/>
          </a:ln>
        </p:spPr>
      </p:sp>
      <p:sp>
        <p:nvSpPr>
          <p:cNvPr id="61" name="Shape 58"/>
          <p:cNvSpPr/>
          <p:nvPr/>
        </p:nvSpPr>
        <p:spPr>
          <a:xfrm>
            <a:off x="10396728" y="2788920"/>
            <a:ext cx="237744" cy="0"/>
          </a:xfrm>
          <a:prstGeom prst="line">
            <a:avLst/>
          </a:prstGeom>
          <a:noFill/>
          <a:ln w="15875">
            <a:solidFill>
              <a:schemeClr val="tx1"/>
            </a:solidFill>
            <a:prstDash val="solid"/>
          </a:ln>
        </p:spPr>
      </p:sp>
      <p:sp>
        <p:nvSpPr>
          <p:cNvPr id="62" name="Shape 59"/>
          <p:cNvSpPr/>
          <p:nvPr/>
        </p:nvSpPr>
        <p:spPr>
          <a:xfrm>
            <a:off x="10515600" y="2670048"/>
            <a:ext cx="0" cy="237744"/>
          </a:xfrm>
          <a:prstGeom prst="line">
            <a:avLst/>
          </a:prstGeom>
          <a:noFill/>
          <a:ln w="15875">
            <a:solidFill>
              <a:schemeClr val="tx1"/>
            </a:solidFill>
            <a:prstDash val="solid"/>
          </a:ln>
        </p:spPr>
      </p:sp>
      <p:sp>
        <p:nvSpPr>
          <p:cNvPr id="63" name="Shape 60"/>
          <p:cNvSpPr/>
          <p:nvPr/>
        </p:nvSpPr>
        <p:spPr>
          <a:xfrm>
            <a:off x="1554480" y="2999232"/>
            <a:ext cx="0" cy="73152"/>
          </a:xfrm>
          <a:prstGeom prst="line">
            <a:avLst/>
          </a:prstGeom>
          <a:noFill/>
          <a:ln w="12700">
            <a:solidFill>
              <a:schemeClr val="tx1"/>
            </a:solidFill>
            <a:prstDash val="solid"/>
          </a:ln>
        </p:spPr>
      </p:sp>
      <p:sp>
        <p:nvSpPr>
          <p:cNvPr id="64" name="Shape 61"/>
          <p:cNvSpPr/>
          <p:nvPr/>
        </p:nvSpPr>
        <p:spPr>
          <a:xfrm>
            <a:off x="1554480" y="3072384"/>
            <a:ext cx="1645920" cy="0"/>
          </a:xfrm>
          <a:prstGeom prst="line">
            <a:avLst/>
          </a:prstGeom>
          <a:noFill/>
          <a:ln w="12700">
            <a:solidFill>
              <a:schemeClr val="tx1"/>
            </a:solidFill>
            <a:prstDash val="solid"/>
          </a:ln>
        </p:spPr>
      </p:sp>
      <p:sp>
        <p:nvSpPr>
          <p:cNvPr id="65" name="Shape 62"/>
          <p:cNvSpPr/>
          <p:nvPr/>
        </p:nvSpPr>
        <p:spPr>
          <a:xfrm>
            <a:off x="3200400" y="2999232"/>
            <a:ext cx="0" cy="73152"/>
          </a:xfrm>
          <a:prstGeom prst="line">
            <a:avLst/>
          </a:prstGeom>
          <a:noFill/>
          <a:ln w="12700">
            <a:solidFill>
              <a:schemeClr val="tx1"/>
            </a:solidFill>
            <a:prstDash val="solid"/>
          </a:ln>
        </p:spPr>
      </p:sp>
      <p:sp>
        <p:nvSpPr>
          <p:cNvPr id="66" name="Text 63"/>
          <p:cNvSpPr txBox="1"/>
          <p:nvPr/>
        </p:nvSpPr>
        <p:spPr>
          <a:xfrm>
            <a:off x="822960" y="3127248"/>
            <a:ext cx="3291840" cy="237744"/>
          </a:xfrm>
          <a:prstGeom prst="rect">
            <a:avLst/>
          </a:prstGeom>
          <a:noFill/>
          <a:ln/>
        </p:spPr>
        <p:txBody>
          <a:bodyPr wrap="square" lIns="0" tIns="0" rIns="0" bIns="0" rtlCol="0" anchor="ctr"/>
          <a:lstStyle/>
          <a:p>
            <a:pPr algn="ctr" indent="0" marL="0">
              <a:buNone/>
            </a:pPr>
            <a:r>
              <a:rPr lang="en-US" sz="1050" dirty="0">
                <a:solidFill>
                  <a:schemeClr val="tx2"/>
                </a:solidFill>
              </a:rPr>
              <a:t>cz(0,2) in between commutes with cp: Z on q0 for both</a:t>
            </a:r>
            <a:endParaRPr lang="en-US" sz="1050" dirty="0"/>
          </a:p>
        </p:txBody>
      </p:sp>
      <p:sp>
        <p:nvSpPr>
          <p:cNvPr id="67" name="Text 64"/>
          <p:cNvSpPr txBox="1"/>
          <p:nvPr/>
        </p:nvSpPr>
        <p:spPr>
          <a:xfrm>
            <a:off x="6400800" y="3127248"/>
            <a:ext cx="3108960" cy="237744"/>
          </a:xfrm>
          <a:prstGeom prst="rect">
            <a:avLst/>
          </a:prstGeom>
          <a:noFill/>
          <a:ln/>
        </p:spPr>
        <p:txBody>
          <a:bodyPr wrap="square" lIns="0" tIns="0" rIns="0" bIns="0" rtlCol="0" anchor="ctr"/>
          <a:lstStyle/>
          <a:p>
            <a:pPr algn="ctr" indent="0" marL="0">
              <a:buNone/>
            </a:pPr>
            <a:r>
              <a:rPr lang="en-US" sz="1100" b="1" dirty="0">
                <a:solidFill>
                  <a:schemeClr val="accent1"/>
                </a:solidFill>
              </a:rPr>
              <a:t>swap + cp: one block for two-qubit synthesis</a:t>
            </a:r>
            <a:endParaRPr lang="en-US" sz="1100" dirty="0"/>
          </a:p>
        </p:txBody>
      </p:sp>
      <p:sp>
        <p:nvSpPr>
          <p:cNvPr id="68" name="Text 65"/>
          <p:cNvSpPr txBox="1"/>
          <p:nvPr/>
        </p:nvSpPr>
        <p:spPr>
          <a:xfrm>
            <a:off x="548640" y="3611880"/>
            <a:ext cx="11091672" cy="265176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300" b="1" dirty="0">
                <a:solidFill>
                  <a:schemeClr val="tx1"/>
                </a:solidFill>
              </a:rPr>
              <a:t>Units: </a:t>
            </a:r>
            <a:pPr indent="0" marL="0">
              <a:lnSpc>
                <a:spcPct val="105000"/>
              </a:lnSpc>
              <a:spcAft>
                <a:spcPts val="500"/>
              </a:spcAft>
              <a:buNone/>
            </a:pPr>
            <a:r>
              <a:rPr lang="en-US" sz="1300" dirty="0">
                <a:solidFill>
                  <a:schemeClr val="tx1"/>
                </a:solidFill>
              </a:rPr>
              <a:t>an allow-listed standard gate whose commuting Pauli is known on every wire (Z for rz, cz, cp, …; X for rx, sx; ZX for cx), a diagonal two-qubit UnitaryGate, or the block cx(a,b) · D(b) · cx(a,b) with D diagonal.</a:t>
            </a:r>
            <a:endParaRPr lang="en-US" sz="1300" dirty="0"/>
          </a:p>
          <a:p>
            <a:pPr marL="342900" indent="-342900">
              <a:lnSpc>
                <a:spcPct val="105000"/>
              </a:lnSpc>
              <a:spcAft>
                <a:spcPts val="500"/>
              </a:spcAft>
              <a:buSzPct val="100000"/>
              <a:buChar char="•"/>
            </a:pPr>
            <a:r>
              <a:rPr lang="en-US" sz="1300" b="1" dirty="0">
                <a:solidFill>
                  <a:schemeClr val="tx1"/>
                </a:solidFill>
              </a:rPr>
              <a:t>Path: </a:t>
            </a:r>
            <a:pPr indent="0" marL="0">
              <a:lnSpc>
                <a:spcPct val="105000"/>
              </a:lnSpc>
              <a:spcAft>
                <a:spcPts val="500"/>
              </a:spcAft>
              <a:buNone/>
            </a:pPr>
            <a:r>
              <a:rPr lang="en-US" sz="1300" dirty="0">
                <a:solidFill>
                  <a:schemeClr val="tx1"/>
                </a:solidFill>
              </a:rPr>
              <a:t>the unit may cross only operations that commute with the same Pauli on every shared wire, and never another swap.</a:t>
            </a:r>
            <a:endParaRPr lang="en-US" sz="1300" dirty="0"/>
          </a:p>
          <a:p>
            <a:pPr marL="342900" indent="-342900">
              <a:lnSpc>
                <a:spcPct val="105000"/>
              </a:lnSpc>
              <a:spcAft>
                <a:spcPts val="500"/>
              </a:spcAft>
              <a:buSzPct val="100000"/>
              <a:buChar char="•"/>
            </a:pPr>
            <a:r>
              <a:rPr lang="en-US" sz="1300" b="1" dirty="0">
                <a:solidFill>
                  <a:schemeClr val="tx1"/>
                </a:solidFill>
              </a:rPr>
              <a:t>Target: </a:t>
            </a:r>
            <a:pPr indent="0" marL="0">
              <a:lnSpc>
                <a:spcPct val="105000"/>
              </a:lnSpc>
              <a:spcAft>
                <a:spcPts val="500"/>
              </a:spcAft>
              <a:buNone/>
            </a:pPr>
            <a:r>
              <a:rPr lang="en-US" sz="1300" dirty="0">
                <a:solidFill>
                  <a:schemeClr val="tx1"/>
                </a:solidFill>
              </a:rPr>
              <a:t>both swap qubits must still do multi-qubit work later; otherwise the merged block's single-qubit remainder would idle until the end of the circuit. A barrier counts as such work.</a:t>
            </a:r>
            <a:endParaRPr lang="en-US" sz="1300" dirty="0"/>
          </a:p>
          <a:p>
            <a:pPr marL="342900" indent="-342900">
              <a:lnSpc>
                <a:spcPct val="105000"/>
              </a:lnSpc>
              <a:spcAft>
                <a:spcPts val="500"/>
              </a:spcAft>
              <a:buSzPct val="100000"/>
              <a:buChar char="•"/>
            </a:pPr>
            <a:r>
              <a:rPr lang="en-US" sz="1300" b="1" dirty="0">
                <a:solidFill>
                  <a:schemeClr val="tx1"/>
                </a:solidFill>
              </a:rPr>
              <a:t>Budget: </a:t>
            </a:r>
            <a:pPr indent="0" marL="0">
              <a:lnSpc>
                <a:spcPct val="105000"/>
              </a:lnSpc>
              <a:spcAft>
                <a:spcPts val="500"/>
              </a:spcAft>
              <a:buNone/>
            </a:pPr>
            <a:r>
              <a:rPr lang="en-US" sz="1300" dirty="0">
                <a:solidFill>
                  <a:schemeClr val="tx1"/>
                </a:solidFill>
              </a:rPr>
              <a:t>one unit per swap; a swap that already has a same-pair neighbour is left alone; a later candidate is preferred over an earlier one.</a:t>
            </a:r>
            <a:endParaRPr lang="en-US" sz="1300" dirty="0"/>
          </a:p>
          <a:p>
            <a:pPr marL="342900" indent="-342900">
              <a:lnSpc>
                <a:spcPct val="105000"/>
              </a:lnSpc>
              <a:spcAft>
                <a:spcPts val="500"/>
              </a:spcAft>
              <a:buSzPct val="100000"/>
              <a:buChar char="•"/>
            </a:pPr>
            <a:r>
              <a:rPr lang="en-US" sz="1300" b="1" dirty="0">
                <a:solidFill>
                  <a:schemeClr val="tx1"/>
                </a:solidFill>
              </a:rPr>
              <a:t>Application: </a:t>
            </a:r>
            <a:pPr indent="0" marL="0">
              <a:lnSpc>
                <a:spcPct val="105000"/>
              </a:lnSpc>
              <a:spcAft>
                <a:spcPts val="500"/>
              </a:spcAft>
              <a:buNone/>
            </a:pPr>
            <a:r>
              <a:rPr lang="en-US" sz="1300" dirty="0">
                <a:solidFill>
                  <a:schemeClr val="tx1"/>
                </a:solidFill>
              </a:rPr>
              <a:t>the swap node is replaced by a two-node block, swap · unit or unit · swap; the rest of the DAG is untouched.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Where the pass runs in the pipeline</a:t>
            </a:r>
            <a:endParaRPr lang="en-US" sz="3000" dirty="0"/>
          </a:p>
        </p:txBody>
      </p:sp>
      <p:sp>
        <p:nvSpPr>
          <p:cNvPr id="4" name="Shape 1"/>
          <p:cNvSpPr/>
          <p:nvPr/>
        </p:nvSpPr>
        <p:spPr>
          <a:xfrm flipV="1">
            <a:off x="8709660" y="1481328"/>
            <a:ext cx="0" cy="301752"/>
          </a:xfrm>
          <a:prstGeom prst="line">
            <a:avLst/>
          </a:prstGeom>
          <a:noFill/>
          <a:ln w="15875">
            <a:solidFill>
              <a:schemeClr val="accent1"/>
            </a:solidFill>
            <a:prstDash val="dash"/>
          </a:ln>
        </p:spPr>
      </p:sp>
      <p:sp>
        <p:nvSpPr>
          <p:cNvPr id="5" name="Shape 2"/>
          <p:cNvSpPr/>
          <p:nvPr/>
        </p:nvSpPr>
        <p:spPr>
          <a:xfrm flipH="1">
            <a:off x="6880860" y="1481328"/>
            <a:ext cx="1828800" cy="0"/>
          </a:xfrm>
          <a:prstGeom prst="line">
            <a:avLst/>
          </a:prstGeom>
          <a:noFill/>
          <a:ln w="15875">
            <a:solidFill>
              <a:schemeClr val="accent1"/>
            </a:solidFill>
            <a:prstDash val="dash"/>
          </a:ln>
        </p:spPr>
      </p:sp>
      <p:sp>
        <p:nvSpPr>
          <p:cNvPr id="6" name="Shape 3"/>
          <p:cNvSpPr/>
          <p:nvPr/>
        </p:nvSpPr>
        <p:spPr>
          <a:xfrm>
            <a:off x="6880860" y="1481328"/>
            <a:ext cx="0" cy="283464"/>
          </a:xfrm>
          <a:prstGeom prst="line">
            <a:avLst/>
          </a:prstGeom>
          <a:noFill/>
          <a:ln w="15875">
            <a:solidFill>
              <a:schemeClr val="accent1"/>
            </a:solidFill>
            <a:prstDash val="dash"/>
            <a:tailEnd type="triangle"/>
          </a:ln>
        </p:spPr>
      </p:sp>
      <p:sp>
        <p:nvSpPr>
          <p:cNvPr id="7" name="Text 4"/>
          <p:cNvSpPr txBox="1"/>
          <p:nvPr/>
        </p:nvSpPr>
        <p:spPr>
          <a:xfrm>
            <a:off x="6446520" y="1225296"/>
            <a:ext cx="2743200" cy="237744"/>
          </a:xfrm>
          <a:prstGeom prst="rect">
            <a:avLst/>
          </a:prstGeom>
          <a:noFill/>
          <a:ln/>
        </p:spPr>
        <p:txBody>
          <a:bodyPr wrap="square" lIns="0" tIns="0" rIns="0" bIns="0" rtlCol="0" anchor="ctr"/>
          <a:lstStyle/>
          <a:p>
            <a:pPr algn="ctr" indent="0" marL="0">
              <a:buNone/>
            </a:pPr>
            <a:r>
              <a:rPr lang="en-US" sz="1050" dirty="0">
                <a:solidFill>
                  <a:schemeClr val="accent1"/>
                </a:solidFill>
              </a:rPr>
              <a:t>re-run while gates leave the basis</a:t>
            </a:r>
            <a:endParaRPr lang="en-US" sz="1050" dirty="0"/>
          </a:p>
        </p:txBody>
      </p:sp>
      <p:sp>
        <p:nvSpPr>
          <p:cNvPr id="8" name="Shape 5"/>
          <p:cNvSpPr/>
          <p:nvPr/>
        </p:nvSpPr>
        <p:spPr>
          <a:xfrm>
            <a:off x="685800" y="1783080"/>
            <a:ext cx="1417320" cy="548640"/>
          </a:xfrm>
          <a:prstGeom prst="roundRect">
            <a:avLst>
              <a:gd name="adj" fmla="val 10000"/>
            </a:avLst>
          </a:prstGeom>
          <a:solidFill>
            <a:schemeClr val="bg1"/>
          </a:solidFill>
          <a:ln w="12700">
            <a:solidFill>
              <a:schemeClr val="tx1"/>
            </a:solidFill>
            <a:prstDash val="solid"/>
          </a:ln>
        </p:spPr>
      </p:sp>
      <p:sp>
        <p:nvSpPr>
          <p:cNvPr id="9" name="Text 6"/>
          <p:cNvSpPr txBox="1"/>
          <p:nvPr/>
        </p:nvSpPr>
        <p:spPr>
          <a:xfrm>
            <a:off x="685800" y="1783080"/>
            <a:ext cx="1417320" cy="548640"/>
          </a:xfrm>
          <a:prstGeom prst="rect">
            <a:avLst/>
          </a:prstGeom>
          <a:noFill/>
          <a:ln/>
        </p:spPr>
        <p:txBody>
          <a:bodyPr wrap="square" lIns="0" tIns="0" rIns="0" bIns="0" rtlCol="0" anchor="ctr"/>
          <a:lstStyle/>
          <a:p>
            <a:pPr algn="ctr" indent="0" marL="0">
              <a:buNone/>
            </a:pPr>
            <a:r>
              <a:rPr lang="en-US" sz="1300" b="1" dirty="0">
                <a:solidFill>
                  <a:schemeClr val="tx1"/>
                </a:solidFill>
              </a:rPr>
              <a:t>init</a:t>
            </a:r>
            <a:endParaRPr lang="en-US" sz="1300" dirty="0"/>
          </a:p>
        </p:txBody>
      </p:sp>
      <p:sp>
        <p:nvSpPr>
          <p:cNvPr id="10" name="Shape 7"/>
          <p:cNvSpPr/>
          <p:nvPr/>
        </p:nvSpPr>
        <p:spPr>
          <a:xfrm>
            <a:off x="2139696" y="2057400"/>
            <a:ext cx="338328" cy="0"/>
          </a:xfrm>
          <a:prstGeom prst="line">
            <a:avLst/>
          </a:prstGeom>
          <a:noFill/>
          <a:ln w="15875">
            <a:solidFill>
              <a:schemeClr val="tx1"/>
            </a:solidFill>
            <a:prstDash val="solid"/>
            <a:tailEnd type="triangle"/>
          </a:ln>
        </p:spPr>
      </p:sp>
      <p:sp>
        <p:nvSpPr>
          <p:cNvPr id="11" name="Shape 8"/>
          <p:cNvSpPr/>
          <p:nvPr/>
        </p:nvSpPr>
        <p:spPr>
          <a:xfrm>
            <a:off x="2514600" y="1783080"/>
            <a:ext cx="1417320" cy="548640"/>
          </a:xfrm>
          <a:prstGeom prst="roundRect">
            <a:avLst>
              <a:gd name="adj" fmla="val 10000"/>
            </a:avLst>
          </a:prstGeom>
          <a:solidFill>
            <a:schemeClr val="bg1"/>
          </a:solidFill>
          <a:ln w="12700">
            <a:solidFill>
              <a:schemeClr val="tx1"/>
            </a:solidFill>
            <a:prstDash val="solid"/>
          </a:ln>
        </p:spPr>
      </p:sp>
      <p:sp>
        <p:nvSpPr>
          <p:cNvPr id="12" name="Text 9"/>
          <p:cNvSpPr txBox="1"/>
          <p:nvPr/>
        </p:nvSpPr>
        <p:spPr>
          <a:xfrm>
            <a:off x="2514600" y="1783080"/>
            <a:ext cx="1417320" cy="548640"/>
          </a:xfrm>
          <a:prstGeom prst="rect">
            <a:avLst/>
          </a:prstGeom>
          <a:noFill/>
          <a:ln/>
        </p:spPr>
        <p:txBody>
          <a:bodyPr wrap="square" lIns="0" tIns="0" rIns="0" bIns="0" rtlCol="0" anchor="ctr"/>
          <a:lstStyle/>
          <a:p>
            <a:pPr algn="ctr" indent="0" marL="0">
              <a:buNone/>
            </a:pPr>
            <a:r>
              <a:rPr lang="en-US" sz="1300" b="1" dirty="0">
                <a:solidFill>
                  <a:schemeClr val="tx1"/>
                </a:solidFill>
              </a:rPr>
              <a:t>layout</a:t>
            </a:r>
            <a:endParaRPr lang="en-US" sz="1300" dirty="0"/>
          </a:p>
        </p:txBody>
      </p:sp>
      <p:sp>
        <p:nvSpPr>
          <p:cNvPr id="13" name="Shape 10"/>
          <p:cNvSpPr/>
          <p:nvPr/>
        </p:nvSpPr>
        <p:spPr>
          <a:xfrm>
            <a:off x="3968496" y="2057400"/>
            <a:ext cx="338328" cy="0"/>
          </a:xfrm>
          <a:prstGeom prst="line">
            <a:avLst/>
          </a:prstGeom>
          <a:noFill/>
          <a:ln w="15875">
            <a:solidFill>
              <a:schemeClr val="tx1"/>
            </a:solidFill>
            <a:prstDash val="solid"/>
            <a:tailEnd type="triangle"/>
          </a:ln>
        </p:spPr>
      </p:sp>
      <p:sp>
        <p:nvSpPr>
          <p:cNvPr id="14" name="Shape 11"/>
          <p:cNvSpPr/>
          <p:nvPr/>
        </p:nvSpPr>
        <p:spPr>
          <a:xfrm>
            <a:off x="4343400" y="1783080"/>
            <a:ext cx="1417320" cy="548640"/>
          </a:xfrm>
          <a:prstGeom prst="roundRect">
            <a:avLst>
              <a:gd name="adj" fmla="val 10000"/>
            </a:avLst>
          </a:prstGeom>
          <a:solidFill>
            <a:schemeClr val="bg1"/>
          </a:solidFill>
          <a:ln w="12700">
            <a:solidFill>
              <a:schemeClr val="tx1"/>
            </a:solidFill>
            <a:prstDash val="solid"/>
          </a:ln>
        </p:spPr>
      </p:sp>
      <p:sp>
        <p:nvSpPr>
          <p:cNvPr id="15" name="Text 12"/>
          <p:cNvSpPr txBox="1"/>
          <p:nvPr/>
        </p:nvSpPr>
        <p:spPr>
          <a:xfrm>
            <a:off x="4343400" y="1783080"/>
            <a:ext cx="1417320" cy="548640"/>
          </a:xfrm>
          <a:prstGeom prst="rect">
            <a:avLst/>
          </a:prstGeom>
          <a:noFill/>
          <a:ln/>
        </p:spPr>
        <p:txBody>
          <a:bodyPr wrap="square" lIns="0" tIns="0" rIns="0" bIns="0" rtlCol="0" anchor="ctr"/>
          <a:lstStyle/>
          <a:p>
            <a:pPr algn="ctr" indent="0" marL="0">
              <a:buNone/>
            </a:pPr>
            <a:r>
              <a:rPr lang="en-US" sz="1300" b="1" dirty="0">
                <a:solidFill>
                  <a:schemeClr val="tx1"/>
                </a:solidFill>
              </a:rPr>
              <a:t>routing</a:t>
            </a:r>
            <a:endParaRPr lang="en-US" sz="1300" dirty="0"/>
          </a:p>
        </p:txBody>
      </p:sp>
      <p:sp>
        <p:nvSpPr>
          <p:cNvPr id="16" name="Shape 13"/>
          <p:cNvSpPr/>
          <p:nvPr/>
        </p:nvSpPr>
        <p:spPr>
          <a:xfrm>
            <a:off x="5797296" y="2057400"/>
            <a:ext cx="338328" cy="0"/>
          </a:xfrm>
          <a:prstGeom prst="line">
            <a:avLst/>
          </a:prstGeom>
          <a:noFill/>
          <a:ln w="15875">
            <a:solidFill>
              <a:schemeClr val="tx1"/>
            </a:solidFill>
            <a:prstDash val="solid"/>
            <a:tailEnd type="triangle"/>
          </a:ln>
        </p:spPr>
      </p:sp>
      <p:sp>
        <p:nvSpPr>
          <p:cNvPr id="17" name="Shape 14"/>
          <p:cNvSpPr/>
          <p:nvPr/>
        </p:nvSpPr>
        <p:spPr>
          <a:xfrm>
            <a:off x="6172200" y="1783080"/>
            <a:ext cx="1417320" cy="548640"/>
          </a:xfrm>
          <a:prstGeom prst="roundRect">
            <a:avLst>
              <a:gd name="adj" fmla="val 10000"/>
            </a:avLst>
          </a:prstGeom>
          <a:solidFill>
            <a:schemeClr val="accent5"/>
          </a:solidFill>
          <a:ln w="22225">
            <a:solidFill>
              <a:schemeClr val="accent1"/>
            </a:solidFill>
            <a:prstDash val="solid"/>
          </a:ln>
        </p:spPr>
      </p:sp>
      <p:sp>
        <p:nvSpPr>
          <p:cNvPr id="18" name="Text 15"/>
          <p:cNvSpPr txBox="1"/>
          <p:nvPr/>
        </p:nvSpPr>
        <p:spPr>
          <a:xfrm>
            <a:off x="6172200" y="1783080"/>
            <a:ext cx="1417320" cy="548640"/>
          </a:xfrm>
          <a:prstGeom prst="rect">
            <a:avLst/>
          </a:prstGeom>
          <a:noFill/>
          <a:ln/>
        </p:spPr>
        <p:txBody>
          <a:bodyPr wrap="square" lIns="0" tIns="0" rIns="0" bIns="0" rtlCol="0" anchor="ctr"/>
          <a:lstStyle/>
          <a:p>
            <a:pPr algn="ctr" indent="0" marL="0">
              <a:buNone/>
            </a:pPr>
            <a:r>
              <a:rPr lang="en-US" sz="1300" b="1" dirty="0">
                <a:solidFill>
                  <a:schemeClr val="accent1"/>
                </a:solidFill>
              </a:rPr>
              <a:t>translation</a:t>
            </a:r>
            <a:endParaRPr lang="en-US" sz="1300" dirty="0"/>
          </a:p>
        </p:txBody>
      </p:sp>
      <p:sp>
        <p:nvSpPr>
          <p:cNvPr id="19" name="Shape 16"/>
          <p:cNvSpPr/>
          <p:nvPr/>
        </p:nvSpPr>
        <p:spPr>
          <a:xfrm>
            <a:off x="7626096" y="2057400"/>
            <a:ext cx="338328" cy="0"/>
          </a:xfrm>
          <a:prstGeom prst="line">
            <a:avLst/>
          </a:prstGeom>
          <a:noFill/>
          <a:ln w="15875">
            <a:solidFill>
              <a:schemeClr val="tx1"/>
            </a:solidFill>
            <a:prstDash val="solid"/>
            <a:tailEnd type="triangle"/>
          </a:ln>
        </p:spPr>
      </p:sp>
      <p:sp>
        <p:nvSpPr>
          <p:cNvPr id="20" name="Shape 17"/>
          <p:cNvSpPr/>
          <p:nvPr/>
        </p:nvSpPr>
        <p:spPr>
          <a:xfrm>
            <a:off x="8001000" y="1783080"/>
            <a:ext cx="1417320" cy="548640"/>
          </a:xfrm>
          <a:prstGeom prst="roundRect">
            <a:avLst>
              <a:gd name="adj" fmla="val 10000"/>
            </a:avLst>
          </a:prstGeom>
          <a:solidFill>
            <a:schemeClr val="bg1"/>
          </a:solidFill>
          <a:ln w="12700">
            <a:solidFill>
              <a:schemeClr val="tx1"/>
            </a:solidFill>
            <a:prstDash val="solid"/>
          </a:ln>
        </p:spPr>
      </p:sp>
      <p:sp>
        <p:nvSpPr>
          <p:cNvPr id="21" name="Text 18"/>
          <p:cNvSpPr txBox="1"/>
          <p:nvPr/>
        </p:nvSpPr>
        <p:spPr>
          <a:xfrm>
            <a:off x="8001000" y="1783080"/>
            <a:ext cx="1417320" cy="548640"/>
          </a:xfrm>
          <a:prstGeom prst="rect">
            <a:avLst/>
          </a:prstGeom>
          <a:noFill/>
          <a:ln/>
        </p:spPr>
        <p:txBody>
          <a:bodyPr wrap="square" lIns="0" tIns="0" rIns="0" bIns="0" rtlCol="0" anchor="ctr"/>
          <a:lstStyle/>
          <a:p>
            <a:pPr algn="ctr" indent="0" marL="0">
              <a:buNone/>
            </a:pPr>
            <a:r>
              <a:rPr lang="en-US" sz="1300" b="1" dirty="0">
                <a:solidFill>
                  <a:schemeClr val="tx1"/>
                </a:solidFill>
              </a:rPr>
              <a:t>optimization</a:t>
            </a:r>
            <a:endParaRPr lang="en-US" sz="1300" dirty="0"/>
          </a:p>
        </p:txBody>
      </p:sp>
      <p:sp>
        <p:nvSpPr>
          <p:cNvPr id="22" name="Shape 19"/>
          <p:cNvSpPr/>
          <p:nvPr/>
        </p:nvSpPr>
        <p:spPr>
          <a:xfrm>
            <a:off x="9454896" y="2057400"/>
            <a:ext cx="338328" cy="0"/>
          </a:xfrm>
          <a:prstGeom prst="line">
            <a:avLst/>
          </a:prstGeom>
          <a:noFill/>
          <a:ln w="15875">
            <a:solidFill>
              <a:schemeClr val="tx1"/>
            </a:solidFill>
            <a:prstDash val="solid"/>
            <a:tailEnd type="triangle"/>
          </a:ln>
        </p:spPr>
      </p:sp>
      <p:sp>
        <p:nvSpPr>
          <p:cNvPr id="23" name="Shape 20"/>
          <p:cNvSpPr/>
          <p:nvPr/>
        </p:nvSpPr>
        <p:spPr>
          <a:xfrm>
            <a:off x="9829800" y="1783080"/>
            <a:ext cx="1417320" cy="548640"/>
          </a:xfrm>
          <a:prstGeom prst="roundRect">
            <a:avLst>
              <a:gd name="adj" fmla="val 10000"/>
            </a:avLst>
          </a:prstGeom>
          <a:solidFill>
            <a:schemeClr val="bg1"/>
          </a:solidFill>
          <a:ln w="12700">
            <a:solidFill>
              <a:schemeClr val="tx1"/>
            </a:solidFill>
            <a:prstDash val="solid"/>
          </a:ln>
        </p:spPr>
      </p:sp>
      <p:sp>
        <p:nvSpPr>
          <p:cNvPr id="24" name="Text 21"/>
          <p:cNvSpPr txBox="1"/>
          <p:nvPr/>
        </p:nvSpPr>
        <p:spPr>
          <a:xfrm>
            <a:off x="9829800" y="1783080"/>
            <a:ext cx="1417320" cy="548640"/>
          </a:xfrm>
          <a:prstGeom prst="rect">
            <a:avLst/>
          </a:prstGeom>
          <a:noFill/>
          <a:ln/>
        </p:spPr>
        <p:txBody>
          <a:bodyPr wrap="square" lIns="0" tIns="0" rIns="0" bIns="0" rtlCol="0" anchor="ctr"/>
          <a:lstStyle/>
          <a:p>
            <a:pPr algn="ctr" indent="0" marL="0">
              <a:buNone/>
            </a:pPr>
            <a:r>
              <a:rPr lang="en-US" sz="1300" b="1" dirty="0">
                <a:solidFill>
                  <a:schemeClr val="tx1"/>
                </a:solidFill>
              </a:rPr>
              <a:t>scheduling</a:t>
            </a:r>
            <a:endParaRPr lang="en-US" sz="1300" dirty="0"/>
          </a:p>
        </p:txBody>
      </p:sp>
      <p:sp>
        <p:nvSpPr>
          <p:cNvPr id="25" name="Text 22"/>
          <p:cNvSpPr txBox="1"/>
          <p:nvPr/>
        </p:nvSpPr>
        <p:spPr>
          <a:xfrm>
            <a:off x="411480" y="2386584"/>
            <a:ext cx="1965960" cy="201168"/>
          </a:xfrm>
          <a:prstGeom prst="rect">
            <a:avLst/>
          </a:prstGeom>
          <a:noFill/>
          <a:ln/>
        </p:spPr>
        <p:txBody>
          <a:bodyPr wrap="square" lIns="0" tIns="0" rIns="0" bIns="0" rtlCol="0" anchor="ctr"/>
          <a:lstStyle/>
          <a:p>
            <a:pPr algn="ctr" indent="0" marL="0">
              <a:buNone/>
            </a:pPr>
            <a:r>
              <a:rPr lang="en-US" sz="1050" dirty="0">
                <a:solidFill>
                  <a:schemeClr val="tx2"/>
                </a:solidFill>
              </a:rPr>
              <a:t>ElidePermutations</a:t>
            </a:r>
            <a:endParaRPr lang="en-US" sz="1050" dirty="0"/>
          </a:p>
        </p:txBody>
      </p:sp>
      <p:sp>
        <p:nvSpPr>
          <p:cNvPr id="26" name="Text 23"/>
          <p:cNvSpPr txBox="1"/>
          <p:nvPr/>
        </p:nvSpPr>
        <p:spPr>
          <a:xfrm>
            <a:off x="2240280" y="2386584"/>
            <a:ext cx="1965960" cy="201168"/>
          </a:xfrm>
          <a:prstGeom prst="rect">
            <a:avLst/>
          </a:prstGeom>
          <a:noFill/>
          <a:ln/>
        </p:spPr>
        <p:txBody>
          <a:bodyPr wrap="square" lIns="0" tIns="0" rIns="0" bIns="0" rtlCol="0" anchor="ctr"/>
          <a:lstStyle/>
          <a:p>
            <a:pPr algn="ctr" indent="0" marL="0">
              <a:buNone/>
            </a:pPr>
            <a:r>
              <a:rPr lang="en-US" sz="1050" dirty="0">
                <a:solidFill>
                  <a:schemeClr val="tx2"/>
                </a:solidFill>
              </a:rPr>
              <a:t>trivial, identity</a:t>
            </a:r>
            <a:endParaRPr lang="en-US" sz="1050" dirty="0"/>
          </a:p>
        </p:txBody>
      </p:sp>
      <p:sp>
        <p:nvSpPr>
          <p:cNvPr id="27" name="Text 24"/>
          <p:cNvSpPr txBox="1"/>
          <p:nvPr/>
        </p:nvSpPr>
        <p:spPr>
          <a:xfrm>
            <a:off x="4069080" y="2386584"/>
            <a:ext cx="1965960" cy="201168"/>
          </a:xfrm>
          <a:prstGeom prst="rect">
            <a:avLst/>
          </a:prstGeom>
          <a:noFill/>
          <a:ln/>
        </p:spPr>
        <p:txBody>
          <a:bodyPr wrap="square" lIns="0" tIns="0" rIns="0" bIns="0" rtlCol="0" anchor="ctr"/>
          <a:lstStyle/>
          <a:p>
            <a:pPr algn="ctr" indent="0" marL="0">
              <a:buNone/>
            </a:pPr>
            <a:r>
              <a:rPr lang="en-US" sz="1050" dirty="0">
                <a:solidFill>
                  <a:schemeClr val="tx2"/>
                </a:solidFill>
              </a:rPr>
              <a:t>SABRE, seed, 20 trials</a:t>
            </a:r>
            <a:endParaRPr lang="en-US" sz="1050" dirty="0"/>
          </a:p>
        </p:txBody>
      </p:sp>
      <p:sp>
        <p:nvSpPr>
          <p:cNvPr id="28" name="Text 25"/>
          <p:cNvSpPr txBox="1"/>
          <p:nvPr/>
        </p:nvSpPr>
        <p:spPr>
          <a:xfrm>
            <a:off x="4069080" y="2587752"/>
            <a:ext cx="1965960" cy="201168"/>
          </a:xfrm>
          <a:prstGeom prst="rect">
            <a:avLst/>
          </a:prstGeom>
          <a:noFill/>
          <a:ln/>
        </p:spPr>
        <p:txBody>
          <a:bodyPr wrap="square" lIns="0" tIns="0" rIns="0" bIns="0" rtlCol="0" anchor="ctr"/>
          <a:lstStyle/>
          <a:p>
            <a:pPr algn="ctr" indent="0" marL="0">
              <a:buNone/>
            </a:pPr>
            <a:r>
              <a:rPr lang="en-US" sz="1050" dirty="0">
                <a:solidFill>
                  <a:schemeClr val="tx2"/>
                </a:solidFill>
              </a:rPr>
              <a:t>VF2PostLayout skipped</a:t>
            </a:r>
            <a:endParaRPr lang="en-US" sz="1050" dirty="0"/>
          </a:p>
        </p:txBody>
      </p:sp>
      <p:sp>
        <p:nvSpPr>
          <p:cNvPr id="29" name="Text 26"/>
          <p:cNvSpPr txBox="1"/>
          <p:nvPr/>
        </p:nvSpPr>
        <p:spPr>
          <a:xfrm>
            <a:off x="7726680" y="2386584"/>
            <a:ext cx="1965960" cy="201168"/>
          </a:xfrm>
          <a:prstGeom prst="rect">
            <a:avLst/>
          </a:prstGeom>
          <a:noFill/>
          <a:ln/>
        </p:spPr>
        <p:txBody>
          <a:bodyPr wrap="square" lIns="0" tIns="0" rIns="0" bIns="0" rtlCol="0" anchor="ctr"/>
          <a:lstStyle/>
          <a:p>
            <a:pPr algn="ctr" indent="0" marL="0">
              <a:buNone/>
            </a:pPr>
            <a:r>
              <a:rPr lang="en-US" sz="1050" dirty="0">
                <a:solidFill>
                  <a:schemeClr val="tx2"/>
                </a:solidFill>
              </a:rPr>
              <a:t>1q and 2q peephole loop</a:t>
            </a:r>
            <a:endParaRPr lang="en-US" sz="1050" dirty="0"/>
          </a:p>
        </p:txBody>
      </p:sp>
      <p:sp>
        <p:nvSpPr>
          <p:cNvPr id="30" name="Text 27"/>
          <p:cNvSpPr txBox="1"/>
          <p:nvPr/>
        </p:nvSpPr>
        <p:spPr>
          <a:xfrm>
            <a:off x="7726680" y="2587752"/>
            <a:ext cx="1965960" cy="201168"/>
          </a:xfrm>
          <a:prstGeom prst="rect">
            <a:avLst/>
          </a:prstGeom>
          <a:noFill/>
          <a:ln/>
        </p:spPr>
        <p:txBody>
          <a:bodyPr wrap="square" lIns="0" tIns="0" rIns="0" bIns="0" rtlCol="0" anchor="ctr"/>
          <a:lstStyle/>
          <a:p>
            <a:pPr algn="ctr" indent="0" marL="0">
              <a:buNone/>
            </a:pPr>
            <a:r>
              <a:rPr lang="en-US" sz="1050" dirty="0">
                <a:solidFill>
                  <a:schemeClr val="tx2"/>
                </a:solidFill>
              </a:rPr>
              <a:t>differs between levels</a:t>
            </a:r>
            <a:endParaRPr lang="en-US" sz="1050" dirty="0"/>
          </a:p>
        </p:txBody>
      </p:sp>
      <p:sp>
        <p:nvSpPr>
          <p:cNvPr id="31" name="Shape 28"/>
          <p:cNvSpPr/>
          <p:nvPr/>
        </p:nvSpPr>
        <p:spPr>
          <a:xfrm>
            <a:off x="6880860" y="2331720"/>
            <a:ext cx="0" cy="118872"/>
          </a:xfrm>
          <a:prstGeom prst="line">
            <a:avLst/>
          </a:prstGeom>
          <a:noFill/>
          <a:ln w="12700">
            <a:solidFill>
              <a:schemeClr val="tx1"/>
            </a:solidFill>
            <a:prstDash val="solid"/>
          </a:ln>
        </p:spPr>
      </p:sp>
      <p:sp>
        <p:nvSpPr>
          <p:cNvPr id="32" name="Shape 29"/>
          <p:cNvSpPr/>
          <p:nvPr/>
        </p:nvSpPr>
        <p:spPr>
          <a:xfrm>
            <a:off x="6172200" y="2450592"/>
            <a:ext cx="1417320" cy="310896"/>
          </a:xfrm>
          <a:prstGeom prst="roundRect">
            <a:avLst>
              <a:gd name="adj" fmla="val 17647"/>
            </a:avLst>
          </a:prstGeom>
          <a:solidFill>
            <a:schemeClr val="accent5"/>
          </a:solidFill>
          <a:ln w="15875">
            <a:solidFill>
              <a:schemeClr val="accent1"/>
            </a:solidFill>
            <a:prstDash val="solid"/>
          </a:ln>
        </p:spPr>
      </p:sp>
      <p:sp>
        <p:nvSpPr>
          <p:cNvPr id="33" name="Text 30"/>
          <p:cNvSpPr txBox="1"/>
          <p:nvPr/>
        </p:nvSpPr>
        <p:spPr>
          <a:xfrm>
            <a:off x="6172200" y="2450592"/>
            <a:ext cx="1417320" cy="310896"/>
          </a:xfrm>
          <a:prstGeom prst="rect">
            <a:avLst/>
          </a:prstGeom>
          <a:noFill/>
          <a:ln/>
        </p:spPr>
        <p:txBody>
          <a:bodyPr wrap="square" lIns="0" tIns="0" rIns="0" bIns="0" rtlCol="0" anchor="ctr"/>
          <a:lstStyle/>
          <a:p>
            <a:pPr algn="ctr" indent="0" marL="0">
              <a:buNone/>
            </a:pPr>
            <a:r>
              <a:rPr lang="en-US" sz="1100" b="1" dirty="0">
                <a:solidFill>
                  <a:schemeClr val="accent1"/>
                </a:solidFill>
              </a:rPr>
              <a:t>AbsorbIntoSwaps</a:t>
            </a:r>
            <a:endParaRPr lang="en-US" sz="1100" dirty="0"/>
          </a:p>
        </p:txBody>
      </p:sp>
      <p:sp>
        <p:nvSpPr>
          <p:cNvPr id="34" name="Shape 31"/>
          <p:cNvSpPr/>
          <p:nvPr/>
        </p:nvSpPr>
        <p:spPr>
          <a:xfrm>
            <a:off x="6172200" y="2834640"/>
            <a:ext cx="1417320" cy="457200"/>
          </a:xfrm>
          <a:prstGeom prst="roundRect">
            <a:avLst>
              <a:gd name="adj" fmla="val 12000"/>
            </a:avLst>
          </a:prstGeom>
          <a:solidFill>
            <a:schemeClr val="bg1"/>
          </a:solidFill>
          <a:ln w="12700">
            <a:solidFill>
              <a:schemeClr val="tx1"/>
            </a:solidFill>
            <a:prstDash val="solid"/>
          </a:ln>
        </p:spPr>
      </p:sp>
      <p:sp>
        <p:nvSpPr>
          <p:cNvPr id="35" name="Text 32"/>
          <p:cNvSpPr txBox="1"/>
          <p:nvPr/>
        </p:nvSpPr>
        <p:spPr>
          <a:xfrm>
            <a:off x="6172200" y="2834640"/>
            <a:ext cx="1417320" cy="457200"/>
          </a:xfrm>
          <a:prstGeom prst="rect">
            <a:avLst/>
          </a:prstGeom>
          <a:noFill/>
          <a:ln/>
        </p:spPr>
        <p:txBody>
          <a:bodyPr wrap="square" lIns="0" tIns="0" rIns="0" bIns="0" rtlCol="0" anchor="ctr"/>
          <a:lstStyle/>
          <a:p>
            <a:pPr algn="ctr" indent="0" marL="0">
              <a:buNone/>
            </a:pPr>
            <a:r>
              <a:rPr lang="en-US" sz="1000" dirty="0">
                <a:solidFill>
                  <a:schemeClr val="tx1"/>
                </a:solidFill>
              </a:rPr>
              <a:t>synthesis, HLS,</a:t>
            </a:r>
            <a:endParaRPr lang="en-US" sz="1000" dirty="0"/>
          </a:p>
          <a:p>
            <a:pPr algn="ctr" indent="0" marL="0">
              <a:buNone/>
            </a:pPr>
            <a:r>
              <a:rPr lang="en-US" sz="1000" dirty="0">
                <a:solidFill>
                  <a:schemeClr val="tx1"/>
                </a:solidFill>
              </a:rPr>
              <a:t>BasisTranslator</a:t>
            </a:r>
            <a:endParaRPr lang="en-US" sz="1000" dirty="0"/>
          </a:p>
        </p:txBody>
      </p:sp>
      <p:sp>
        <p:nvSpPr>
          <p:cNvPr id="36" name="Shape 33"/>
          <p:cNvSpPr/>
          <p:nvPr/>
        </p:nvSpPr>
        <p:spPr>
          <a:xfrm>
            <a:off x="685800" y="3447288"/>
            <a:ext cx="0" cy="73152"/>
          </a:xfrm>
          <a:prstGeom prst="line">
            <a:avLst/>
          </a:prstGeom>
          <a:noFill/>
          <a:ln w="12700">
            <a:solidFill>
              <a:schemeClr val="tx1"/>
            </a:solidFill>
            <a:prstDash val="solid"/>
          </a:ln>
        </p:spPr>
      </p:sp>
      <p:sp>
        <p:nvSpPr>
          <p:cNvPr id="37" name="Shape 34"/>
          <p:cNvSpPr/>
          <p:nvPr/>
        </p:nvSpPr>
        <p:spPr>
          <a:xfrm>
            <a:off x="685800" y="3520440"/>
            <a:ext cx="6903720" cy="0"/>
          </a:xfrm>
          <a:prstGeom prst="line">
            <a:avLst/>
          </a:prstGeom>
          <a:noFill/>
          <a:ln w="12700">
            <a:solidFill>
              <a:schemeClr val="tx1"/>
            </a:solidFill>
            <a:prstDash val="solid"/>
          </a:ln>
        </p:spPr>
      </p:sp>
      <p:sp>
        <p:nvSpPr>
          <p:cNvPr id="38" name="Shape 35"/>
          <p:cNvSpPr/>
          <p:nvPr/>
        </p:nvSpPr>
        <p:spPr>
          <a:xfrm>
            <a:off x="7589520" y="3447288"/>
            <a:ext cx="0" cy="73152"/>
          </a:xfrm>
          <a:prstGeom prst="line">
            <a:avLst/>
          </a:prstGeom>
          <a:noFill/>
          <a:ln w="12700">
            <a:solidFill>
              <a:schemeClr val="tx1"/>
            </a:solidFill>
            <a:prstDash val="solid"/>
          </a:ln>
        </p:spPr>
      </p:sp>
      <p:sp>
        <p:nvSpPr>
          <p:cNvPr id="39" name="Shape 36"/>
          <p:cNvSpPr/>
          <p:nvPr/>
        </p:nvSpPr>
        <p:spPr>
          <a:xfrm>
            <a:off x="8001000" y="3447288"/>
            <a:ext cx="0" cy="73152"/>
          </a:xfrm>
          <a:prstGeom prst="line">
            <a:avLst/>
          </a:prstGeom>
          <a:noFill/>
          <a:ln w="12700">
            <a:solidFill>
              <a:schemeClr val="tx1"/>
            </a:solidFill>
            <a:prstDash val="solid"/>
          </a:ln>
        </p:spPr>
      </p:sp>
      <p:sp>
        <p:nvSpPr>
          <p:cNvPr id="40" name="Shape 37"/>
          <p:cNvSpPr/>
          <p:nvPr/>
        </p:nvSpPr>
        <p:spPr>
          <a:xfrm>
            <a:off x="8001000" y="3520440"/>
            <a:ext cx="1417320" cy="0"/>
          </a:xfrm>
          <a:prstGeom prst="line">
            <a:avLst/>
          </a:prstGeom>
          <a:noFill/>
          <a:ln w="12700">
            <a:solidFill>
              <a:schemeClr val="tx1"/>
            </a:solidFill>
            <a:prstDash val="solid"/>
          </a:ln>
        </p:spPr>
      </p:sp>
      <p:sp>
        <p:nvSpPr>
          <p:cNvPr id="41" name="Shape 38"/>
          <p:cNvSpPr/>
          <p:nvPr/>
        </p:nvSpPr>
        <p:spPr>
          <a:xfrm>
            <a:off x="9418320" y="3447288"/>
            <a:ext cx="0" cy="73152"/>
          </a:xfrm>
          <a:prstGeom prst="line">
            <a:avLst/>
          </a:prstGeom>
          <a:noFill/>
          <a:ln w="12700">
            <a:solidFill>
              <a:schemeClr val="tx1"/>
            </a:solidFill>
            <a:prstDash val="solid"/>
          </a:ln>
        </p:spPr>
      </p:sp>
      <p:sp>
        <p:nvSpPr>
          <p:cNvPr id="42" name="Text 39"/>
          <p:cNvSpPr txBox="1"/>
          <p:nvPr/>
        </p:nvSpPr>
        <p:spPr>
          <a:xfrm>
            <a:off x="685800" y="3566160"/>
            <a:ext cx="6903720" cy="219456"/>
          </a:xfrm>
          <a:prstGeom prst="rect">
            <a:avLst/>
          </a:prstGeom>
          <a:noFill/>
          <a:ln/>
        </p:spPr>
        <p:txBody>
          <a:bodyPr wrap="square" lIns="0" tIns="0" rIns="0" bIns="0" rtlCol="0" anchor="ctr"/>
          <a:lstStyle/>
          <a:p>
            <a:pPr algn="ctr" indent="0" marL="0">
              <a:buNone/>
            </a:pPr>
            <a:r>
              <a:rPr lang="en-US" sz="1050" dirty="0">
                <a:solidFill>
                  <a:schemeClr val="tx2"/>
                </a:solidFill>
              </a:rPr>
              <a:t>same DAG reaches the absorption pass at levels 2 and 3 (same seed, no VF2PostLayout)</a:t>
            </a:r>
            <a:endParaRPr lang="en-US" sz="1050" dirty="0"/>
          </a:p>
        </p:txBody>
      </p:sp>
      <p:sp>
        <p:nvSpPr>
          <p:cNvPr id="43" name="Text 40"/>
          <p:cNvSpPr txBox="1"/>
          <p:nvPr/>
        </p:nvSpPr>
        <p:spPr>
          <a:xfrm>
            <a:off x="7726680" y="3566160"/>
            <a:ext cx="1965960" cy="219456"/>
          </a:xfrm>
          <a:prstGeom prst="rect">
            <a:avLst/>
          </a:prstGeom>
          <a:noFill/>
          <a:ln/>
        </p:spPr>
        <p:txBody>
          <a:bodyPr wrap="square" lIns="0" tIns="0" rIns="0" bIns="0" rtlCol="0" anchor="ctr"/>
          <a:lstStyle/>
          <a:p>
            <a:pPr algn="ctr" indent="0" marL="0">
              <a:buNone/>
            </a:pPr>
            <a:r>
              <a:rPr lang="en-US" sz="1050" dirty="0">
                <a:solidFill>
                  <a:schemeClr val="tx2"/>
                </a:solidFill>
              </a:rPr>
              <a:t>level-dependent</a:t>
            </a:r>
            <a:endParaRPr lang="en-US" sz="1050" dirty="0"/>
          </a:p>
        </p:txBody>
      </p:sp>
      <p:sp>
        <p:nvSpPr>
          <p:cNvPr id="44" name="Text 41"/>
          <p:cNvSpPr txBox="1"/>
          <p:nvPr/>
        </p:nvSpPr>
        <p:spPr>
          <a:xfrm>
            <a:off x="548640" y="4023360"/>
            <a:ext cx="11091672" cy="224028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300" b="1" dirty="0">
                <a:solidFill>
                  <a:schemeClr val="tx1"/>
                </a:solidFill>
              </a:rPr>
              <a:t>Levels 2 and 3 report identical absorption statistics (42 cases, 410 moves, 96 executions), and that is expected. </a:t>
            </a:r>
            <a:pPr indent="0" marL="0">
              <a:lnSpc>
                <a:spcPct val="105000"/>
              </a:lnSpc>
              <a:spcAft>
                <a:spcPts val="600"/>
              </a:spcAft>
              <a:buNone/>
            </a:pPr>
            <a:r>
              <a:rPr lang="en-US" sz="1300" dirty="0">
                <a:solidFill>
                  <a:schemeClr val="tx1"/>
                </a:solidFill>
              </a:rPr>
              <a:t>With a trivial initial layout and a fixed SABRE seed, layout and routing are identical at both levels, and the user-given layout disables VF2PostLayout. The same routed DAG reaches the pass at both levels; what the level changes is the optimization loop downstream, which has to keep the moved block exact.</a:t>
            </a:r>
            <a:endParaRPr lang="en-US" sz="1300" dirty="0"/>
          </a:p>
          <a:p>
            <a:pPr marL="342900" indent="-342900">
              <a:lnSpc>
                <a:spcPct val="105000"/>
              </a:lnSpc>
              <a:spcAft>
                <a:spcPts val="600"/>
              </a:spcAft>
              <a:buSzPct val="100000"/>
              <a:buChar char="•"/>
            </a:pPr>
            <a:r>
              <a:rPr lang="en-US" sz="1300" b="1" dirty="0">
                <a:solidFill>
                  <a:schemeClr val="tx1"/>
                </a:solidFill>
              </a:rPr>
              <a:t>The pass may execute more than once per case. </a:t>
            </a:r>
            <a:pPr indent="0" marL="0">
              <a:lnSpc>
                <a:spcPct val="105000"/>
              </a:lnSpc>
              <a:spcAft>
                <a:spcPts val="600"/>
              </a:spcAft>
              <a:buNone/>
            </a:pPr>
            <a:r>
              <a:rPr lang="en-US" sz="1300" dirty="0">
                <a:solidFill>
                  <a:schemeClr val="tx1"/>
                </a:solidFill>
              </a:rPr>
              <a:t>The translation stage is inlined into the optimization loop behind a gates-in-basis condition. The harness counts executions through the pass-manager callback and sums the moves of every invocation. In the recorded run each case executed the pass exactly once.</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Which code is tested</a:t>
            </a:r>
            <a:endParaRPr lang="en-US" sz="3000" dirty="0"/>
          </a:p>
        </p:txBody>
      </p:sp>
      <p:sp>
        <p:nvSpPr>
          <p:cNvPr id="4" name="Shape 1"/>
          <p:cNvSpPr/>
          <p:nvPr/>
        </p:nvSpPr>
        <p:spPr>
          <a:xfrm>
            <a:off x="640080" y="2057400"/>
            <a:ext cx="2743200" cy="1371600"/>
          </a:xfrm>
          <a:prstGeom prst="roundRect">
            <a:avLst>
              <a:gd name="adj" fmla="val 4000"/>
            </a:avLst>
          </a:prstGeom>
          <a:solidFill>
            <a:schemeClr val="bg1"/>
          </a:solidFill>
          <a:ln w="12700">
            <a:solidFill>
              <a:schemeClr val="tx1"/>
            </a:solidFill>
            <a:prstDash val="solid"/>
          </a:ln>
        </p:spPr>
      </p:sp>
      <p:sp>
        <p:nvSpPr>
          <p:cNvPr id="5" name="Text 2"/>
          <p:cNvSpPr txBox="1"/>
          <p:nvPr/>
        </p:nvSpPr>
        <p:spPr>
          <a:xfrm>
            <a:off x="777240" y="2130552"/>
            <a:ext cx="2560320" cy="256032"/>
          </a:xfrm>
          <a:prstGeom prst="rect">
            <a:avLst/>
          </a:prstGeom>
          <a:noFill/>
          <a:ln/>
        </p:spPr>
        <p:txBody>
          <a:bodyPr wrap="square" lIns="0" tIns="0" rIns="0" bIns="0" rtlCol="0" anchor="t"/>
          <a:lstStyle/>
          <a:p>
            <a:pPr algn="l" indent="0" marL="0">
              <a:buNone/>
            </a:pPr>
            <a:r>
              <a:rPr lang="en-US" sz="1200" b="1" dirty="0">
                <a:solidFill>
                  <a:schemeClr val="tx1"/>
                </a:solidFill>
              </a:rPr>
              <a:t>qiskit-evolved/.venv</a:t>
            </a:r>
            <a:endParaRPr lang="en-US" sz="1200" dirty="0"/>
          </a:p>
        </p:txBody>
      </p:sp>
      <p:sp>
        <p:nvSpPr>
          <p:cNvPr id="6" name="Text 3"/>
          <p:cNvSpPr txBox="1"/>
          <p:nvPr/>
        </p:nvSpPr>
        <p:spPr>
          <a:xfrm>
            <a:off x="777240" y="2414016"/>
            <a:ext cx="2560320" cy="201168"/>
          </a:xfrm>
          <a:prstGeom prst="rect">
            <a:avLst/>
          </a:prstGeom>
          <a:noFill/>
          <a:ln/>
        </p:spPr>
        <p:txBody>
          <a:bodyPr wrap="square" lIns="0" tIns="0" rIns="0" bIns="0" rtlCol="0" anchor="t"/>
          <a:lstStyle/>
          <a:p>
            <a:pPr algn="l" indent="0" marL="0">
              <a:buNone/>
            </a:pPr>
            <a:r>
              <a:rPr lang="en-US" sz="1050" dirty="0">
                <a:solidFill>
                  <a:schemeClr val="tx2"/>
                </a:solidFill>
              </a:rPr>
              <a:t>Python 3.11.8</a:t>
            </a:r>
            <a:endParaRPr lang="en-US" sz="1050" dirty="0"/>
          </a:p>
        </p:txBody>
      </p:sp>
      <p:sp>
        <p:nvSpPr>
          <p:cNvPr id="7" name="Text 4"/>
          <p:cNvSpPr txBox="1"/>
          <p:nvPr/>
        </p:nvSpPr>
        <p:spPr>
          <a:xfrm>
            <a:off x="777240" y="2633472"/>
            <a:ext cx="2560320" cy="201168"/>
          </a:xfrm>
          <a:prstGeom prst="rect">
            <a:avLst/>
          </a:prstGeom>
          <a:noFill/>
          <a:ln/>
        </p:spPr>
        <p:txBody>
          <a:bodyPr wrap="square" lIns="0" tIns="0" rIns="0" bIns="0" rtlCol="0" anchor="t"/>
          <a:lstStyle/>
          <a:p>
            <a:pPr algn="l" indent="0" marL="0">
              <a:buNone/>
            </a:pPr>
            <a:r>
              <a:rPr lang="en-US" sz="1050" dirty="0">
                <a:solidFill>
                  <a:schemeClr val="tx2"/>
                </a:solidFill>
              </a:rPr>
              <a:t>numpy · ddt · setuptools-rust</a:t>
            </a:r>
            <a:endParaRPr lang="en-US" sz="1050" dirty="0"/>
          </a:p>
        </p:txBody>
      </p:sp>
      <p:sp>
        <p:nvSpPr>
          <p:cNvPr id="8" name="Text 5"/>
          <p:cNvSpPr txBox="1"/>
          <p:nvPr/>
        </p:nvSpPr>
        <p:spPr>
          <a:xfrm>
            <a:off x="777240" y="3017520"/>
            <a:ext cx="2560320" cy="237744"/>
          </a:xfrm>
          <a:prstGeom prst="rect">
            <a:avLst/>
          </a:prstGeom>
          <a:noFill/>
          <a:ln/>
        </p:spPr>
        <p:txBody>
          <a:bodyPr wrap="square" lIns="0" tIns="0" rIns="0" bIns="0" rtlCol="0" anchor="t"/>
          <a:lstStyle/>
          <a:p>
            <a:pPr algn="l" indent="0" marL="0">
              <a:buNone/>
            </a:pPr>
            <a:r>
              <a:rPr lang="en-US" sz="1100" b="1" dirty="0">
                <a:solidFill>
                  <a:schemeClr val="accent1"/>
                </a:solidFill>
              </a:rPr>
              <a:t>no qiskit package installed</a:t>
            </a:r>
            <a:endParaRPr lang="en-US" sz="1100" dirty="0"/>
          </a:p>
        </p:txBody>
      </p:sp>
      <p:sp>
        <p:nvSpPr>
          <p:cNvPr id="9" name="Shape 6"/>
          <p:cNvSpPr/>
          <p:nvPr/>
        </p:nvSpPr>
        <p:spPr>
          <a:xfrm>
            <a:off x="4114800" y="2057400"/>
            <a:ext cx="2926080" cy="1371600"/>
          </a:xfrm>
          <a:prstGeom prst="roundRect">
            <a:avLst>
              <a:gd name="adj" fmla="val 4000"/>
            </a:avLst>
          </a:prstGeom>
          <a:solidFill>
            <a:schemeClr val="bg1"/>
          </a:solidFill>
          <a:ln w="12700">
            <a:solidFill>
              <a:schemeClr val="tx1"/>
            </a:solidFill>
            <a:prstDash val="solid"/>
          </a:ln>
        </p:spPr>
      </p:sp>
      <p:sp>
        <p:nvSpPr>
          <p:cNvPr id="10" name="Text 7"/>
          <p:cNvSpPr txBox="1"/>
          <p:nvPr/>
        </p:nvSpPr>
        <p:spPr>
          <a:xfrm>
            <a:off x="4251960" y="2130552"/>
            <a:ext cx="2651760" cy="256032"/>
          </a:xfrm>
          <a:prstGeom prst="rect">
            <a:avLst/>
          </a:prstGeom>
          <a:noFill/>
          <a:ln/>
        </p:spPr>
        <p:txBody>
          <a:bodyPr wrap="square" lIns="0" tIns="0" rIns="0" bIns="0" rtlCol="0" anchor="t"/>
          <a:lstStyle/>
          <a:p>
            <a:pPr algn="l" indent="0" marL="0">
              <a:buNone/>
            </a:pPr>
            <a:r>
              <a:rPr lang="en-US" sz="1200" b="1" dirty="0">
                <a:solidFill>
                  <a:schemeClr val="tx1"/>
                </a:solidFill>
              </a:rPr>
              <a:t>run_validation.py</a:t>
            </a:r>
            <a:endParaRPr lang="en-US" sz="1200" dirty="0"/>
          </a:p>
        </p:txBody>
      </p:sp>
      <p:sp>
        <p:nvSpPr>
          <p:cNvPr id="11" name="Text 8"/>
          <p:cNvSpPr txBox="1"/>
          <p:nvPr/>
        </p:nvSpPr>
        <p:spPr>
          <a:xfrm>
            <a:off x="4251960" y="2414016"/>
            <a:ext cx="2651760" cy="201168"/>
          </a:xfrm>
          <a:prstGeom prst="rect">
            <a:avLst/>
          </a:prstGeom>
          <a:noFill/>
          <a:ln/>
        </p:spPr>
        <p:txBody>
          <a:bodyPr wrap="square" lIns="0" tIns="0" rIns="0" bIns="0" rtlCol="0" anchor="t"/>
          <a:lstStyle/>
          <a:p>
            <a:pPr algn="l" indent="0" marL="0">
              <a:buNone/>
            </a:pPr>
            <a:r>
              <a:rPr lang="en-US" sz="1000" dirty="0">
                <a:solidFill>
                  <a:schemeClr val="tx2"/>
                </a:solidFill>
                <a:latin typeface="Courier New" pitchFamily="34" charset="0"/>
                <a:ea typeface="Courier New" pitchFamily="34" charset="-122"/>
                <a:cs typeface="Courier New" pitchFamily="34" charset="-120"/>
              </a:rPr>
              <a:t>sys.path.insert(0, src)</a:t>
            </a:r>
            <a:endParaRPr lang="en-US" sz="1000" dirty="0"/>
          </a:p>
        </p:txBody>
      </p:sp>
      <p:sp>
        <p:nvSpPr>
          <p:cNvPr id="12" name="Text 9"/>
          <p:cNvSpPr txBox="1"/>
          <p:nvPr/>
        </p:nvSpPr>
        <p:spPr>
          <a:xfrm>
            <a:off x="4251960" y="2670048"/>
            <a:ext cx="2651760" cy="201168"/>
          </a:xfrm>
          <a:prstGeom prst="rect">
            <a:avLst/>
          </a:prstGeom>
          <a:noFill/>
          <a:ln/>
        </p:spPr>
        <p:txBody>
          <a:bodyPr wrap="square" lIns="0" tIns="0" rIns="0" bIns="0" rtlCol="0" anchor="t"/>
          <a:lstStyle/>
          <a:p>
            <a:pPr algn="l" indent="0" marL="0">
              <a:buNone/>
            </a:pPr>
            <a:r>
              <a:rPr lang="en-US" sz="1050" dirty="0">
                <a:solidFill>
                  <a:schemeClr val="accent1"/>
                </a:solidFill>
              </a:rPr>
              <a:t>✓ both modules load from src</a:t>
            </a:r>
            <a:endParaRPr lang="en-US" sz="1050" dirty="0"/>
          </a:p>
        </p:txBody>
      </p:sp>
      <p:sp>
        <p:nvSpPr>
          <p:cNvPr id="13" name="Text 10"/>
          <p:cNvSpPr txBox="1"/>
          <p:nvPr/>
        </p:nvSpPr>
        <p:spPr>
          <a:xfrm>
            <a:off x="4251960" y="2889504"/>
            <a:ext cx="2651760" cy="201168"/>
          </a:xfrm>
          <a:prstGeom prst="rect">
            <a:avLst/>
          </a:prstGeom>
          <a:noFill/>
          <a:ln/>
        </p:spPr>
        <p:txBody>
          <a:bodyPr wrap="square" lIns="0" tIns="0" rIns="0" bIns="0" rtlCol="0" anchor="t"/>
          <a:lstStyle/>
          <a:p>
            <a:pPr algn="l" indent="0" marL="0">
              <a:buNone/>
            </a:pPr>
            <a:r>
              <a:rPr lang="en-US" sz="1050" dirty="0">
                <a:solidFill>
                  <a:schemeClr val="accent1"/>
                </a:solidFill>
              </a:rPr>
              <a:t>✓ src has no uncommitted changes</a:t>
            </a:r>
            <a:endParaRPr lang="en-US" sz="1050" dirty="0"/>
          </a:p>
        </p:txBody>
      </p:sp>
      <p:sp>
        <p:nvSpPr>
          <p:cNvPr id="14" name="Text 11"/>
          <p:cNvSpPr txBox="1"/>
          <p:nvPr/>
        </p:nvSpPr>
        <p:spPr>
          <a:xfrm>
            <a:off x="4251960" y="3108960"/>
            <a:ext cx="2651760" cy="201168"/>
          </a:xfrm>
          <a:prstGeom prst="rect">
            <a:avLst/>
          </a:prstGeom>
          <a:noFill/>
          <a:ln/>
        </p:spPr>
        <p:txBody>
          <a:bodyPr wrap="square" lIns="0" tIns="0" rIns="0" bIns="0" rtlCol="0" anchor="t"/>
          <a:lstStyle/>
          <a:p>
            <a:pPr algn="l" indent="0" marL="0">
              <a:buNone/>
            </a:pPr>
            <a:r>
              <a:rPr lang="en-US" sz="1050" dirty="0">
                <a:solidFill>
                  <a:schemeClr val="accent1"/>
                </a:solidFill>
              </a:rPr>
              <a:t>✓ .so not older than any .rs</a:t>
            </a:r>
            <a:endParaRPr lang="en-US" sz="1050" dirty="0"/>
          </a:p>
        </p:txBody>
      </p:sp>
      <p:sp>
        <p:nvSpPr>
          <p:cNvPr id="15" name="Shape 12"/>
          <p:cNvSpPr/>
          <p:nvPr/>
        </p:nvSpPr>
        <p:spPr>
          <a:xfrm>
            <a:off x="7772400" y="1371600"/>
            <a:ext cx="3840480" cy="2743200"/>
          </a:xfrm>
          <a:prstGeom prst="roundRect">
            <a:avLst>
              <a:gd name="adj" fmla="val 3333"/>
            </a:avLst>
          </a:prstGeom>
          <a:solidFill>
            <a:schemeClr val="bg1"/>
          </a:solidFill>
          <a:ln w="12700">
            <a:solidFill>
              <a:schemeClr val="tx1"/>
            </a:solidFill>
            <a:prstDash val="dash"/>
          </a:ln>
        </p:spPr>
      </p:sp>
      <p:sp>
        <p:nvSpPr>
          <p:cNvPr id="16" name="Text 13"/>
          <p:cNvSpPr txBox="1"/>
          <p:nvPr/>
        </p:nvSpPr>
        <p:spPr>
          <a:xfrm>
            <a:off x="7955280" y="1444752"/>
            <a:ext cx="3474720" cy="237744"/>
          </a:xfrm>
          <a:prstGeom prst="rect">
            <a:avLst/>
          </a:prstGeom>
          <a:noFill/>
          <a:ln/>
        </p:spPr>
        <p:txBody>
          <a:bodyPr wrap="square" lIns="0" tIns="0" rIns="0" bIns="0" rtlCol="0" anchor="t"/>
          <a:lstStyle/>
          <a:p>
            <a:pPr algn="l" indent="0" marL="0">
              <a:buNone/>
            </a:pPr>
            <a:r>
              <a:rPr lang="en-US" sz="1200" b="1" dirty="0">
                <a:solidFill>
                  <a:schemeClr val="tx1"/>
                </a:solidFill>
              </a:rPr>
              <a:t>../qiskit-swap-absorption</a:t>
            </a:r>
            <a:endParaRPr lang="en-US" sz="1200" dirty="0"/>
          </a:p>
        </p:txBody>
      </p:sp>
      <p:sp>
        <p:nvSpPr>
          <p:cNvPr id="17" name="Text 14"/>
          <p:cNvSpPr txBox="1"/>
          <p:nvPr/>
        </p:nvSpPr>
        <p:spPr>
          <a:xfrm>
            <a:off x="7955280" y="1682496"/>
            <a:ext cx="3474720" cy="201168"/>
          </a:xfrm>
          <a:prstGeom prst="rect">
            <a:avLst/>
          </a:prstGeom>
          <a:noFill/>
          <a:ln/>
        </p:spPr>
        <p:txBody>
          <a:bodyPr wrap="square" lIns="0" tIns="0" rIns="0" bIns="0" rtlCol="0" anchor="t"/>
          <a:lstStyle/>
          <a:p>
            <a:pPr algn="l" indent="0" marL="0">
              <a:buNone/>
            </a:pPr>
            <a:r>
              <a:rPr lang="en-US" sz="1000" dirty="0">
                <a:solidFill>
                  <a:schemeClr val="tx2"/>
                </a:solidFill>
              </a:rPr>
              <a:t>git HEAD 6b5145d2e, working tree clean</a:t>
            </a:r>
            <a:endParaRPr lang="en-US" sz="1000" dirty="0"/>
          </a:p>
        </p:txBody>
      </p:sp>
      <p:sp>
        <p:nvSpPr>
          <p:cNvPr id="18" name="Shape 15"/>
          <p:cNvSpPr/>
          <p:nvPr/>
        </p:nvSpPr>
        <p:spPr>
          <a:xfrm>
            <a:off x="7955280" y="1874520"/>
            <a:ext cx="3474720" cy="548640"/>
          </a:xfrm>
          <a:prstGeom prst="roundRect">
            <a:avLst>
              <a:gd name="adj" fmla="val 10000"/>
            </a:avLst>
          </a:prstGeom>
          <a:solidFill>
            <a:schemeClr val="bg1"/>
          </a:solidFill>
          <a:ln w="12700">
            <a:solidFill>
              <a:schemeClr val="tx1"/>
            </a:solidFill>
            <a:prstDash val="solid"/>
          </a:ln>
        </p:spPr>
      </p:sp>
      <p:sp>
        <p:nvSpPr>
          <p:cNvPr id="19" name="Text 16"/>
          <p:cNvSpPr txBox="1"/>
          <p:nvPr/>
        </p:nvSpPr>
        <p:spPr>
          <a:xfrm>
            <a:off x="8065008" y="1938528"/>
            <a:ext cx="3291840" cy="237744"/>
          </a:xfrm>
          <a:prstGeom prst="rect">
            <a:avLst/>
          </a:prstGeom>
          <a:noFill/>
          <a:ln/>
        </p:spPr>
        <p:txBody>
          <a:bodyPr wrap="square" lIns="0" tIns="0" rIns="0" bIns="0" rtlCol="0" anchor="t"/>
          <a:lstStyle/>
          <a:p>
            <a:pPr algn="l" indent="0" marL="0">
              <a:buNone/>
            </a:pPr>
            <a:r>
              <a:rPr lang="en-US" sz="1100" dirty="0">
                <a:solidFill>
                  <a:schemeClr val="tx1"/>
                </a:solidFill>
                <a:latin typeface="Courier New" pitchFamily="34" charset="0"/>
                <a:ea typeface="Courier New" pitchFamily="34" charset="-122"/>
                <a:cs typeface="Courier New" pitchFamily="34" charset="-120"/>
              </a:rPr>
              <a:t>qiskit/</a:t>
            </a:r>
            <a:endParaRPr lang="en-US" sz="1100" dirty="0"/>
          </a:p>
        </p:txBody>
      </p:sp>
      <p:sp>
        <p:nvSpPr>
          <p:cNvPr id="20" name="Text 17"/>
          <p:cNvSpPr txBox="1"/>
          <p:nvPr/>
        </p:nvSpPr>
        <p:spPr>
          <a:xfrm>
            <a:off x="8065008" y="2176272"/>
            <a:ext cx="3291840" cy="201168"/>
          </a:xfrm>
          <a:prstGeom prst="rect">
            <a:avLst/>
          </a:prstGeom>
          <a:noFill/>
          <a:ln/>
        </p:spPr>
        <p:txBody>
          <a:bodyPr wrap="square" lIns="0" tIns="0" rIns="0" bIns="0" rtlCol="0" anchor="t"/>
          <a:lstStyle/>
          <a:p>
            <a:pPr algn="l" indent="0" marL="0">
              <a:buNone/>
            </a:pPr>
            <a:r>
              <a:rPr lang="en-US" sz="1000" dirty="0">
                <a:solidFill>
                  <a:schemeClr val="tx2"/>
                </a:solidFill>
              </a:rPr>
              <a:t>Python package and the pass</a:t>
            </a:r>
            <a:endParaRPr lang="en-US" sz="1000" dirty="0"/>
          </a:p>
        </p:txBody>
      </p:sp>
      <p:sp>
        <p:nvSpPr>
          <p:cNvPr id="21" name="Shape 18"/>
          <p:cNvSpPr/>
          <p:nvPr/>
        </p:nvSpPr>
        <p:spPr>
          <a:xfrm>
            <a:off x="7955280" y="2651760"/>
            <a:ext cx="3474720" cy="548640"/>
          </a:xfrm>
          <a:prstGeom prst="roundRect">
            <a:avLst>
              <a:gd name="adj" fmla="val 10000"/>
            </a:avLst>
          </a:prstGeom>
          <a:solidFill>
            <a:schemeClr val="bg1"/>
          </a:solidFill>
          <a:ln w="12700">
            <a:solidFill>
              <a:schemeClr val="tx1"/>
            </a:solidFill>
            <a:prstDash val="solid"/>
          </a:ln>
        </p:spPr>
      </p:sp>
      <p:sp>
        <p:nvSpPr>
          <p:cNvPr id="22" name="Text 19"/>
          <p:cNvSpPr txBox="1"/>
          <p:nvPr/>
        </p:nvSpPr>
        <p:spPr>
          <a:xfrm>
            <a:off x="8065008" y="2715768"/>
            <a:ext cx="3291840" cy="237744"/>
          </a:xfrm>
          <a:prstGeom prst="rect">
            <a:avLst/>
          </a:prstGeom>
          <a:noFill/>
          <a:ln/>
        </p:spPr>
        <p:txBody>
          <a:bodyPr wrap="square" lIns="0" tIns="0" rIns="0" bIns="0" rtlCol="0" anchor="t"/>
          <a:lstStyle/>
          <a:p>
            <a:pPr algn="l" indent="0" marL="0">
              <a:buNone/>
            </a:pPr>
            <a:r>
              <a:rPr lang="en-US" sz="1100" dirty="0">
                <a:solidFill>
                  <a:schemeClr val="tx1"/>
                </a:solidFill>
                <a:latin typeface="Courier New" pitchFamily="34" charset="0"/>
                <a:ea typeface="Courier New" pitchFamily="34" charset="-122"/>
                <a:cs typeface="Courier New" pitchFamily="34" charset="-120"/>
              </a:rPr>
              <a:t>_accelerate.cpython-311.so</a:t>
            </a:r>
            <a:endParaRPr lang="en-US" sz="1100" dirty="0"/>
          </a:p>
        </p:txBody>
      </p:sp>
      <p:sp>
        <p:nvSpPr>
          <p:cNvPr id="23" name="Text 20"/>
          <p:cNvSpPr txBox="1"/>
          <p:nvPr/>
        </p:nvSpPr>
        <p:spPr>
          <a:xfrm>
            <a:off x="8065008" y="2953512"/>
            <a:ext cx="3291840" cy="201168"/>
          </a:xfrm>
          <a:prstGeom prst="rect">
            <a:avLst/>
          </a:prstGeom>
          <a:noFill/>
          <a:ln/>
        </p:spPr>
        <p:txBody>
          <a:bodyPr wrap="square" lIns="0" tIns="0" rIns="0" bIns="0" rtlCol="0" anchor="t"/>
          <a:lstStyle/>
          <a:p>
            <a:pPr algn="l" indent="0" marL="0">
              <a:buNone/>
            </a:pPr>
            <a:r>
              <a:rPr lang="en-US" sz="1000" dirty="0">
                <a:solidFill>
                  <a:schemeClr val="tx2"/>
                </a:solidFill>
              </a:rPr>
              <a:t>SHA-256 627034a6…, release build</a:t>
            </a:r>
            <a:endParaRPr lang="en-US" sz="1000" dirty="0"/>
          </a:p>
        </p:txBody>
      </p:sp>
      <p:sp>
        <p:nvSpPr>
          <p:cNvPr id="24" name="Shape 21"/>
          <p:cNvSpPr/>
          <p:nvPr/>
        </p:nvSpPr>
        <p:spPr>
          <a:xfrm>
            <a:off x="7955280" y="3429000"/>
            <a:ext cx="3474720" cy="548640"/>
          </a:xfrm>
          <a:prstGeom prst="roundRect">
            <a:avLst>
              <a:gd name="adj" fmla="val 10000"/>
            </a:avLst>
          </a:prstGeom>
          <a:solidFill>
            <a:schemeClr val="bg1"/>
          </a:solidFill>
          <a:ln w="12700">
            <a:solidFill>
              <a:schemeClr val="tx1"/>
            </a:solidFill>
            <a:prstDash val="solid"/>
          </a:ln>
        </p:spPr>
      </p:sp>
      <p:sp>
        <p:nvSpPr>
          <p:cNvPr id="25" name="Text 22"/>
          <p:cNvSpPr txBox="1"/>
          <p:nvPr/>
        </p:nvSpPr>
        <p:spPr>
          <a:xfrm>
            <a:off x="8065008" y="3493008"/>
            <a:ext cx="3291840" cy="237744"/>
          </a:xfrm>
          <a:prstGeom prst="rect">
            <a:avLst/>
          </a:prstGeom>
          <a:noFill/>
          <a:ln/>
        </p:spPr>
        <p:txBody>
          <a:bodyPr wrap="square" lIns="0" tIns="0" rIns="0" bIns="0" rtlCol="0" anchor="t"/>
          <a:lstStyle/>
          <a:p>
            <a:pPr algn="l" indent="0" marL="0">
              <a:buNone/>
            </a:pPr>
            <a:r>
              <a:rPr lang="en-US" sz="1100" dirty="0">
                <a:solidFill>
                  <a:schemeClr val="tx1"/>
                </a:solidFill>
                <a:latin typeface="Courier New" pitchFamily="34" charset="0"/>
                <a:ea typeface="Courier New" pitchFamily="34" charset="-122"/>
                <a:cs typeface="Courier New" pitchFamily="34" charset="-120"/>
              </a:rPr>
              <a:t>crates/</a:t>
            </a:r>
            <a:endParaRPr lang="en-US" sz="1100" dirty="0"/>
          </a:p>
        </p:txBody>
      </p:sp>
      <p:sp>
        <p:nvSpPr>
          <p:cNvPr id="26" name="Text 23"/>
          <p:cNvSpPr txBox="1"/>
          <p:nvPr/>
        </p:nvSpPr>
        <p:spPr>
          <a:xfrm>
            <a:off x="8065008" y="3730752"/>
            <a:ext cx="3291840" cy="201168"/>
          </a:xfrm>
          <a:prstGeom prst="rect">
            <a:avLst/>
          </a:prstGeom>
          <a:noFill/>
          <a:ln/>
        </p:spPr>
        <p:txBody>
          <a:bodyPr wrap="square" lIns="0" tIns="0" rIns="0" bIns="0" rtlCol="0" anchor="t"/>
          <a:lstStyle/>
          <a:p>
            <a:pPr algn="l" indent="0" marL="0">
              <a:buNone/>
            </a:pPr>
            <a:r>
              <a:rPr lang="en-US" sz="1000" dirty="0">
                <a:solidFill>
                  <a:schemeClr val="tx2"/>
                </a:solidFill>
              </a:rPr>
              <a:t>Rust, incl. commutation_checker.rs</a:t>
            </a:r>
            <a:endParaRPr lang="en-US" sz="1000" dirty="0"/>
          </a:p>
        </p:txBody>
      </p:sp>
      <p:sp>
        <p:nvSpPr>
          <p:cNvPr id="27" name="Shape 24"/>
          <p:cNvSpPr/>
          <p:nvPr/>
        </p:nvSpPr>
        <p:spPr>
          <a:xfrm flipV="1">
            <a:off x="11109960" y="3218688"/>
            <a:ext cx="0" cy="210312"/>
          </a:xfrm>
          <a:prstGeom prst="line">
            <a:avLst/>
          </a:prstGeom>
          <a:noFill/>
          <a:ln w="15875">
            <a:solidFill>
              <a:schemeClr val="tx1"/>
            </a:solidFill>
            <a:prstDash val="solid"/>
            <a:tailEnd type="triangle"/>
          </a:ln>
        </p:spPr>
      </p:sp>
      <p:sp>
        <p:nvSpPr>
          <p:cNvPr id="28" name="Text 25"/>
          <p:cNvSpPr txBox="1"/>
          <p:nvPr/>
        </p:nvSpPr>
        <p:spPr>
          <a:xfrm>
            <a:off x="9144000" y="3218688"/>
            <a:ext cx="1874520" cy="201168"/>
          </a:xfrm>
          <a:prstGeom prst="rect">
            <a:avLst/>
          </a:prstGeom>
          <a:noFill/>
          <a:ln/>
        </p:spPr>
        <p:txBody>
          <a:bodyPr wrap="square" lIns="0" tIns="0" rIns="0" bIns="0" rtlCol="0" anchor="t"/>
          <a:lstStyle/>
          <a:p>
            <a:pPr algn="r" indent="0" marL="0">
              <a:buNone/>
            </a:pPr>
            <a:r>
              <a:rPr lang="en-US" sz="900" dirty="0">
                <a:solidFill>
                  <a:schemeClr val="tx2"/>
                </a:solidFill>
                <a:latin typeface="Courier New" pitchFamily="34" charset="0"/>
                <a:ea typeface="Courier New" pitchFamily="34" charset="-122"/>
                <a:cs typeface="Courier New" pitchFamily="34" charset="-120"/>
              </a:rPr>
              <a:t>build_rust --release</a:t>
            </a:r>
            <a:endParaRPr lang="en-US" sz="900" dirty="0"/>
          </a:p>
        </p:txBody>
      </p:sp>
      <p:sp>
        <p:nvSpPr>
          <p:cNvPr id="29" name="Shape 26"/>
          <p:cNvSpPr/>
          <p:nvPr/>
        </p:nvSpPr>
        <p:spPr>
          <a:xfrm>
            <a:off x="3383280" y="2743200"/>
            <a:ext cx="731520" cy="0"/>
          </a:xfrm>
          <a:prstGeom prst="line">
            <a:avLst/>
          </a:prstGeom>
          <a:noFill/>
          <a:ln w="15875">
            <a:solidFill>
              <a:schemeClr val="tx1"/>
            </a:solidFill>
            <a:prstDash val="solid"/>
            <a:tailEnd type="triangle"/>
          </a:ln>
        </p:spPr>
      </p:sp>
      <p:sp>
        <p:nvSpPr>
          <p:cNvPr id="30" name="Text 27"/>
          <p:cNvSpPr txBox="1"/>
          <p:nvPr/>
        </p:nvSpPr>
        <p:spPr>
          <a:xfrm>
            <a:off x="3383280" y="2487168"/>
            <a:ext cx="731520" cy="201168"/>
          </a:xfrm>
          <a:prstGeom prst="rect">
            <a:avLst/>
          </a:prstGeom>
          <a:noFill/>
          <a:ln/>
        </p:spPr>
        <p:txBody>
          <a:bodyPr wrap="square" lIns="0" tIns="0" rIns="0" bIns="0" rtlCol="0" anchor="ctr"/>
          <a:lstStyle/>
          <a:p>
            <a:pPr algn="ctr" indent="0" marL="0">
              <a:buNone/>
            </a:pPr>
            <a:r>
              <a:rPr lang="en-US" sz="1000" dirty="0">
                <a:solidFill>
                  <a:schemeClr val="tx2"/>
                </a:solidFill>
              </a:rPr>
              <a:t>runs</a:t>
            </a:r>
            <a:endParaRPr lang="en-US" sz="1000" dirty="0"/>
          </a:p>
        </p:txBody>
      </p:sp>
      <p:sp>
        <p:nvSpPr>
          <p:cNvPr id="31" name="Shape 28"/>
          <p:cNvSpPr/>
          <p:nvPr/>
        </p:nvSpPr>
        <p:spPr>
          <a:xfrm>
            <a:off x="7040880" y="2148840"/>
            <a:ext cx="914400" cy="0"/>
          </a:xfrm>
          <a:prstGeom prst="line">
            <a:avLst/>
          </a:prstGeom>
          <a:noFill/>
          <a:ln w="15875">
            <a:solidFill>
              <a:schemeClr val="tx1"/>
            </a:solidFill>
            <a:prstDash val="solid"/>
            <a:tailEnd type="triangle"/>
          </a:ln>
        </p:spPr>
      </p:sp>
      <p:sp>
        <p:nvSpPr>
          <p:cNvPr id="32" name="Text 29"/>
          <p:cNvSpPr txBox="1"/>
          <p:nvPr/>
        </p:nvSpPr>
        <p:spPr>
          <a:xfrm>
            <a:off x="7040880" y="1901952"/>
            <a:ext cx="914400" cy="201168"/>
          </a:xfrm>
          <a:prstGeom prst="rect">
            <a:avLst/>
          </a:prstGeom>
          <a:noFill/>
          <a:ln/>
        </p:spPr>
        <p:txBody>
          <a:bodyPr wrap="square" lIns="0" tIns="0" rIns="0" bIns="0" rtlCol="0" anchor="ctr"/>
          <a:lstStyle/>
          <a:p>
            <a:pPr algn="ctr" indent="0" marL="0">
              <a:buNone/>
            </a:pPr>
            <a:r>
              <a:rPr lang="en-US" sz="1000" dirty="0">
                <a:solidFill>
                  <a:schemeClr val="tx2"/>
                </a:solidFill>
              </a:rPr>
              <a:t>imports</a:t>
            </a:r>
            <a:endParaRPr lang="en-US" sz="1000" dirty="0"/>
          </a:p>
        </p:txBody>
      </p:sp>
      <p:sp>
        <p:nvSpPr>
          <p:cNvPr id="33" name="Shape 30"/>
          <p:cNvSpPr/>
          <p:nvPr/>
        </p:nvSpPr>
        <p:spPr>
          <a:xfrm>
            <a:off x="7040880" y="2926080"/>
            <a:ext cx="914400" cy="0"/>
          </a:xfrm>
          <a:prstGeom prst="line">
            <a:avLst/>
          </a:prstGeom>
          <a:noFill/>
          <a:ln w="15875">
            <a:solidFill>
              <a:schemeClr val="tx1"/>
            </a:solidFill>
            <a:prstDash val="solid"/>
            <a:tailEnd type="triangle"/>
          </a:ln>
        </p:spPr>
      </p:sp>
      <p:sp>
        <p:nvSpPr>
          <p:cNvPr id="34" name="Text 31"/>
          <p:cNvSpPr txBox="1"/>
          <p:nvPr/>
        </p:nvSpPr>
        <p:spPr>
          <a:xfrm>
            <a:off x="7040880" y="2679192"/>
            <a:ext cx="914400" cy="201168"/>
          </a:xfrm>
          <a:prstGeom prst="rect">
            <a:avLst/>
          </a:prstGeom>
          <a:noFill/>
          <a:ln/>
        </p:spPr>
        <p:txBody>
          <a:bodyPr wrap="square" lIns="0" tIns="0" rIns="0" bIns="0" rtlCol="0" anchor="ctr"/>
          <a:lstStyle/>
          <a:p>
            <a:pPr algn="ctr" indent="0" marL="0">
              <a:buNone/>
            </a:pPr>
            <a:r>
              <a:rPr lang="en-US" sz="1000" dirty="0">
                <a:solidFill>
                  <a:schemeClr val="tx2"/>
                </a:solidFill>
              </a:rPr>
              <a:t>loads</a:t>
            </a:r>
            <a:endParaRPr lang="en-US" sz="1000" dirty="0"/>
          </a:p>
        </p:txBody>
      </p:sp>
      <p:sp>
        <p:nvSpPr>
          <p:cNvPr id="35" name="Shape 32"/>
          <p:cNvSpPr/>
          <p:nvPr/>
        </p:nvSpPr>
        <p:spPr>
          <a:xfrm>
            <a:off x="548640" y="4434840"/>
            <a:ext cx="3520440" cy="1783080"/>
          </a:xfrm>
          <a:prstGeom prst="roundRect">
            <a:avLst>
              <a:gd name="adj" fmla="val 4103"/>
            </a:avLst>
          </a:prstGeom>
          <a:solidFill>
            <a:schemeClr val="bg2"/>
          </a:solidFill>
          <a:ln w="9525">
            <a:solidFill>
              <a:srgbClr val="C8D0D3"/>
            </a:solidFill>
            <a:prstDash val="solid"/>
          </a:ln>
        </p:spPr>
      </p:sp>
      <p:sp>
        <p:nvSpPr>
          <p:cNvPr id="36" name="Text 33"/>
          <p:cNvSpPr txBox="1"/>
          <p:nvPr/>
        </p:nvSpPr>
        <p:spPr>
          <a:xfrm>
            <a:off x="731520" y="4553712"/>
            <a:ext cx="3154680" cy="274320"/>
          </a:xfrm>
          <a:prstGeom prst="rect">
            <a:avLst/>
          </a:prstGeom>
          <a:noFill/>
          <a:ln/>
        </p:spPr>
        <p:txBody>
          <a:bodyPr wrap="square" lIns="0" tIns="0" rIns="0" bIns="0" rtlCol="0" anchor="t"/>
          <a:lstStyle/>
          <a:p>
            <a:pPr algn="l" indent="0" marL="0">
              <a:buNone/>
            </a:pPr>
            <a:r>
              <a:rPr lang="en-US" sz="1300" b="1" dirty="0">
                <a:solidFill>
                  <a:schemeClr val="accent1"/>
                </a:solidFill>
              </a:rPr>
              <a:t>Origin</a:t>
            </a:r>
            <a:endParaRPr lang="en-US" sz="1300" dirty="0"/>
          </a:p>
        </p:txBody>
      </p:sp>
      <p:sp>
        <p:nvSpPr>
          <p:cNvPr id="37" name="Text 34"/>
          <p:cNvSpPr txBox="1"/>
          <p:nvPr/>
        </p:nvSpPr>
        <p:spPr>
          <a:xfrm>
            <a:off x="731520" y="4864608"/>
            <a:ext cx="3154680" cy="1280160"/>
          </a:xfrm>
          <a:prstGeom prst="rect">
            <a:avLst/>
          </a:prstGeom>
          <a:noFill/>
          <a:ln/>
        </p:spPr>
        <p:txBody>
          <a:bodyPr wrap="square" lIns="0" tIns="0" rIns="0" bIns="0" rtlCol="0" anchor="t"/>
          <a:lstStyle/>
          <a:p>
            <a:pPr algn="l" indent="0" marL="0">
              <a:lnSpc>
                <a:spcPct val="108000"/>
              </a:lnSpc>
              <a:buNone/>
            </a:pPr>
            <a:r>
              <a:rPr lang="en-US" sz="1150" dirty="0">
                <a:solidFill>
                  <a:schemeClr val="tx1"/>
                </a:solidFill>
              </a:rPr>
              <a:t>qiskit.__file__ and qiskit._accelerate.__file__ must resolve inside the --qiskit-src tree. Anything else aborts with “Wrong Qiskit source”.</a:t>
            </a:r>
            <a:endParaRPr lang="en-US" sz="1150" dirty="0"/>
          </a:p>
        </p:txBody>
      </p:sp>
      <p:sp>
        <p:nvSpPr>
          <p:cNvPr id="38" name="Shape 35"/>
          <p:cNvSpPr/>
          <p:nvPr/>
        </p:nvSpPr>
        <p:spPr>
          <a:xfrm>
            <a:off x="4334256" y="4434840"/>
            <a:ext cx="3520440" cy="1783080"/>
          </a:xfrm>
          <a:prstGeom prst="roundRect">
            <a:avLst>
              <a:gd name="adj" fmla="val 4103"/>
            </a:avLst>
          </a:prstGeom>
          <a:solidFill>
            <a:schemeClr val="bg2"/>
          </a:solidFill>
          <a:ln w="9525">
            <a:solidFill>
              <a:srgbClr val="C8D0D3"/>
            </a:solidFill>
            <a:prstDash val="solid"/>
          </a:ln>
        </p:spPr>
      </p:sp>
      <p:sp>
        <p:nvSpPr>
          <p:cNvPr id="39" name="Text 36"/>
          <p:cNvSpPr txBox="1"/>
          <p:nvPr/>
        </p:nvSpPr>
        <p:spPr>
          <a:xfrm>
            <a:off x="4517136" y="4553712"/>
            <a:ext cx="3154680" cy="274320"/>
          </a:xfrm>
          <a:prstGeom prst="rect">
            <a:avLst/>
          </a:prstGeom>
          <a:noFill/>
          <a:ln/>
        </p:spPr>
        <p:txBody>
          <a:bodyPr wrap="square" lIns="0" tIns="0" rIns="0" bIns="0" rtlCol="0" anchor="t"/>
          <a:lstStyle/>
          <a:p>
            <a:pPr algn="l" indent="0" marL="0">
              <a:buNone/>
            </a:pPr>
            <a:r>
              <a:rPr lang="en-US" sz="1300" b="1" dirty="0">
                <a:solidFill>
                  <a:schemeClr val="accent1"/>
                </a:solidFill>
              </a:rPr>
              <a:t>Clean tree</a:t>
            </a:r>
            <a:endParaRPr lang="en-US" sz="1300" dirty="0"/>
          </a:p>
        </p:txBody>
      </p:sp>
      <p:sp>
        <p:nvSpPr>
          <p:cNvPr id="40" name="Text 37"/>
          <p:cNvSpPr txBox="1"/>
          <p:nvPr/>
        </p:nvSpPr>
        <p:spPr>
          <a:xfrm>
            <a:off x="4517136" y="4864608"/>
            <a:ext cx="3154680" cy="1280160"/>
          </a:xfrm>
          <a:prstGeom prst="rect">
            <a:avLst/>
          </a:prstGeom>
          <a:noFill/>
          <a:ln/>
        </p:spPr>
        <p:txBody>
          <a:bodyPr wrap="square" lIns="0" tIns="0" rIns="0" bIns="0" rtlCol="0" anchor="t"/>
          <a:lstStyle/>
          <a:p>
            <a:pPr algn="l" indent="0" marL="0">
              <a:lnSpc>
                <a:spcPct val="108000"/>
              </a:lnSpc>
              <a:buNone/>
            </a:pPr>
            <a:r>
              <a:rPr lang="en-US" sz="1150" dirty="0">
                <a:solidFill>
                  <a:schemeClr val="tx1"/>
                </a:solidFill>
              </a:rPr>
              <a:t>git status must report no modified or untracked files under qiskit/, crates/, test/benchmarks/, Cargo.toml or Cargo.lock, so the recorded SHA describes the code that ran. A REVISION file replaces git for trees that are not checkouts.</a:t>
            </a:r>
            <a:endParaRPr lang="en-US" sz="1150" dirty="0"/>
          </a:p>
        </p:txBody>
      </p:sp>
      <p:sp>
        <p:nvSpPr>
          <p:cNvPr id="41" name="Shape 38"/>
          <p:cNvSpPr/>
          <p:nvPr/>
        </p:nvSpPr>
        <p:spPr>
          <a:xfrm>
            <a:off x="8119872" y="4434840"/>
            <a:ext cx="3520440" cy="1783080"/>
          </a:xfrm>
          <a:prstGeom prst="roundRect">
            <a:avLst>
              <a:gd name="adj" fmla="val 4103"/>
            </a:avLst>
          </a:prstGeom>
          <a:solidFill>
            <a:schemeClr val="bg2"/>
          </a:solidFill>
          <a:ln w="9525">
            <a:solidFill>
              <a:srgbClr val="C8D0D3"/>
            </a:solidFill>
            <a:prstDash val="solid"/>
          </a:ln>
        </p:spPr>
      </p:sp>
      <p:sp>
        <p:nvSpPr>
          <p:cNvPr id="42" name="Text 39"/>
          <p:cNvSpPr txBox="1"/>
          <p:nvPr/>
        </p:nvSpPr>
        <p:spPr>
          <a:xfrm>
            <a:off x="8302752" y="4553712"/>
            <a:ext cx="3154680" cy="274320"/>
          </a:xfrm>
          <a:prstGeom prst="rect">
            <a:avLst/>
          </a:prstGeom>
          <a:noFill/>
          <a:ln/>
        </p:spPr>
        <p:txBody>
          <a:bodyPr wrap="square" lIns="0" tIns="0" rIns="0" bIns="0" rtlCol="0" anchor="t"/>
          <a:lstStyle/>
          <a:p>
            <a:pPr algn="l" indent="0" marL="0">
              <a:buNone/>
            </a:pPr>
            <a:r>
              <a:rPr lang="en-US" sz="1300" b="1" dirty="0">
                <a:solidFill>
                  <a:schemeClr val="accent1"/>
                </a:solidFill>
              </a:rPr>
              <a:t>Fresh extension</a:t>
            </a:r>
            <a:endParaRPr lang="en-US" sz="1300" dirty="0"/>
          </a:p>
        </p:txBody>
      </p:sp>
      <p:sp>
        <p:nvSpPr>
          <p:cNvPr id="43" name="Text 40"/>
          <p:cNvSpPr txBox="1"/>
          <p:nvPr/>
        </p:nvSpPr>
        <p:spPr>
          <a:xfrm>
            <a:off x="8302752" y="4864608"/>
            <a:ext cx="3154680" cy="1280160"/>
          </a:xfrm>
          <a:prstGeom prst="rect">
            <a:avLst/>
          </a:prstGeom>
          <a:noFill/>
          <a:ln/>
        </p:spPr>
        <p:txBody>
          <a:bodyPr wrap="square" lIns="0" tIns="0" rIns="0" bIns="0" rtlCol="0" anchor="t"/>
          <a:lstStyle/>
          <a:p>
            <a:pPr algn="l" indent="0" marL="0">
              <a:lnSpc>
                <a:spcPct val="108000"/>
              </a:lnSpc>
              <a:buNone/>
            </a:pPr>
            <a:r>
              <a:rPr lang="en-US" sz="1150" dirty="0">
                <a:solidFill>
                  <a:schemeClr val="tx1"/>
                </a:solidFill>
              </a:rPr>
              <a:t>The compiled _accelerate module must not be older than any Rust source or Cargo file. A git pull that rewrites a .rs file therefore forces a rebuild before the next run.</a:t>
            </a:r>
            <a:endParaRPr lang="en-US" sz="11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The rebuilt extension is byte-identical to the recorded one</a:t>
            </a:r>
            <a:endParaRPr lang="en-US" sz="3000" dirty="0"/>
          </a:p>
        </p:txBody>
      </p:sp>
      <p:sp>
        <p:nvSpPr>
          <p:cNvPr id="4" name="Text 1"/>
          <p:cNvSpPr txBox="1"/>
          <p:nvPr/>
        </p:nvSpPr>
        <p:spPr>
          <a:xfrm>
            <a:off x="548640" y="1371600"/>
            <a:ext cx="5394960" cy="173736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The last commit also changed Rust code, and the extension on disk predated a later git operation that rewrote a Rust file. The binary was rebuilt from the current source with the project's release command. Cargo recompiled all 14 Qiskit crates, including qiskit-transpiler, and produced the same file.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30952" cy="914400"/>
        </p:xfrm>
        <a:graphic>
          <a:graphicData uri="http://schemas.openxmlformats.org/drawingml/2006/table">
            <a:tbl>
              <a:tblPr/>
              <a:tblGrid>
                <a:gridCol w="3200400"/>
                <a:gridCol w="2130552"/>
              </a:tblGrid>
              <a:tr h="0">
                <a:tc>
                  <a:txBody>
                    <a:bodyPr/>
                    <a:lstStyle/>
                    <a:p>
                      <a:pPr indent="0" marL="0">
                        <a:buNone/>
                      </a:pPr>
                      <a:r>
                        <a:rPr lang="en-US" sz="1000" b="1" dirty="0">
                          <a:solidFill>
                            <a:schemeClr val="tx2"/>
                          </a:solidFill>
                        </a:rPr>
                        <a:t>Artifact</a:t>
                      </a:r>
                      <a:endParaRPr lang="en-US" sz="10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00" b="1" dirty="0">
                          <a:solidFill>
                            <a:schemeClr val="tx2"/>
                          </a:solidFill>
                        </a:rPr>
                        <a:t>SHA-256</a:t>
                      </a:r>
                      <a:endParaRPr lang="en-US" sz="10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0">
                <a:tc>
                  <a:txBody>
                    <a:bodyPr/>
                    <a:lstStyle/>
                    <a:p>
                      <a:pPr indent="0" marL="0">
                        <a:buNone/>
                      </a:pPr>
                      <a:r>
                        <a:rPr lang="en-US" sz="1200" dirty="0">
                          <a:solidFill>
                            <a:schemeClr val="tx1"/>
                          </a:solidFill>
                        </a:rPr>
                        <a:t>Recorded in report.md</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627034a679e9e709…</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00" dirty="0">
                          <a:solidFill>
                            <a:schemeClr val="tx1"/>
                          </a:solidFill>
                        </a:rPr>
                        <a:t>Extension before the rebuild (backup)</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627034a679e9e709…</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00" dirty="0">
                          <a:solidFill>
                            <a:schemeClr val="tx1"/>
                          </a:solidFill>
                        </a:rPr>
                        <a:t>Rebuilt extension in the checkout</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627034a679e9e709…</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0">
                <a:tc>
                  <a:txBody>
                    <a:bodyPr/>
                    <a:lstStyle/>
                    <a:p>
                      <a:pPr indent="0" marL="0">
                        <a:buNone/>
                      </a:pPr>
                      <a:r>
                        <a:rPr lang="en-US" sz="1200" dirty="0">
                          <a:solidFill>
                            <a:schemeClr val="tx1"/>
                          </a:solidFill>
                        </a:rPr>
                        <a:t>target/release/libqiskit_pyext.dylib</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627034a679e9e709…</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sp>
        <p:nvSpPr>
          <p:cNvPr id="6" name="Text 2"/>
          <p:cNvSpPr txBox="1"/>
          <p:nvPr/>
        </p:nvSpPr>
        <p:spPr>
          <a:xfrm>
            <a:off x="548640" y="3291840"/>
            <a:ext cx="7315200" cy="274320"/>
          </a:xfrm>
          <a:prstGeom prst="rect">
            <a:avLst/>
          </a:prstGeom>
          <a:noFill/>
          <a:ln/>
        </p:spPr>
        <p:txBody>
          <a:bodyPr wrap="square" lIns="0" tIns="0" rIns="0" bIns="0" rtlCol="0" anchor="t"/>
          <a:lstStyle/>
          <a:p>
            <a:pPr algn="l" indent="0" marL="0">
              <a:buNone/>
            </a:pPr>
            <a:r>
              <a:rPr lang="en-US" sz="1300" b="1" dirty="0">
                <a:solidFill>
                  <a:schemeClr val="tx1"/>
                </a:solidFill>
              </a:rPr>
              <a:t>Checking by hand, with the output from this machine</a:t>
            </a:r>
            <a:endParaRPr lang="en-US" sz="1300" dirty="0"/>
          </a:p>
        </p:txBody>
      </p:sp>
      <p:sp>
        <p:nvSpPr>
          <p:cNvPr id="7" name="Text 3"/>
          <p:cNvSpPr txBox="1"/>
          <p:nvPr/>
        </p:nvSpPr>
        <p:spPr>
          <a:xfrm>
            <a:off x="548640" y="3611880"/>
            <a:ext cx="11091672" cy="2286000"/>
          </a:xfrm>
          <a:prstGeom prst="rect">
            <a:avLst/>
          </a:prstGeom>
          <a:solidFill>
            <a:schemeClr val="bg2"/>
          </a:solidFill>
          <a:ln w="9525">
            <a:solidFill>
              <a:srgbClr val="C8D0D3"/>
            </a:solidFill>
          </a:ln>
        </p:spPr>
        <p:txBody>
          <a:bodyPr wrap="square" lIns="1524" tIns="1524" rIns="1524" bIns="1524" rtlCol="0" anchor="t"/>
          <a:lstStyle/>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../qiskit-evolved/.venv/bin/python - &lt;&lt;'EOF'</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import hashlib, os, subprocess, sys</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src = os.path.abspath("../qiskit-swap-absorption")</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sys.path.insert(0, src)</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import qiskit, qiskit._accelerate as acc</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print(qiskit.__file__)</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print(acc.__file__, hashlib.sha256(open(acc.__file__, "rb").read()).hexdigest()[:16])</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print(subprocess.check_output(["git", "-C", src, "rev-parse", "--short", "HEAD"], text=True).strip())</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EOF</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/Users/ophir/PycharmProjects/qiskit-swap-absorption/qiskit/__init__.py</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/Users/ophir/PycharmProjects/qiskit-swap-absorption/qiskit/_accelerate.cpython-311-darwin.so 627034a679e9e709</a:t>
            </a:r>
            <a:endParaRPr lang="en-US" sz="1050" dirty="0"/>
          </a:p>
          <a:p>
            <a:pPr algn="l" indent="0" marL="0">
              <a:lnSpc>
                <a:spcPct val="100000"/>
              </a:lnSpc>
              <a:buNone/>
            </a:pPr>
            <a:r>
              <a:rPr lang="en-US" sz="1050" dirty="0">
                <a:solidFill>
                  <a:schemeClr val="tx1"/>
                </a:solidFill>
                <a:latin typeface="Courier New" pitchFamily="34" charset="0"/>
                <a:ea typeface="Courier New" pitchFamily="34" charset="-122"/>
                <a:cs typeface="Courier New" pitchFamily="34" charset="-120"/>
              </a:rPr>
              <a:t>6b5145d2e</a:t>
            </a:r>
            <a:endParaRPr lang="en-US" sz="10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One case, end to end</a:t>
            </a:r>
            <a:endParaRPr lang="en-US" sz="3000" dirty="0"/>
          </a:p>
        </p:txBody>
      </p:sp>
      <p:sp>
        <p:nvSpPr>
          <p:cNvPr id="4" name="Shape 1"/>
          <p:cNvSpPr/>
          <p:nvPr/>
        </p:nvSpPr>
        <p:spPr>
          <a:xfrm>
            <a:off x="548640" y="1435608"/>
            <a:ext cx="384048" cy="384048"/>
          </a:xfrm>
          <a:prstGeom prst="ellipse">
            <a:avLst/>
          </a:prstGeom>
          <a:solidFill>
            <a:schemeClr val="accent5"/>
          </a:solidFill>
          <a:ln w="6350">
            <a:solidFill>
              <a:schemeClr val="accent5"/>
            </a:solidFill>
            <a:prstDash val="solid"/>
          </a:ln>
        </p:spPr>
      </p:sp>
      <p:sp>
        <p:nvSpPr>
          <p:cNvPr id="5" name="Text 2"/>
          <p:cNvSpPr txBox="1"/>
          <p:nvPr/>
        </p:nvSpPr>
        <p:spPr>
          <a:xfrm>
            <a:off x="548640" y="143560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1</a:t>
            </a:r>
            <a:endParaRPr lang="en-US" sz="1200" dirty="0"/>
          </a:p>
        </p:txBody>
      </p:sp>
      <p:sp>
        <p:nvSpPr>
          <p:cNvPr id="6" name="Text 3"/>
          <p:cNvSpPr txBox="1"/>
          <p:nvPr/>
        </p:nvSpPr>
        <p:spPr>
          <a:xfrm>
            <a:off x="1097280" y="1417320"/>
            <a:ext cx="4800600" cy="1005840"/>
          </a:xfrm>
          <a:prstGeom prst="rect">
            <a:avLst/>
          </a:prstGeom>
          <a:noFill/>
          <a:ln/>
        </p:spPr>
        <p:txBody>
          <a:bodyPr wrap="square" lIns="0" tIns="0" rIns="0" bIns="0" rtlCol="0" anchor="t"/>
          <a:lstStyle/>
          <a:p>
            <a:pPr indent="0" marL="0">
              <a:lnSpc>
                <a:spcPct val="105000"/>
              </a:lnSpc>
              <a:buNone/>
            </a:pPr>
            <a:r>
              <a:rPr lang="en-US" sz="1300" b="1" dirty="0">
                <a:solidFill>
                  <a:schemeClr val="tx1"/>
                </a:solidFill>
              </a:rPr>
              <a:t>Build the fixture  </a:t>
            </a:r>
            <a:pPr indent="0" marL="0">
              <a:lnSpc>
                <a:spcPct val="105000"/>
              </a:lnSpc>
              <a:buNone/>
            </a:pPr>
            <a:r>
              <a:rPr lang="en-US" sz="1300" dirty="0">
                <a:solidFill>
                  <a:schemeClr val="tx1"/>
                </a:solidFill>
              </a:rPr>
              <a:t>from Qiskit's own benchmark builders or a local quantum-volume builder, all with fixed seeds.</a:t>
            </a:r>
            <a:endParaRPr lang="en-US" sz="1300" dirty="0"/>
          </a:p>
        </p:txBody>
      </p:sp>
      <p:sp>
        <p:nvSpPr>
          <p:cNvPr id="7" name="Shape 4"/>
          <p:cNvSpPr/>
          <p:nvPr/>
        </p:nvSpPr>
        <p:spPr>
          <a:xfrm>
            <a:off x="548640" y="2532888"/>
            <a:ext cx="384048" cy="384048"/>
          </a:xfrm>
          <a:prstGeom prst="ellipse">
            <a:avLst/>
          </a:prstGeom>
          <a:solidFill>
            <a:schemeClr val="accent5"/>
          </a:solidFill>
          <a:ln w="6350">
            <a:solidFill>
              <a:schemeClr val="accent5"/>
            </a:solidFill>
            <a:prstDash val="solid"/>
          </a:ln>
        </p:spPr>
      </p:sp>
      <p:sp>
        <p:nvSpPr>
          <p:cNvPr id="8" name="Text 5"/>
          <p:cNvSpPr txBox="1"/>
          <p:nvPr/>
        </p:nvSpPr>
        <p:spPr>
          <a:xfrm>
            <a:off x="548640" y="253288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2</a:t>
            </a:r>
            <a:endParaRPr lang="en-US" sz="1200" dirty="0"/>
          </a:p>
        </p:txBody>
      </p:sp>
      <p:sp>
        <p:nvSpPr>
          <p:cNvPr id="9" name="Text 6"/>
          <p:cNvSpPr txBox="1"/>
          <p:nvPr/>
        </p:nvSpPr>
        <p:spPr>
          <a:xfrm>
            <a:off x="1097280" y="2514600"/>
            <a:ext cx="4800600" cy="1005840"/>
          </a:xfrm>
          <a:prstGeom prst="rect">
            <a:avLst/>
          </a:prstGeom>
          <a:noFill/>
          <a:ln/>
        </p:spPr>
        <p:txBody>
          <a:bodyPr wrap="square" lIns="0" tIns="0" rIns="0" bIns="0" rtlCol="0" anchor="t"/>
          <a:lstStyle/>
          <a:p>
            <a:pPr indent="0" marL="0">
              <a:lnSpc>
                <a:spcPct val="105000"/>
              </a:lnSpc>
              <a:buNone/>
            </a:pPr>
            <a:r>
              <a:rPr lang="en-US" sz="1300" b="1" dirty="0">
                <a:solidFill>
                  <a:schemeClr val="tx1"/>
                </a:solidFill>
              </a:rPr>
              <a:t>Prepare it:  </a:t>
            </a:r>
            <a:pPr indent="0" marL="0">
              <a:lnSpc>
                <a:spcPct val="105000"/>
              </a:lnSpc>
              <a:buNone/>
            </a:pPr>
            <a:r>
              <a:rPr lang="en-US" sz="1300" dirty="0">
                <a:solidFill>
                  <a:schemeClr val="tx1"/>
                </a:solidFill>
              </a:rPr>
              <a:t>remove final measurements, bind any free parameters to 0.1, 0.2, 0.3, …, and run Unroll3qOrMore. The circuit must then have exactly 10 qubits and only one- and two-qubit instructions.</a:t>
            </a:r>
            <a:endParaRPr lang="en-US" sz="1300" dirty="0"/>
          </a:p>
        </p:txBody>
      </p:sp>
      <p:sp>
        <p:nvSpPr>
          <p:cNvPr id="10" name="Shape 7"/>
          <p:cNvSpPr/>
          <p:nvPr/>
        </p:nvSpPr>
        <p:spPr>
          <a:xfrm>
            <a:off x="548640" y="3630168"/>
            <a:ext cx="384048" cy="384048"/>
          </a:xfrm>
          <a:prstGeom prst="ellipse">
            <a:avLst/>
          </a:prstGeom>
          <a:solidFill>
            <a:schemeClr val="accent5"/>
          </a:solidFill>
          <a:ln w="6350">
            <a:solidFill>
              <a:schemeClr val="accent5"/>
            </a:solidFill>
            <a:prstDash val="solid"/>
          </a:ln>
        </p:spPr>
      </p:sp>
      <p:sp>
        <p:nvSpPr>
          <p:cNvPr id="11" name="Text 8"/>
          <p:cNvSpPr txBox="1"/>
          <p:nvPr/>
        </p:nvSpPr>
        <p:spPr>
          <a:xfrm>
            <a:off x="548640" y="363016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3</a:t>
            </a:r>
            <a:endParaRPr lang="en-US" sz="1200" dirty="0"/>
          </a:p>
        </p:txBody>
      </p:sp>
      <p:sp>
        <p:nvSpPr>
          <p:cNvPr id="12" name="Text 9"/>
          <p:cNvSpPr txBox="1"/>
          <p:nvPr/>
        </p:nvSpPr>
        <p:spPr>
          <a:xfrm>
            <a:off x="1097280" y="3611880"/>
            <a:ext cx="4800600" cy="1005840"/>
          </a:xfrm>
          <a:prstGeom prst="rect">
            <a:avLst/>
          </a:prstGeom>
          <a:noFill/>
          <a:ln/>
        </p:spPr>
        <p:txBody>
          <a:bodyPr wrap="square" lIns="0" tIns="0" rIns="0" bIns="0" rtlCol="0" anchor="t"/>
          <a:lstStyle/>
          <a:p>
            <a:pPr indent="0" marL="0">
              <a:lnSpc>
                <a:spcPct val="105000"/>
              </a:lnSpc>
              <a:buNone/>
            </a:pPr>
            <a:r>
              <a:rPr lang="en-US" sz="1300" b="1" dirty="0">
                <a:solidFill>
                  <a:schemeClr val="tx1"/>
                </a:solidFill>
              </a:rPr>
              <a:t>Take the reference:  </a:t>
            </a:r>
            <a:pPr indent="0" marL="0">
              <a:lnSpc>
                <a:spcPct val="105000"/>
              </a:lnSpc>
              <a:buNone/>
            </a:pPr>
            <a:r>
              <a:rPr lang="en-US" sz="1300" dirty="0">
                <a:solidFill>
                  <a:schemeClr val="tx1"/>
                </a:solidFill>
              </a:rPr>
              <a:t>reference = Operator.from_circuit(qc), a 1024 × 1024 matrix.</a:t>
            </a:r>
            <a:endParaRPr lang="en-US" sz="1300" dirty="0"/>
          </a:p>
        </p:txBody>
      </p:sp>
      <p:sp>
        <p:nvSpPr>
          <p:cNvPr id="13" name="Shape 10"/>
          <p:cNvSpPr/>
          <p:nvPr/>
        </p:nvSpPr>
        <p:spPr>
          <a:xfrm>
            <a:off x="548640" y="4727448"/>
            <a:ext cx="384048" cy="384048"/>
          </a:xfrm>
          <a:prstGeom prst="ellipse">
            <a:avLst/>
          </a:prstGeom>
          <a:solidFill>
            <a:schemeClr val="accent5"/>
          </a:solidFill>
          <a:ln w="6350">
            <a:solidFill>
              <a:schemeClr val="accent5"/>
            </a:solidFill>
            <a:prstDash val="solid"/>
          </a:ln>
        </p:spPr>
      </p:sp>
      <p:sp>
        <p:nvSpPr>
          <p:cNvPr id="14" name="Text 11"/>
          <p:cNvSpPr txBox="1"/>
          <p:nvPr/>
        </p:nvSpPr>
        <p:spPr>
          <a:xfrm>
            <a:off x="548640" y="472744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4</a:t>
            </a:r>
            <a:endParaRPr lang="en-US" sz="1200" dirty="0"/>
          </a:p>
        </p:txBody>
      </p:sp>
      <p:sp>
        <p:nvSpPr>
          <p:cNvPr id="15" name="Text 12"/>
          <p:cNvSpPr txBox="1"/>
          <p:nvPr/>
        </p:nvSpPr>
        <p:spPr>
          <a:xfrm>
            <a:off x="1097280" y="4709160"/>
            <a:ext cx="4800600" cy="1005840"/>
          </a:xfrm>
          <a:prstGeom prst="rect">
            <a:avLst/>
          </a:prstGeom>
          <a:noFill/>
          <a:ln/>
        </p:spPr>
        <p:txBody>
          <a:bodyPr wrap="square" lIns="0" tIns="0" rIns="0" bIns="0" rtlCol="0" anchor="t"/>
          <a:lstStyle/>
          <a:p>
            <a:pPr indent="0" marL="0">
              <a:lnSpc>
                <a:spcPct val="105000"/>
              </a:lnSpc>
              <a:buNone/>
            </a:pPr>
            <a:r>
              <a:rPr lang="en-US" sz="1300" b="1" dirty="0">
                <a:solidFill>
                  <a:schemeClr val="tx1"/>
                </a:solidFill>
              </a:rPr>
              <a:t>Run the real preset pass manager  </a:t>
            </a:r>
            <a:pPr indent="0" marL="0">
              <a:lnSpc>
                <a:spcPct val="105000"/>
              </a:lnSpc>
              <a:buNone/>
            </a:pPr>
            <a:r>
              <a:rPr lang="en-US" sz="1300" dirty="0">
                <a:solidFill>
                  <a:schemeClr val="tx1"/>
                </a:solidFill>
              </a:rPr>
              <a:t>on a copy of the circuit. _find_moves is wrapped so its selected moves are counted without changing its result; a callback counts every execution of _AbsorbIntoSwaps and the swaps it saw.</a:t>
            </a:r>
            <a:endParaRPr lang="en-US" sz="1300" dirty="0"/>
          </a:p>
        </p:txBody>
      </p:sp>
      <p:sp>
        <p:nvSpPr>
          <p:cNvPr id="16" name="Shape 13"/>
          <p:cNvSpPr/>
          <p:nvPr/>
        </p:nvSpPr>
        <p:spPr>
          <a:xfrm>
            <a:off x="6309360" y="1435608"/>
            <a:ext cx="384048" cy="384048"/>
          </a:xfrm>
          <a:prstGeom prst="ellipse">
            <a:avLst/>
          </a:prstGeom>
          <a:solidFill>
            <a:schemeClr val="accent5"/>
          </a:solidFill>
          <a:ln w="6350">
            <a:solidFill>
              <a:schemeClr val="accent5"/>
            </a:solidFill>
            <a:prstDash val="solid"/>
          </a:ln>
        </p:spPr>
      </p:sp>
      <p:sp>
        <p:nvSpPr>
          <p:cNvPr id="17" name="Text 14"/>
          <p:cNvSpPr txBox="1"/>
          <p:nvPr/>
        </p:nvSpPr>
        <p:spPr>
          <a:xfrm>
            <a:off x="6309360" y="143560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18" name="Text 15"/>
          <p:cNvSpPr txBox="1"/>
          <p:nvPr/>
        </p:nvSpPr>
        <p:spPr>
          <a:xfrm>
            <a:off x="6858000" y="1417320"/>
            <a:ext cx="4800600" cy="1005840"/>
          </a:xfrm>
          <a:prstGeom prst="rect">
            <a:avLst/>
          </a:prstGeom>
          <a:noFill/>
          <a:ln/>
        </p:spPr>
        <p:txBody>
          <a:bodyPr wrap="square" lIns="0" tIns="0" rIns="0" bIns="0" rtlCol="0" anchor="t"/>
          <a:lstStyle/>
          <a:p>
            <a:pPr indent="0" marL="0">
              <a:lnSpc>
                <a:spcPct val="105000"/>
              </a:lnSpc>
              <a:buNone/>
            </a:pPr>
            <a:r>
              <a:rPr lang="en-US" sz="1300" b="1" dirty="0">
                <a:solidFill>
                  <a:schemeClr val="tx1"/>
                </a:solidFill>
              </a:rPr>
              <a:t>Check structure:  </a:t>
            </a:r>
            <a:pPr indent="0" marL="0">
              <a:lnSpc>
                <a:spcPct val="105000"/>
              </a:lnSpc>
              <a:buNone/>
            </a:pPr>
            <a:r>
              <a:rPr lang="en-US" sz="1300" dirty="0">
                <a:solidFill>
                  <a:schemeClr val="tx1"/>
                </a:solidFill>
              </a:rPr>
              <a:t>the pass executed at least once; the output has 10 qubits and layout metadata; the initial layout is still the identity; the final layout is a permutation of 0 … 9; every gate acts on at most two qubits, sits on an edge of the line, and is named rz, sx, x or cx.</a:t>
            </a:r>
            <a:endParaRPr lang="en-US" sz="1300" dirty="0"/>
          </a:p>
        </p:txBody>
      </p:sp>
      <p:sp>
        <p:nvSpPr>
          <p:cNvPr id="19" name="Shape 16"/>
          <p:cNvSpPr/>
          <p:nvPr/>
        </p:nvSpPr>
        <p:spPr>
          <a:xfrm>
            <a:off x="6309360" y="2532888"/>
            <a:ext cx="384048" cy="384048"/>
          </a:xfrm>
          <a:prstGeom prst="ellipse">
            <a:avLst/>
          </a:prstGeom>
          <a:solidFill>
            <a:schemeClr val="accent5"/>
          </a:solidFill>
          <a:ln w="6350">
            <a:solidFill>
              <a:schemeClr val="accent5"/>
            </a:solidFill>
            <a:prstDash val="solid"/>
          </a:ln>
        </p:spPr>
      </p:sp>
      <p:sp>
        <p:nvSpPr>
          <p:cNvPr id="20" name="Text 17"/>
          <p:cNvSpPr txBox="1"/>
          <p:nvPr/>
        </p:nvSpPr>
        <p:spPr>
          <a:xfrm>
            <a:off x="6309360" y="253288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6</a:t>
            </a:r>
            <a:endParaRPr lang="en-US" sz="1200" dirty="0"/>
          </a:p>
        </p:txBody>
      </p:sp>
      <p:sp>
        <p:nvSpPr>
          <p:cNvPr id="21" name="Text 18"/>
          <p:cNvSpPr txBox="1"/>
          <p:nvPr/>
        </p:nvSpPr>
        <p:spPr>
          <a:xfrm>
            <a:off x="6858000" y="2514600"/>
            <a:ext cx="4800600" cy="1005840"/>
          </a:xfrm>
          <a:prstGeom prst="rect">
            <a:avLst/>
          </a:prstGeom>
          <a:noFill/>
          <a:ln/>
        </p:spPr>
        <p:txBody>
          <a:bodyPr wrap="square" lIns="0" tIns="0" rIns="0" bIns="0" rtlCol="0" anchor="t"/>
          <a:lstStyle/>
          <a:p>
            <a:pPr indent="0" marL="0">
              <a:lnSpc>
                <a:spcPct val="105000"/>
              </a:lnSpc>
              <a:buNone/>
            </a:pPr>
            <a:r>
              <a:rPr lang="en-US" sz="1300" b="1" dirty="0">
                <a:solidFill>
                  <a:schemeClr val="tx1"/>
                </a:solidFill>
              </a:rPr>
              <a:t>Record metrics:  </a:t>
            </a:r>
            <a:pPr indent="0" marL="0">
              <a:lnSpc>
                <a:spcPct val="105000"/>
              </a:lnSpc>
              <a:buNone/>
            </a:pPr>
            <a:r>
              <a:rPr lang="en-US" sz="1300" dirty="0">
                <a:solidFill>
                  <a:schemeClr val="tx1"/>
                </a:solidFill>
              </a:rPr>
              <a:t>depth and two-qubit gate count, kept even if the next step fails.</a:t>
            </a:r>
            <a:endParaRPr lang="en-US" sz="1300" dirty="0"/>
          </a:p>
        </p:txBody>
      </p:sp>
      <p:sp>
        <p:nvSpPr>
          <p:cNvPr id="22" name="Shape 19"/>
          <p:cNvSpPr/>
          <p:nvPr/>
        </p:nvSpPr>
        <p:spPr>
          <a:xfrm>
            <a:off x="6309360" y="3630168"/>
            <a:ext cx="384048" cy="384048"/>
          </a:xfrm>
          <a:prstGeom prst="ellipse">
            <a:avLst/>
          </a:prstGeom>
          <a:solidFill>
            <a:schemeClr val="accent5"/>
          </a:solidFill>
          <a:ln w="6350">
            <a:solidFill>
              <a:schemeClr val="accent5"/>
            </a:solidFill>
            <a:prstDash val="solid"/>
          </a:ln>
        </p:spPr>
      </p:sp>
      <p:sp>
        <p:nvSpPr>
          <p:cNvPr id="23" name="Text 20"/>
          <p:cNvSpPr txBox="1"/>
          <p:nvPr/>
        </p:nvSpPr>
        <p:spPr>
          <a:xfrm>
            <a:off x="6309360" y="3630168"/>
            <a:ext cx="384048" cy="384048"/>
          </a:xfrm>
          <a:prstGeom prst="rect">
            <a:avLst/>
          </a:prstGeom>
          <a:noFill/>
          <a:ln/>
        </p:spPr>
        <p:txBody>
          <a:bodyPr wrap="square" lIns="0" tIns="0" rIns="0" bIns="0" rtlCol="0" anchor="ctr"/>
          <a:lstStyle/>
          <a:p>
            <a:pPr algn="ctr" indent="0" marL="0">
              <a:buNone/>
            </a:pPr>
            <a:r>
              <a:rPr lang="en-US" sz="1200" b="1" dirty="0">
                <a:solidFill>
                  <a:schemeClr val="accent1"/>
                </a:solidFill>
              </a:rPr>
              <a:t>7</a:t>
            </a:r>
            <a:endParaRPr lang="en-US" sz="1200" dirty="0"/>
          </a:p>
        </p:txBody>
      </p:sp>
      <p:sp>
        <p:nvSpPr>
          <p:cNvPr id="24" name="Text 21"/>
          <p:cNvSpPr txBox="1"/>
          <p:nvPr/>
        </p:nvSpPr>
        <p:spPr>
          <a:xfrm>
            <a:off x="6858000" y="3611880"/>
            <a:ext cx="4800600" cy="1005840"/>
          </a:xfrm>
          <a:prstGeom prst="rect">
            <a:avLst/>
          </a:prstGeom>
          <a:noFill/>
          <a:ln/>
        </p:spPr>
        <p:txBody>
          <a:bodyPr wrap="square" lIns="0" tIns="0" rIns="0" bIns="0" rtlCol="0" anchor="t"/>
          <a:lstStyle/>
          <a:p>
            <a:pPr indent="0" marL="0">
              <a:lnSpc>
                <a:spcPct val="105000"/>
              </a:lnSpc>
              <a:buNone/>
            </a:pPr>
            <a:r>
              <a:rPr lang="en-US" sz="1300" b="1" dirty="0">
                <a:solidFill>
                  <a:schemeClr val="tx1"/>
                </a:solidFill>
              </a:rPr>
              <a:t>Check the unitary:  </a:t>
            </a:r>
            <a:pPr indent="0" marL="0">
              <a:lnSpc>
                <a:spcPct val="105000"/>
              </a:lnSpc>
              <a:buNone/>
            </a:pPr>
            <a:r>
              <a:rPr lang="en-US" sz="1300" dirty="0">
                <a:solidFill>
                  <a:schemeClr val="tx1"/>
                </a:solidFill>
              </a:rPr>
              <a:t>Operator.from_circuit(out) == reference, which undoes the routing permutation and compares every matrix entry, global phase included.</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Pipeline settings for every case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834640"/>
                <a:gridCol w="3566160"/>
                <a:gridCol w="4690872"/>
              </a:tblGrid>
              <a:tr h="502920">
                <a:tc>
                  <a:txBody>
                    <a:bodyPr/>
                    <a:lstStyle/>
                    <a:p>
                      <a:pPr indent="0" marL="0">
                        <a:buNone/>
                      </a:pPr>
                      <a:r>
                        <a:rPr lang="en-US" sz="1100" b="1" dirty="0">
                          <a:solidFill>
                            <a:schemeClr val="tx2"/>
                          </a:solidFill>
                        </a:rPr>
                        <a:t>Setting</a:t>
                      </a:r>
                      <a:endParaRPr lang="en-US" sz="11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100" b="1" dirty="0">
                          <a:solidFill>
                            <a:schemeClr val="tx2"/>
                          </a:solidFill>
                        </a:rPr>
                        <a:t>Value</a:t>
                      </a:r>
                      <a:endParaRPr lang="en-US" sz="11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100" b="1" dirty="0">
                          <a:solidFill>
                            <a:schemeClr val="tx2"/>
                          </a:solidFill>
                        </a:rPr>
                        <a:t>Why</a:t>
                      </a:r>
                      <a:endParaRPr lang="en-US" sz="11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optimization_level</a:t>
                      </a:r>
                      <a:endParaRPr lang="en-US" sz="12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2 or 3</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The levels that enable the pass.</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coupling_map</a:t>
                      </a:r>
                      <a:endParaRPr lang="en-US" sz="12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CouplingMap.from_line(10), bidirectional</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A line forces many swaps on all-to-all circuits.</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initial_layout, layout_method</a:t>
                      </a:r>
                      <a:endParaRPr lang="en-US" sz="12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[0 … 9], trivial</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Identity layout, so the final permutation comes from routing alone.</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routing_method, seed_transpiler</a:t>
                      </a:r>
                      <a:endParaRPr lang="en-US" sz="12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sabre; one of 0, 1, 42, 2, 7, 123</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Deterministic routing; 20 SABRE trials at both levels.</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translation_method, basis_gates</a:t>
                      </a:r>
                      <a:endParaRPr lang="en-US" sz="12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translator; rz, sx, x, cx</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The stage the pass is inserted into, and the basis the output must satisfy.</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approximation_degree</a:t>
                      </a:r>
                      <a:endParaRPr lang="en-US" sz="12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1.0</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Exact two-qubit synthesis, so equality is a fair demand.</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qubits_initially_zero</a:t>
                      </a:r>
                      <a:endParaRPr lang="en-US" sz="12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False</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300" dirty="0">
                          <a:solidFill>
                            <a:schemeClr val="tx1"/>
                          </a:solidFill>
                        </a:rPr>
                        <a:t>The output must match for arbitrary input states, not only for the all-zero state.</a:t>
                      </a:r>
                      <a:endParaRPr lang="en-US" sz="13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sp>
        <p:nvSpPr>
          <p:cNvPr id="5" name="Text 1"/>
          <p:cNvSpPr txBox="1"/>
          <p:nvPr/>
        </p:nvSpPr>
        <p:spPr>
          <a:xfrm>
            <a:off x="548640" y="5577840"/>
            <a:ext cx="11091672" cy="548640"/>
          </a:xfrm>
          <a:prstGeom prst="rect">
            <a:avLst/>
          </a:prstGeom>
          <a:noFill/>
          <a:ln/>
        </p:spPr>
        <p:txBody>
          <a:bodyPr wrap="square" lIns="0" tIns="0" rIns="0" bIns="0" rtlCol="0" anchor="t"/>
          <a:lstStyle/>
          <a:p>
            <a:pPr algn="l" indent="0" marL="0">
              <a:buNone/>
            </a:pPr>
            <a:r>
              <a:rPr lang="en-US" sz="1250" dirty="0">
                <a:solidFill>
                  <a:schemeClr val="tx2"/>
                </a:solidFill>
              </a:rPr>
              <a:t>Everything else is the preset default. The parser and the reporter reject other levels, so the suite's claims stay specific to levels 2 and 3 on a trivial 10-qubit line.</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The sixteen circuits</a:t>
            </a:r>
            <a:endParaRPr lang="en-US" sz="3000" dirty="0"/>
          </a:p>
        </p:txBody>
      </p:sp>
      <p:sp>
        <p:nvSpPr>
          <p:cNvPr id="4" name="Text 1"/>
          <p:cNvSpPr txBox="1"/>
          <p:nvPr/>
        </p:nvSpPr>
        <p:spPr>
          <a:xfrm>
            <a:off x="548640" y="1325880"/>
            <a:ext cx="11091672" cy="548640"/>
          </a:xfrm>
          <a:prstGeom prst="rect">
            <a:avLst/>
          </a:prstGeom>
          <a:noFill/>
          <a:ln/>
        </p:spPr>
        <p:txBody>
          <a:bodyPr wrap="square" lIns="0" tIns="0" rIns="0" bIns="0" rtlCol="0" anchor="t"/>
          <a:lstStyle/>
          <a:p>
            <a:pPr algn="l" indent="0" marL="0">
              <a:lnSpc>
                <a:spcPct val="105000"/>
              </a:lnSpc>
              <a:buNone/>
            </a:pPr>
            <a:r>
              <a:rPr lang="en-US" sz="1300" dirty="0">
                <a:solidFill>
                  <a:schemeClr val="tx1"/>
                </a:solidFill>
              </a:rPr>
              <a:t>All fixtures are 10 qubits wide after preparation. They mix structured algorithms with random circuits so the pass meets diagonal interactions, CX-rich arithmetic, explicit swaps in the input, and Haar-random two-qubit unitaries.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440680" cy="914400"/>
        </p:xfrm>
        <a:graphic>
          <a:graphicData uri="http://schemas.openxmlformats.org/drawingml/2006/table">
            <a:tbl>
              <a:tblPr/>
              <a:tblGrid>
                <a:gridCol w="1463040"/>
                <a:gridCol w="3977640"/>
              </a:tblGrid>
              <a:tr h="457200">
                <a:tc>
                  <a:txBody>
                    <a:bodyPr/>
                    <a:lstStyle/>
                    <a:p>
                      <a:pPr indent="0" marL="0">
                        <a:buNone/>
                      </a:pPr>
                      <a:r>
                        <a:rPr lang="en-US" sz="950" b="1" dirty="0">
                          <a:solidFill>
                            <a:schemeClr val="tx2"/>
                          </a:solidFill>
                        </a:rPr>
                        <a:t>Fixture</a:t>
                      </a:r>
                      <a:endParaRPr lang="en-US" sz="9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950" b="1" dirty="0">
                          <a:solidFill>
                            <a:schemeClr val="tx2"/>
                          </a:solidFill>
                        </a:rPr>
                        <a:t>Circuit</a:t>
                      </a:r>
                      <a:endParaRPr lang="en-US" sz="9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qft10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Quantum Fourier transform; all-to-all controlled phases force many swaps on a line</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random10x60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Random circuit, depth 60, seed 42; one- and two-qubit gates, incl. explicit swaps</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adder4</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4-bit ripple-carry adder; Toffolis unrolled, measurements removed</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ring10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Ring-shaped random circuit, depth 20, seed 0</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qv10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Quantum volume: 10 layers of Haar-random two-qubit unitaries, seed 42</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dtc10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Discrete-time-crystal Floquet unitary, g = 0.95, seed 12345</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random10x20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Random circuit, depth 20, seed 7</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random10x40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Random circuit, depth 40, seed 123</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199632" y="2011680"/>
          <a:ext cx="5440680" cy="914400"/>
        </p:xfrm>
        <a:graphic>
          <a:graphicData uri="http://schemas.openxmlformats.org/drawingml/2006/table">
            <a:tbl>
              <a:tblPr/>
              <a:tblGrid>
                <a:gridCol w="1463040"/>
                <a:gridCol w="3977640"/>
              </a:tblGrid>
              <a:tr h="457200">
                <a:tc>
                  <a:txBody>
                    <a:bodyPr/>
                    <a:lstStyle/>
                    <a:p>
                      <a:pPr indent="0" marL="0">
                        <a:buNone/>
                      </a:pPr>
                      <a:r>
                        <a:rPr lang="en-US" sz="950" b="1" dirty="0">
                          <a:solidFill>
                            <a:schemeClr val="tx2"/>
                          </a:solidFill>
                        </a:rPr>
                        <a:t>Fixture</a:t>
                      </a:r>
                      <a:endParaRPr lang="en-US" sz="9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950" b="1" dirty="0">
                          <a:solidFill>
                            <a:schemeClr val="tx2"/>
                          </a:solidFill>
                        </a:rPr>
                        <a:t>Circuit</a:t>
                      </a:r>
                      <a:endParaRPr lang="en-US" sz="9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qv10_seed7</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Second quantum-volume instance, seed 7</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bv10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Bernstein–Vazirani, all-ones secret: a star of CX gates onto the last qubit</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bvlike10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CX from every qubit onto the last one, then X and Z gates</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trotter10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Two Trotter steps of a nearest-neighbour XX + YY + ZZ chain with a Z field</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qaoa10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QAOA ansatz, two repetitions, seeded ZZ weights; parameters bound first</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grover10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Grover search with 9 state qubits and one target qubit</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mcx10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Multi-controlled X: 8 controls, 1 target, 1 clean ancilla</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45720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modular_adder10</a:t>
                      </a:r>
                      <a:endParaRPr lang="en-US" sz="10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rPr>
                        <a:t>Modular adder on two 5-qubit registers</a:t>
                      </a:r>
                      <a:endParaRPr lang="en-US" sz="11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Equality, not equivalence</a:t>
            </a:r>
            <a:endParaRPr lang="en-US" sz="3000" dirty="0"/>
          </a:p>
        </p:txBody>
      </p:sp>
      <p:sp>
        <p:nvSpPr>
          <p:cNvPr id="4" name="Text 1"/>
          <p:cNvSpPr txBox="1"/>
          <p:nvPr/>
        </p:nvSpPr>
        <p:spPr>
          <a:xfrm>
            <a:off x="548640" y="1371600"/>
            <a:ext cx="11091672" cy="105156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A reviewer of the Qiskit tests remarked that assertions of the form assertTrue(Operator.from_circuit(out).equiv(Operator(qc))) should be assertEqual(Operator.from_circuit(out), Operator(qc)): equiv ignores global phase, and the operators before and after transpilation should be equal, not merely equivalent. This repository takes the strict side of that line everywhere.</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914400"/>
        </p:xfrm>
        <a:graphic>
          <a:graphicData uri="http://schemas.openxmlformats.org/drawingml/2006/table">
            <a:tbl>
              <a:tblPr/>
              <a:tblGrid>
                <a:gridCol w="2377440"/>
                <a:gridCol w="4480560"/>
                <a:gridCol w="4233672"/>
              </a:tblGrid>
              <a:tr h="502920">
                <a:tc>
                  <a:txBody>
                    <a:bodyPr/>
                    <a:lstStyle/>
                    <a:p>
                      <a:pPr indent="0" marL="0">
                        <a:buNone/>
                      </a:pP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50" b="1" dirty="0">
                          <a:solidFill>
                            <a:schemeClr val="tx2"/>
                          </a:solidFill>
                        </a:rPr>
                        <a:t>Operator.__eq__ (used here)</a:t>
                      </a: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50" b="1" dirty="0">
                          <a:solidFill>
                            <a:schemeClr val="tx2"/>
                          </a:solidFill>
                        </a:rPr>
                        <a:t>Operator.equiv (not used)</a:t>
                      </a: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502920">
                <a:tc>
                  <a:txBody>
                    <a:bodyPr/>
                    <a:lstStyle/>
                    <a:p>
                      <a:pPr indent="0" marL="0">
                        <a:buNone/>
                      </a:pPr>
                      <a:r>
                        <a:rPr lang="en-US" sz="1250" dirty="0">
                          <a:solidFill>
                            <a:schemeClr val="tx1"/>
                          </a:solidFill>
                        </a:rPr>
                        <a:t>Implementation</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np.allclose(A, B, rtol=1e-5, atol=1e-8) on every matrix entry</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matrix_equal(A, B, ignore_phase=True)</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50" dirty="0">
                          <a:solidFill>
                            <a:schemeClr val="tx1"/>
                          </a:solidFill>
                        </a:rPr>
                        <a:t>Global phase e^(iφ)</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b="1" dirty="0">
                          <a:solidFill>
                            <a:schemeClr val="accent4"/>
                          </a:solidFill>
                        </a:rPr>
                        <a:t>fails for φ above about 1e-5</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b="1" dirty="0">
                          <a:solidFill>
                            <a:schemeClr val="accent3"/>
                          </a:solidFill>
                        </a:rPr>
                        <a:t>accepted for any φ</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50" dirty="0">
                          <a:solidFill>
                            <a:schemeClr val="tx1"/>
                          </a:solidFill>
                        </a:rPr>
                        <a:t>Wrong gate or wrong permutation</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b="1" dirty="0">
                          <a:solidFill>
                            <a:schemeClr val="accent4"/>
                          </a:solidFill>
                        </a:rPr>
                        <a:t>fails</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b="1" dirty="0">
                          <a:solidFill>
                            <a:schemeClr val="accent4"/>
                          </a:solidFill>
                        </a:rPr>
                        <a:t>fails</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02920">
                <a:tc>
                  <a:txBody>
                    <a:bodyPr/>
                    <a:lstStyle/>
                    <a:p>
                      <a:pPr indent="0" marL="0">
                        <a:buNone/>
                      </a:pPr>
                      <a:r>
                        <a:rPr lang="en-US" sz="1250" dirty="0">
                          <a:solidFill>
                            <a:schemeClr val="tx1"/>
                          </a:solidFill>
                        </a:rPr>
                        <a:t>What it certifies</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The transpiler tracked the global phase exactly through absorption and synthesis.</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Only the physical action, up to an unobservable phase.</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sp>
        <p:nvSpPr>
          <p:cNvPr id="6" name="Text 2"/>
          <p:cNvSpPr txBox="1"/>
          <p:nvPr/>
        </p:nvSpPr>
        <p:spPr>
          <a:xfrm>
            <a:off x="548640" y="5532120"/>
            <a:ext cx="11091672" cy="548640"/>
          </a:xfrm>
          <a:prstGeom prst="rect">
            <a:avLst/>
          </a:prstGeom>
          <a:noFill/>
          <a:ln/>
        </p:spPr>
        <p:txBody>
          <a:bodyPr wrap="square" lIns="0" tIns="0" rIns="0" bIns="0" rtlCol="0" anchor="t"/>
          <a:lstStyle/>
          <a:p>
            <a:pPr algn="l" indent="0" marL="0">
              <a:buNone/>
            </a:pPr>
            <a:r>
              <a:rPr lang="en-US" sz="1250" dirty="0">
                <a:solidFill>
                  <a:schemeClr val="tx2"/>
                </a:solidFill>
              </a:rPr>
              <a:t>Probe on this machine: transpiling a 3-qubit circuit on a line and adding 1e-3 to the output's global phase makes == fail while equiv still holds.</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Where the harness compares, and what from_circuit adds</a:t>
            </a:r>
            <a:endParaRPr lang="en-US" sz="3000" dirty="0"/>
          </a:p>
        </p:txBody>
      </p:sp>
      <p:sp>
        <p:nvSpPr>
          <p:cNvPr id="4" name="Text 1"/>
          <p:cNvSpPr txBox="1"/>
          <p:nvPr/>
        </p:nvSpPr>
        <p:spPr>
          <a:xfrm>
            <a:off x="548640" y="1371600"/>
            <a:ext cx="5394960" cy="274320"/>
          </a:xfrm>
          <a:prstGeom prst="rect">
            <a:avLst/>
          </a:prstGeom>
          <a:noFill/>
          <a:ln/>
        </p:spPr>
        <p:txBody>
          <a:bodyPr wrap="square" lIns="0" tIns="0" rIns="0" bIns="0" rtlCol="0" anchor="t"/>
          <a:lstStyle/>
          <a:p>
            <a:pPr algn="l" indent="0" marL="0">
              <a:buNone/>
            </a:pPr>
            <a:r>
              <a:rPr lang="en-US" sz="1400" b="1" dirty="0">
                <a:solidFill>
                  <a:schemeClr val="tx1"/>
                </a:solidFill>
              </a:rPr>
              <a:t>Where the harness compares</a:t>
            </a:r>
            <a:endParaRPr lang="en-US" sz="1400" dirty="0"/>
          </a:p>
        </p:txBody>
      </p:sp>
      <p:sp>
        <p:nvSpPr>
          <p:cNvPr id="5" name="Text 2"/>
          <p:cNvSpPr txBox="1"/>
          <p:nvPr/>
        </p:nvSpPr>
        <p:spPr>
          <a:xfrm>
            <a:off x="548640" y="1737360"/>
            <a:ext cx="5394960" cy="2651760"/>
          </a:xfrm>
          <a:prstGeom prst="rect">
            <a:avLst/>
          </a:prstGeom>
          <a:noFill/>
          <a:ln/>
        </p:spPr>
        <p:txBody>
          <a:bodyPr wrap="square" lIns="0" tIns="0" rIns="0" bIns="0" rtlCol="0" anchor="t"/>
          <a:lstStyle/>
          <a:p>
            <a:pPr marL="342900" indent="-342900">
              <a:lnSpc>
                <a:spcPct val="105000"/>
              </a:lnSpc>
              <a:spcAft>
                <a:spcPts val="800"/>
              </a:spcAft>
              <a:buSzPct val="100000"/>
              <a:buChar char="•"/>
            </a:pPr>
            <a:r>
              <a:rPr lang="en-US" sz="1300" b="1" dirty="0">
                <a:solidFill>
                  <a:schemeClr val="tx1"/>
                </a:solidFill>
              </a:rPr>
              <a:t>run_validation.py, every full-pipeline case: </a:t>
            </a:r>
            <a:pPr indent="0" marL="0">
              <a:lnSpc>
                <a:spcPct val="105000"/>
              </a:lnSpc>
              <a:spcAft>
                <a:spcPts val="800"/>
              </a:spcAft>
              <a:buNone/>
            </a:pPr>
            <a:r>
              <a:rPr lang="en-US" sz="1300" dirty="0">
                <a:solidFill>
                  <a:schemeClr val="tx1"/>
                </a:solidFill>
              </a:rPr>
              <a:t>Operator.from_circuit(out) == reference, with reference = Operator.from_circuit(qc).</a:t>
            </a:r>
            <a:endParaRPr lang="en-US" sz="1300" dirty="0"/>
          </a:p>
          <a:p>
            <a:pPr marL="342900" indent="-342900">
              <a:lnSpc>
                <a:spcPct val="105000"/>
              </a:lnSpc>
              <a:spcAft>
                <a:spcPts val="800"/>
              </a:spcAft>
              <a:buSzPct val="100000"/>
              <a:buChar char="•"/>
            </a:pPr>
            <a:r>
              <a:rPr lang="en-US" sz="1300" b="1" dirty="0">
                <a:solidFill>
                  <a:schemeClr val="tx1"/>
                </a:solidFill>
              </a:rPr>
              <a:t>swap_absorption_checks.py, every focused circuit check: </a:t>
            </a:r>
            <a:pPr indent="0" marL="0">
              <a:lnSpc>
                <a:spcPct val="105000"/>
              </a:lnSpc>
              <a:spcAft>
                <a:spcPts val="800"/>
              </a:spcAft>
              <a:buNone/>
            </a:pPr>
            <a:r>
              <a:rPr lang="en-US" sz="1300" dirty="0">
                <a:solidFill>
                  <a:schemeClr val="tx1"/>
                </a:solidFill>
              </a:rPr>
              <a:t>Operator(output) == Operator(circuit), with a deliberately non-zero global phase of 0.19 on the input.</a:t>
            </a:r>
            <a:endParaRPr lang="en-US" sz="1300" dirty="0"/>
          </a:p>
          <a:p>
            <a:pPr marL="342900" indent="-342900">
              <a:lnSpc>
                <a:spcPct val="105000"/>
              </a:lnSpc>
              <a:spcAft>
                <a:spcPts val="800"/>
              </a:spcAft>
              <a:buSzPct val="100000"/>
              <a:buChar char="•"/>
            </a:pPr>
            <a:r>
              <a:rPr lang="en-US" sz="1300" b="1" dirty="0">
                <a:solidFill>
                  <a:schemeClr val="tx1"/>
                </a:solidFill>
              </a:rPr>
              <a:t>The self-checks use != </a:t>
            </a:r>
            <a:pPr indent="0" marL="0">
              <a:lnSpc>
                <a:spcPct val="105000"/>
              </a:lnSpc>
              <a:spcAft>
                <a:spcPts val="800"/>
              </a:spcAft>
              <a:buNone/>
            </a:pPr>
            <a:r>
              <a:rPr lang="en-US" sz="1300" dirty="0">
                <a:solidFill>
                  <a:schemeClr val="tx1"/>
                </a:solidFill>
              </a:rPr>
              <a:t>on the same comparison, so they prove the strict comparison can fail.</a:t>
            </a:r>
            <a:endParaRPr lang="en-US" sz="1300" dirty="0"/>
          </a:p>
        </p:txBody>
      </p:sp>
      <p:sp>
        <p:nvSpPr>
          <p:cNvPr id="6" name="Text 3"/>
          <p:cNvSpPr txBox="1"/>
          <p:nvPr/>
        </p:nvSpPr>
        <p:spPr>
          <a:xfrm>
            <a:off x="6263640" y="1371600"/>
            <a:ext cx="5394960" cy="274320"/>
          </a:xfrm>
          <a:prstGeom prst="rect">
            <a:avLst/>
          </a:prstGeom>
          <a:noFill/>
          <a:ln/>
        </p:spPr>
        <p:txBody>
          <a:bodyPr wrap="square" lIns="0" tIns="0" rIns="0" bIns="0" rtlCol="0" anchor="t"/>
          <a:lstStyle/>
          <a:p>
            <a:pPr algn="l" indent="0" marL="0">
              <a:buNone/>
            </a:pPr>
            <a:r>
              <a:rPr lang="en-US" sz="1400" b="1" dirty="0">
                <a:solidFill>
                  <a:schemeClr val="tx1"/>
                </a:solidFill>
              </a:rPr>
              <a:t>What from_circuit adds</a:t>
            </a:r>
            <a:endParaRPr lang="en-US" sz="1400" dirty="0"/>
          </a:p>
        </p:txBody>
      </p:sp>
      <p:sp>
        <p:nvSpPr>
          <p:cNvPr id="7" name="Text 4"/>
          <p:cNvSpPr txBox="1"/>
          <p:nvPr/>
        </p:nvSpPr>
        <p:spPr>
          <a:xfrm>
            <a:off x="6263640" y="1737360"/>
            <a:ext cx="5394960" cy="265176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Operator.from_circuit(out) reads out.layout: it applies the initial-layout permutation (the identity here) and undoes the permutation that routing recorded in final_layout, so the transpiled matrix is expressed on the original virtual qubits before the entry-wise comparison. For the untranspiled input, which has no layout, from_circuit(qc) and Operator(qc) are the same matrix.</a:t>
            </a:r>
            <a:endParaRPr lang="en-US" sz="1300" dirty="0"/>
          </a:p>
        </p:txBody>
      </p:sp>
      <p:sp>
        <p:nvSpPr>
          <p:cNvPr id="8" name="Shape 5"/>
          <p:cNvSpPr/>
          <p:nvPr/>
        </p:nvSpPr>
        <p:spPr>
          <a:xfrm>
            <a:off x="548640" y="3931920"/>
            <a:ext cx="11091672" cy="1463040"/>
          </a:xfrm>
          <a:prstGeom prst="roundRect">
            <a:avLst>
              <a:gd name="adj" fmla="val 5000"/>
            </a:avLst>
          </a:prstGeom>
          <a:solidFill>
            <a:schemeClr val="bg2"/>
          </a:solidFill>
          <a:ln w="9525">
            <a:solidFill>
              <a:srgbClr val="C8D0D3"/>
            </a:solidFill>
            <a:prstDash val="solid"/>
          </a:ln>
        </p:spPr>
      </p:sp>
      <p:sp>
        <p:nvSpPr>
          <p:cNvPr id="9" name="Text 6"/>
          <p:cNvSpPr txBox="1"/>
          <p:nvPr/>
        </p:nvSpPr>
        <p:spPr>
          <a:xfrm>
            <a:off x="777240" y="4069080"/>
            <a:ext cx="10607040" cy="274320"/>
          </a:xfrm>
          <a:prstGeom prst="rect">
            <a:avLst/>
          </a:prstGeom>
          <a:noFill/>
          <a:ln/>
        </p:spPr>
        <p:txBody>
          <a:bodyPr wrap="square" lIns="0" tIns="0" rIns="0" bIns="0" rtlCol="0" anchor="t"/>
          <a:lstStyle/>
          <a:p>
            <a:pPr algn="l" indent="0" marL="0">
              <a:buNone/>
            </a:pPr>
            <a:r>
              <a:rPr lang="en-US" sz="1300" b="1" dirty="0">
                <a:solidFill>
                  <a:schemeClr val="accent1"/>
                </a:solidFill>
              </a:rPr>
              <a:t>The remark also holds for Qiskit's own test module</a:t>
            </a:r>
            <a:endParaRPr lang="en-US" sz="1300" dirty="0"/>
          </a:p>
        </p:txBody>
      </p:sp>
      <p:sp>
        <p:nvSpPr>
          <p:cNvPr id="10" name="Text 7"/>
          <p:cNvSpPr txBox="1"/>
          <p:nvPr/>
        </p:nvSpPr>
        <p:spPr>
          <a:xfrm>
            <a:off x="777240" y="4389120"/>
            <a:ext cx="10607040" cy="91440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A copy of test/python/transpiler/test_swap_absorption.py with all 13 assertTrue(X.equiv(Y)) assertions rewritten to assertEqual(X, Y) passes all 43 tests against the rebuilt extension, so the stricter assertion can be adopted there without any other change.</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Negative controls: comparisons that must fail</a:t>
            </a:r>
            <a:endParaRPr lang="en-US" sz="3000" dirty="0"/>
          </a:p>
        </p:txBody>
      </p:sp>
      <p:sp>
        <p:nvSpPr>
          <p:cNvPr id="4" name="Text 1"/>
          <p:cNvSpPr txBox="1"/>
          <p:nvPr/>
        </p:nvSpPr>
        <p:spPr>
          <a:xfrm>
            <a:off x="548640" y="1371600"/>
            <a:ext cx="11091672" cy="82296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At each level the runner takes the first passing case whose final permutation is not the identity (qft10, seed 0, in the recorded run) and breaks it twice. Both breaks must be detected by exactly the comparison used for the real cases.</a:t>
            </a:r>
            <a:endParaRPr lang="en-US" sz="1400" dirty="0"/>
          </a:p>
        </p:txBody>
      </p:sp>
      <p:sp>
        <p:nvSpPr>
          <p:cNvPr id="5" name="Shape 2"/>
          <p:cNvSpPr/>
          <p:nvPr/>
        </p:nvSpPr>
        <p:spPr>
          <a:xfrm>
            <a:off x="548640" y="2377440"/>
            <a:ext cx="5440680" cy="2103120"/>
          </a:xfrm>
          <a:prstGeom prst="roundRect">
            <a:avLst>
              <a:gd name="adj" fmla="val 3478"/>
            </a:avLst>
          </a:prstGeom>
          <a:solidFill>
            <a:schemeClr val="bg2"/>
          </a:solidFill>
          <a:ln w="9525">
            <a:solidFill>
              <a:srgbClr val="C8D0D3"/>
            </a:solidFill>
            <a:prstDash val="solid"/>
          </a:ln>
        </p:spPr>
      </p:sp>
      <p:sp>
        <p:nvSpPr>
          <p:cNvPr id="6" name="Text 3"/>
          <p:cNvSpPr txBox="1"/>
          <p:nvPr/>
        </p:nvSpPr>
        <p:spPr>
          <a:xfrm>
            <a:off x="777240" y="2542032"/>
            <a:ext cx="4983480" cy="292608"/>
          </a:xfrm>
          <a:prstGeom prst="rect">
            <a:avLst/>
          </a:prstGeom>
          <a:noFill/>
          <a:ln/>
        </p:spPr>
        <p:txBody>
          <a:bodyPr wrap="square" lIns="0" tIns="0" rIns="0" bIns="0" rtlCol="0" anchor="t"/>
          <a:lstStyle/>
          <a:p>
            <a:pPr algn="l" indent="0" marL="0">
              <a:buNone/>
            </a:pPr>
            <a:r>
              <a:rPr lang="en-US" sz="1250" b="1" dirty="0">
                <a:solidFill>
                  <a:schemeClr val="accent1"/>
                </a:solidFill>
                <a:latin typeface="Courier New" pitchFamily="34" charset="0"/>
                <a:ea typeface="Courier New" pitchFamily="34" charset="-122"/>
                <a:cs typeface="Courier New" pitchFamily="34" charset="-120"/>
              </a:rPr>
              <a:t>ignoring_final_layout_must_fail</a:t>
            </a:r>
            <a:endParaRPr lang="en-US" sz="1250" dirty="0"/>
          </a:p>
        </p:txBody>
      </p:sp>
      <p:sp>
        <p:nvSpPr>
          <p:cNvPr id="7" name="Text 4"/>
          <p:cNvSpPr txBox="1"/>
          <p:nvPr/>
        </p:nvSpPr>
        <p:spPr>
          <a:xfrm>
            <a:off x="777240" y="2926080"/>
            <a:ext cx="4983480" cy="146304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Operator.from_circuit(out, ignore_set_layout=True) != reference. Dropping the routing permutation must change the matrix. This proves the layout bookkeeping is load-bearing: 154 of the 192 recorded outputs end with a non-identity permutation, and the comparison would be meaningless if it silently ignored it.</a:t>
            </a:r>
            <a:endParaRPr lang="en-US" sz="1250" dirty="0"/>
          </a:p>
        </p:txBody>
      </p:sp>
      <p:sp>
        <p:nvSpPr>
          <p:cNvPr id="8" name="Shape 5"/>
          <p:cNvSpPr/>
          <p:nvPr/>
        </p:nvSpPr>
        <p:spPr>
          <a:xfrm>
            <a:off x="6199632" y="2377440"/>
            <a:ext cx="5440680" cy="2103120"/>
          </a:xfrm>
          <a:prstGeom prst="roundRect">
            <a:avLst>
              <a:gd name="adj" fmla="val 3478"/>
            </a:avLst>
          </a:prstGeom>
          <a:solidFill>
            <a:schemeClr val="bg2"/>
          </a:solidFill>
          <a:ln w="9525">
            <a:solidFill>
              <a:srgbClr val="C8D0D3"/>
            </a:solidFill>
            <a:prstDash val="solid"/>
          </a:ln>
        </p:spPr>
      </p:sp>
      <p:sp>
        <p:nvSpPr>
          <p:cNvPr id="9" name="Text 6"/>
          <p:cNvSpPr txBox="1"/>
          <p:nvPr/>
        </p:nvSpPr>
        <p:spPr>
          <a:xfrm>
            <a:off x="6428232" y="2542032"/>
            <a:ext cx="4983480" cy="292608"/>
          </a:xfrm>
          <a:prstGeom prst="rect">
            <a:avLst/>
          </a:prstGeom>
          <a:noFill/>
          <a:ln/>
        </p:spPr>
        <p:txBody>
          <a:bodyPr wrap="square" lIns="0" tIns="0" rIns="0" bIns="0" rtlCol="0" anchor="t"/>
          <a:lstStyle/>
          <a:p>
            <a:pPr algn="l" indent="0" marL="0">
              <a:buNone/>
            </a:pPr>
            <a:r>
              <a:rPr lang="en-US" sz="1250" b="1" dirty="0">
                <a:solidFill>
                  <a:schemeClr val="accent1"/>
                </a:solidFill>
                <a:latin typeface="Courier New" pitchFamily="34" charset="0"/>
                <a:ea typeface="Courier New" pitchFamily="34" charset="-122"/>
                <a:cs typeface="Courier New" pitchFamily="34" charset="-120"/>
              </a:rPr>
              <a:t>extra_x_gate_must_fail</a:t>
            </a:r>
            <a:endParaRPr lang="en-US" sz="1250" dirty="0"/>
          </a:p>
        </p:txBody>
      </p:sp>
      <p:sp>
        <p:nvSpPr>
          <p:cNvPr id="10" name="Text 7"/>
          <p:cNvSpPr txBox="1"/>
          <p:nvPr/>
        </p:nvSpPr>
        <p:spPr>
          <a:xfrm>
            <a:off x="6428232" y="2926080"/>
            <a:ext cx="4983480" cy="1463040"/>
          </a:xfrm>
          <a:prstGeom prst="rect">
            <a:avLst/>
          </a:prstGeom>
          <a:noFill/>
          <a:ln/>
        </p:spPr>
        <p:txBody>
          <a:bodyPr wrap="square" lIns="0" tIns="0" rIns="0" bIns="0" rtlCol="0" anchor="t"/>
          <a:lstStyle/>
          <a:p>
            <a:pPr algn="l" indent="0" marL="0">
              <a:lnSpc>
                <a:spcPct val="110000"/>
              </a:lnSpc>
              <a:buNone/>
            </a:pPr>
            <a:r>
              <a:rPr lang="en-US" sz="1250" dirty="0">
                <a:solidFill>
                  <a:schemeClr val="tx1"/>
                </a:solidFill>
              </a:rPr>
              <a:t>wrong = out.copy(); wrong.x(0), then Operator.from_circuit(wrong) != reference. A single extra gate must be visible through the permutation and the default tolerances. The copy keeps the transpile layout, so the comparison is otherwise identical to the passing one.</a:t>
            </a:r>
            <a:endParaRPr lang="en-US" sz="1250" dirty="0"/>
          </a:p>
        </p:txBody>
      </p:sp>
      <p:sp>
        <p:nvSpPr>
          <p:cNvPr id="11" name="Text 8"/>
          <p:cNvSpPr txBox="1"/>
          <p:nvPr/>
        </p:nvSpPr>
        <p:spPr>
          <a:xfrm>
            <a:off x="548640" y="4709160"/>
            <a:ext cx="11091672" cy="548640"/>
          </a:xfrm>
          <a:prstGeom prst="rect">
            <a:avLst/>
          </a:prstGeom>
          <a:noFill/>
          <a:ln/>
        </p:spPr>
        <p:txBody>
          <a:bodyPr wrap="square" lIns="0" tIns="0" rIns="0" bIns="0" rtlCol="0" anchor="t"/>
          <a:lstStyle/>
          <a:p>
            <a:pPr algn="l" indent="0" marL="0">
              <a:buNone/>
            </a:pPr>
            <a:r>
              <a:rPr lang="en-US" sz="1250" dirty="0">
                <a:solidFill>
                  <a:schemeClr val="tx2"/>
                </a:solidFill>
              </a:rPr>
              <a:t>If no passing case with a changed permutation exists for a level, both controls are recorded as failed rather than skipped, and the report says FAIL.</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Focused checks: moves that must happen</a:t>
            </a:r>
            <a:endParaRPr lang="en-US" sz="3000" dirty="0"/>
          </a:p>
        </p:txBody>
      </p:sp>
      <p:sp>
        <p:nvSpPr>
          <p:cNvPr id="4" name="Text 1"/>
          <p:cNvSpPr txBox="1"/>
          <p:nvPr/>
        </p:nvSpPr>
        <p:spPr>
          <a:xfrm>
            <a:off x="548640" y="1325880"/>
            <a:ext cx="11091672" cy="502920"/>
          </a:xfrm>
          <a:prstGeom prst="rect">
            <a:avLst/>
          </a:prstGeom>
          <a:noFill/>
          <a:ln/>
        </p:spPr>
        <p:txBody>
          <a:bodyPr wrap="square" lIns="0" tIns="0" rIns="0" bIns="0" rtlCol="0" anchor="t"/>
          <a:lstStyle/>
          <a:p>
            <a:pPr algn="l" indent="0" marL="0">
              <a:buNone/>
            </a:pPr>
            <a:r>
              <a:rPr lang="en-US" sz="1300" dirty="0">
                <a:solidFill>
                  <a:schemeClr val="tx1"/>
                </a:solidFill>
              </a:rPr>
              <a:t>Ten deterministic checks in swap_absorption_checks.py pin down the pass's own rules and its preset placement. The moving checks also assert where the unit landed.</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651760"/>
                <a:gridCol w="5120640"/>
                <a:gridCol w="3319272"/>
              </a:tblGrid>
              <a:tr h="548640">
                <a:tc>
                  <a:txBody>
                    <a:bodyPr/>
                    <a:lstStyle/>
                    <a:p>
                      <a:pPr indent="0" marL="0">
                        <a:buNone/>
                      </a:pPr>
                      <a:r>
                        <a:rPr lang="en-US" sz="1000" b="1" dirty="0">
                          <a:solidFill>
                            <a:schemeClr val="tx2"/>
                          </a:solidFill>
                        </a:rPr>
                        <a:t>Check</a:t>
                      </a:r>
                      <a:endParaRPr lang="en-US" sz="10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00" b="1" dirty="0">
                          <a:solidFill>
                            <a:schemeClr val="tx2"/>
                          </a:solidFill>
                        </a:rPr>
                        <a:t>Input (gates in order)</a:t>
                      </a:r>
                      <a:endParaRPr lang="en-US" sz="10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00" b="1" dirty="0">
                          <a:solidFill>
                            <a:schemeClr val="tx2"/>
                          </a:solidFill>
                        </a:rPr>
                        <a:t>Expected</a:t>
                      </a:r>
                      <a:endParaRPr lang="en-US" sz="10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54864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preset_translation_levels</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generate_preset_pass_manager, levels 0–3, methods translator and synthesis, 3-qubit line</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00" dirty="0">
                          <a:solidFill>
                            <a:schemeClr val="tx1"/>
                          </a:solidFill>
                        </a:rPr>
                        <a:t>Pass is the first translation task at 2 and 3, absent at 0 and 1.</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translation_helper_levels</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generate_translation_passmanager(None, basis, optimization_level=L) for L in None, 0, 1, 2, 3; basis None or the four gates</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00" dirty="0">
                          <a:solidFill>
                            <a:schemeClr val="tx1"/>
                          </a:solidFill>
                        </a:rPr>
                        <a:t>Present first only for 2 and 3, including the no-target branch.</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commuting_later_interaction</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swap(0,1) · cz(0,2) · cp(0,1) · cx(0,2) · cx(1,2)</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00" dirty="0">
                          <a:solidFill>
                            <a:schemeClr val="tx1"/>
                          </a:solidFill>
                        </a:rPr>
                        <a:t>cp moves to directly after the swap.</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commuting_earlier_interaction</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cp(0,1) · cz(0,2) · swap(0,1) · cx(0,2) · cx(1,2)</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00" dirty="0">
                          <a:solidFill>
                            <a:schemeClr val="tx1"/>
                          </a:solidFill>
                        </a:rPr>
                        <a:t>cp moves to directly before the swap, same qubit order.</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cx_rz_cx_block</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swap(0,1) · cz(0,2) · cx(0,1) rz(1) cx(0,1) · cx(0,2) · cx(1,2)</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00" dirty="0">
                          <a:solidFill>
                            <a:schemeClr val="tx1"/>
                          </a:solidFill>
                        </a:rPr>
                        <a:t>The three-gate block moves as one unit, order kept.</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diagonal_unitary</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swap(0,1) · cz(0,2) · diag(1, i, −1, −i) on (0,1) · cx(0,2) · cx(1,2)</a:t>
                      </a:r>
                      <a:endParaRPr lang="en-US" sz="110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00" dirty="0">
                          <a:solidFill>
                            <a:schemeClr val="tx1"/>
                          </a:solidFill>
                        </a:rPr>
                        <a:t>The diagonal UnitaryGate moves.</a:t>
                      </a:r>
                      <a:endParaRPr lang="en-US" sz="120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Focused checks: moves that must not happen</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651760"/>
                <a:gridCol w="5120640"/>
                <a:gridCol w="3319272"/>
              </a:tblGrid>
              <a:tr h="548640">
                <a:tc>
                  <a:txBody>
                    <a:bodyPr/>
                    <a:lstStyle/>
                    <a:p>
                      <a:pPr indent="0" marL="0">
                        <a:buNone/>
                      </a:pPr>
                      <a:r>
                        <a:rPr lang="en-US" sz="1050" b="1" dirty="0">
                          <a:solidFill>
                            <a:schemeClr val="tx2"/>
                          </a:solidFill>
                        </a:rPr>
                        <a:t>Check</a:t>
                      </a: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50" b="1" dirty="0">
                          <a:solidFill>
                            <a:schemeClr val="tx2"/>
                          </a:solidFill>
                        </a:rPr>
                        <a:t>Input (gates in order)</a:t>
                      </a: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c>
                  <a:txBody>
                    <a:bodyPr/>
                    <a:lstStyle/>
                    <a:p>
                      <a:pPr indent="0" marL="0">
                        <a:buNone/>
                      </a:pPr>
                      <a:r>
                        <a:rPr lang="en-US" sz="1050" b="1" dirty="0">
                          <a:solidFill>
                            <a:schemeClr val="tx2"/>
                          </a:solidFill>
                        </a:rPr>
                        <a:t>Expected</a:t>
                      </a:r>
                      <a:endParaRPr lang="en-US" sz="10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solidFill>
                      <a:schemeClr val="bg2"/>
                    </a:solidFill>
                  </a:tcPr>
                </a:tc>
              </a:tr>
              <a:tr h="54864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noncommuting_guard</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swap(0,1) · h(0) · cp(0,1) · cx(0,2) · cx(1,2)</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No move: h commutes with no single Pauli.</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barrier_guard</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swap(0,1) · barrier(0,1) · cp(0,1) · cx(0,2) · cx(1,2)</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No move: the barrier fences the swap.</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terminal_wire_guard</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cp(0,1) · cz(0,2) · swap(0,1) · cx(0,2) · h(1)</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No move: q1 does no multi-qubit work after the swap.</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r h="548640">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intervening_swap_guard</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cp(0,1) · swap(0,2) · swap(0,1) · cx(0,2) · cx(1,2)</a:t>
                      </a:r>
                      <a:endParaRPr lang="en-US" sz="1150" dirty="0">
                        <a:latin typeface="Courier New" charset="0"/>
                        <a:ea typeface="Courier New" charset="0"/>
                        <a:cs typeface="Courier New" charset="0"/>
                      </a:endParaRPr>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c>
                  <a:txBody>
                    <a:bodyPr/>
                    <a:lstStyle/>
                    <a:p>
                      <a:pPr indent="0" marL="0">
                        <a:buNone/>
                      </a:pPr>
                      <a:r>
                        <a:rPr lang="en-US" sz="1250" dirty="0">
                          <a:solidFill>
                            <a:schemeClr val="tx1"/>
                          </a:solidFill>
                        </a:rPr>
                        <a:t>No move: a unit never crosses another swap.</a:t>
                      </a:r>
                      <a:endParaRPr lang="en-US" sz="1250" dirty="0"/>
                    </a:p>
                  </a:txBody>
                  <a:tcPr marL="64008" marR="64008" marT="64008" marB="64008" anchor="ctr">
                    <a:lnL w="6350" cap="flat" cmpd="sng" algn="ctr">
                      <a:solidFill>
                        <a:srgbClr val="C8D0D3"/>
                      </a:solidFill>
                      <a:prstDash val="solid"/>
                      <a:round/>
                      <a:headEnd type="none" w="med" len="med"/>
                      <a:tailEnd type="none" w="med" len="med"/>
                    </a:lnL>
                    <a:lnR w="6350" cap="flat" cmpd="sng" algn="ctr">
                      <a:solidFill>
                        <a:srgbClr val="C8D0D3"/>
                      </a:solidFill>
                      <a:prstDash val="solid"/>
                      <a:round/>
                      <a:headEnd type="none" w="med" len="med"/>
                      <a:tailEnd type="none" w="med" len="med"/>
                    </a:lnR>
                    <a:lnT w="6350" cap="flat" cmpd="sng" algn="ctr">
                      <a:solidFill>
                        <a:srgbClr val="C8D0D3"/>
                      </a:solidFill>
                      <a:prstDash val="solid"/>
                      <a:round/>
                      <a:headEnd type="none" w="med" len="med"/>
                      <a:tailEnd type="none" w="med" len="med"/>
                    </a:lnT>
                    <a:lnB w="6350" cap="flat" cmpd="sng" algn="ctr">
                      <a:solidFill>
                        <a:srgbClr val="C8D0D3"/>
                      </a:solidFill>
                      <a:prstDash val="solid"/>
                      <a:round/>
                      <a:headEnd type="none" w="med" len="med"/>
                      <a:tailEnd type="none" w="med" len="med"/>
                    </a:lnB>
                  </a:tcPr>
                </a:tc>
              </a:tr>
            </a:tbl>
          </a:graphicData>
        </a:graphic>
      </p:graphicFrame>
      <p:sp>
        <p:nvSpPr>
          <p:cNvPr id="5" name="Shape 1"/>
          <p:cNvSpPr/>
          <p:nvPr/>
        </p:nvSpPr>
        <p:spPr>
          <a:xfrm>
            <a:off x="548640" y="4343400"/>
            <a:ext cx="11091672" cy="1783080"/>
          </a:xfrm>
          <a:prstGeom prst="roundRect">
            <a:avLst>
              <a:gd name="adj" fmla="val 4103"/>
            </a:avLst>
          </a:prstGeom>
          <a:solidFill>
            <a:schemeClr val="bg2"/>
          </a:solidFill>
          <a:ln w="9525">
            <a:solidFill>
              <a:srgbClr val="C8D0D3"/>
            </a:solidFill>
            <a:prstDash val="solid"/>
          </a:ln>
        </p:spPr>
      </p:sp>
      <p:sp>
        <p:nvSpPr>
          <p:cNvPr id="6" name="Text 2"/>
          <p:cNvSpPr txBox="1"/>
          <p:nvPr/>
        </p:nvSpPr>
        <p:spPr>
          <a:xfrm>
            <a:off x="777240" y="4480560"/>
            <a:ext cx="10607040" cy="274320"/>
          </a:xfrm>
          <a:prstGeom prst="rect">
            <a:avLst/>
          </a:prstGeom>
          <a:noFill/>
          <a:ln/>
        </p:spPr>
        <p:txBody>
          <a:bodyPr wrap="square" lIns="0" tIns="0" rIns="0" bIns="0" rtlCol="0" anchor="t"/>
          <a:lstStyle/>
          <a:p>
            <a:pPr algn="l" indent="0" marL="0">
              <a:buNone/>
            </a:pPr>
            <a:r>
              <a:rPr lang="en-US" sz="1300" b="1" dirty="0">
                <a:solidFill>
                  <a:schemeClr val="accent1"/>
                </a:solidFill>
              </a:rPr>
              <a:t>What every circuit check asserts</a:t>
            </a:r>
            <a:endParaRPr lang="en-US" sz="1300" dirty="0"/>
          </a:p>
        </p:txBody>
      </p:sp>
      <p:sp>
        <p:nvSpPr>
          <p:cNvPr id="7" name="Text 3"/>
          <p:cNvSpPr txBox="1"/>
          <p:nvPr/>
        </p:nvSpPr>
        <p:spPr>
          <a:xfrm>
            <a:off x="777240" y="4800600"/>
            <a:ext cx="10607040" cy="12801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dirty="0">
                <a:solidFill>
                  <a:schemeClr val="tx1"/>
                </a:solidFill>
              </a:rPr>
              <a:t>The full operator is unchanged, with a non-zero global phase of 0.19 on the input, so a phase slip would fail.</a:t>
            </a:r>
            <a:endParaRPr lang="en-US" sz="1250" dirty="0"/>
          </a:p>
          <a:p>
            <a:pPr marL="342900" indent="-342900">
              <a:lnSpc>
                <a:spcPct val="105000"/>
              </a:lnSpc>
              <a:spcAft>
                <a:spcPts val="400"/>
              </a:spcAft>
              <a:buSzPct val="100000"/>
              <a:buChar char="•"/>
            </a:pPr>
            <a:r>
              <a:rPr lang="en-US" sz="1250" dirty="0">
                <a:solidFill>
                  <a:schemeClr val="tx1"/>
                </a:solidFill>
              </a:rPr>
              <a:t>The gate inventory is unchanged: nothing is dropped, duplicated or replaced.</a:t>
            </a:r>
            <a:endParaRPr lang="en-US" sz="1250" dirty="0"/>
          </a:p>
          <a:p>
            <a:pPr marL="342900" indent="-342900">
              <a:lnSpc>
                <a:spcPct val="105000"/>
              </a:lnSpc>
              <a:spcAft>
                <a:spcPts val="400"/>
              </a:spcAft>
              <a:buSzPct val="100000"/>
              <a:buChar char="•"/>
            </a:pPr>
            <a:r>
              <a:rPr lang="en-US" sz="1250" dirty="0">
                <a:solidFill>
                  <a:schemeClr val="tx1"/>
                </a:solidFill>
              </a:rPr>
              <a:t>Something moved if and only if the rule says it should; the moving checks also assert where the unit landed next to the swap.</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Records and the report</a:t>
            </a:r>
            <a:endParaRPr lang="en-US" sz="3000" dirty="0"/>
          </a:p>
        </p:txBody>
      </p:sp>
      <p:sp>
        <p:nvSpPr>
          <p:cNvPr id="4" name="Shape 1"/>
          <p:cNvSpPr/>
          <p:nvPr/>
        </p:nvSpPr>
        <p:spPr>
          <a:xfrm>
            <a:off x="640080" y="1417320"/>
            <a:ext cx="3383280" cy="2423160"/>
          </a:xfrm>
          <a:prstGeom prst="roundRect">
            <a:avLst>
              <a:gd name="adj" fmla="val 2264"/>
            </a:avLst>
          </a:prstGeom>
          <a:solidFill>
            <a:schemeClr val="bg1"/>
          </a:solidFill>
          <a:ln w="12700">
            <a:solidFill>
              <a:schemeClr val="tx1"/>
            </a:solidFill>
            <a:prstDash val="solid"/>
          </a:ln>
        </p:spPr>
      </p:sp>
      <p:sp>
        <p:nvSpPr>
          <p:cNvPr id="5" name="Text 2"/>
          <p:cNvSpPr txBox="1"/>
          <p:nvPr/>
        </p:nvSpPr>
        <p:spPr>
          <a:xfrm>
            <a:off x="777240" y="1508760"/>
            <a:ext cx="3108960" cy="256032"/>
          </a:xfrm>
          <a:prstGeom prst="rect">
            <a:avLst/>
          </a:prstGeom>
          <a:noFill/>
          <a:ln/>
        </p:spPr>
        <p:txBody>
          <a:bodyPr wrap="square" lIns="0" tIns="0" rIns="0" bIns="0" rtlCol="0" anchor="t"/>
          <a:lstStyle/>
          <a:p>
            <a:pPr algn="l" indent="0" marL="0">
              <a:buNone/>
            </a:pPr>
            <a:r>
              <a:rPr lang="en-US" sz="1100" b="1" dirty="0">
                <a:solidFill>
                  <a:schemeClr val="tx1"/>
                </a:solidFill>
                <a:latin typeface="Courier New" pitchFamily="34" charset="0"/>
                <a:ea typeface="Courier New" pitchFamily="34" charset="-122"/>
                <a:cs typeface="Courier New" pitchFamily="34" charset="-120"/>
              </a:rPr>
              <a:t>results/results.jsonl</a:t>
            </a:r>
            <a:endParaRPr lang="en-US" sz="1100" dirty="0"/>
          </a:p>
        </p:txBody>
      </p:sp>
      <p:sp>
        <p:nvSpPr>
          <p:cNvPr id="6" name="Text 3"/>
          <p:cNvSpPr txBox="1"/>
          <p:nvPr/>
        </p:nvSpPr>
        <p:spPr>
          <a:xfrm>
            <a:off x="777240" y="1847088"/>
            <a:ext cx="3108960" cy="237744"/>
          </a:xfrm>
          <a:prstGeom prst="rect">
            <a:avLst/>
          </a:prstGeom>
          <a:noFill/>
          <a:ln/>
        </p:spPr>
        <p:txBody>
          <a:bodyPr wrap="square" lIns="0" tIns="0" rIns="0" bIns="0" rtlCol="0" anchor="t"/>
          <a:lstStyle/>
          <a:p>
            <a:pPr algn="l" indent="0" marL="0">
              <a:buNone/>
            </a:pPr>
            <a:r>
              <a:rPr lang="en-US" sz="1100" dirty="0">
                <a:solidFill>
                  <a:schemeClr val="tx1"/>
                </a:solidFill>
              </a:rPr>
              <a:t>environment × 1 — schema 2</a:t>
            </a:r>
            <a:endParaRPr lang="en-US" sz="1100" dirty="0"/>
          </a:p>
        </p:txBody>
      </p:sp>
      <p:sp>
        <p:nvSpPr>
          <p:cNvPr id="7" name="Text 4"/>
          <p:cNvSpPr txBox="1"/>
          <p:nvPr/>
        </p:nvSpPr>
        <p:spPr>
          <a:xfrm>
            <a:off x="777240" y="2121408"/>
            <a:ext cx="3108960" cy="237744"/>
          </a:xfrm>
          <a:prstGeom prst="rect">
            <a:avLst/>
          </a:prstGeom>
          <a:noFill/>
          <a:ln/>
        </p:spPr>
        <p:txBody>
          <a:bodyPr wrap="square" lIns="0" tIns="0" rIns="0" bIns="0" rtlCol="0" anchor="t"/>
          <a:lstStyle/>
          <a:p>
            <a:pPr algn="l" indent="0" marL="0">
              <a:buNone/>
            </a:pPr>
            <a:r>
              <a:rPr lang="en-US" sz="1100" dirty="0">
                <a:solidFill>
                  <a:schemeClr val="tx1"/>
                </a:solidFill>
              </a:rPr>
              <a:t>case × 192 — fixture · seed · level</a:t>
            </a:r>
            <a:endParaRPr lang="en-US" sz="1100" dirty="0"/>
          </a:p>
        </p:txBody>
      </p:sp>
      <p:sp>
        <p:nvSpPr>
          <p:cNvPr id="8" name="Text 5"/>
          <p:cNvSpPr txBox="1"/>
          <p:nvPr/>
        </p:nvSpPr>
        <p:spPr>
          <a:xfrm>
            <a:off x="777240" y="2395728"/>
            <a:ext cx="3108960" cy="237744"/>
          </a:xfrm>
          <a:prstGeom prst="rect">
            <a:avLst/>
          </a:prstGeom>
          <a:noFill/>
          <a:ln/>
        </p:spPr>
        <p:txBody>
          <a:bodyPr wrap="square" lIns="0" tIns="0" rIns="0" bIns="0" rtlCol="0" anchor="t"/>
          <a:lstStyle/>
          <a:p>
            <a:pPr algn="l" indent="0" marL="0">
              <a:buNone/>
            </a:pPr>
            <a:r>
              <a:rPr lang="en-US" sz="1100" dirty="0">
                <a:solidFill>
                  <a:schemeClr val="tx1"/>
                </a:solidFill>
              </a:rPr>
              <a:t>self_check × 4 — name · level</a:t>
            </a:r>
            <a:endParaRPr lang="en-US" sz="1100" dirty="0"/>
          </a:p>
        </p:txBody>
      </p:sp>
      <p:sp>
        <p:nvSpPr>
          <p:cNvPr id="9" name="Text 6"/>
          <p:cNvSpPr txBox="1"/>
          <p:nvPr/>
        </p:nvSpPr>
        <p:spPr>
          <a:xfrm>
            <a:off x="777240" y="2670048"/>
            <a:ext cx="3108960" cy="237744"/>
          </a:xfrm>
          <a:prstGeom prst="rect">
            <a:avLst/>
          </a:prstGeom>
          <a:noFill/>
          <a:ln/>
        </p:spPr>
        <p:txBody>
          <a:bodyPr wrap="square" lIns="0" tIns="0" rIns="0" bIns="0" rtlCol="0" anchor="t"/>
          <a:lstStyle/>
          <a:p>
            <a:pPr algn="l" indent="0" marL="0">
              <a:buNone/>
            </a:pPr>
            <a:r>
              <a:rPr lang="en-US" sz="1100" dirty="0">
                <a:solidFill>
                  <a:schemeClr val="tx1"/>
                </a:solidFill>
              </a:rPr>
              <a:t>coverage × 2 — level</a:t>
            </a:r>
            <a:endParaRPr lang="en-US" sz="1100" dirty="0"/>
          </a:p>
        </p:txBody>
      </p:sp>
      <p:sp>
        <p:nvSpPr>
          <p:cNvPr id="10" name="Text 7"/>
          <p:cNvSpPr txBox="1"/>
          <p:nvPr/>
        </p:nvSpPr>
        <p:spPr>
          <a:xfrm>
            <a:off x="777240" y="2944368"/>
            <a:ext cx="3108960" cy="237744"/>
          </a:xfrm>
          <a:prstGeom prst="rect">
            <a:avLst/>
          </a:prstGeom>
          <a:noFill/>
          <a:ln/>
        </p:spPr>
        <p:txBody>
          <a:bodyPr wrap="square" lIns="0" tIns="0" rIns="0" bIns="0" rtlCol="0" anchor="t"/>
          <a:lstStyle/>
          <a:p>
            <a:pPr algn="l" indent="0" marL="0">
              <a:buNone/>
            </a:pPr>
            <a:r>
              <a:rPr lang="en-US" sz="1100" dirty="0">
                <a:solidFill>
                  <a:schemeClr val="tx1"/>
                </a:solidFill>
              </a:rPr>
              <a:t>feature_check × 10 — name</a:t>
            </a:r>
            <a:endParaRPr lang="en-US" sz="1100" dirty="0"/>
          </a:p>
        </p:txBody>
      </p:sp>
      <p:sp>
        <p:nvSpPr>
          <p:cNvPr id="11" name="Text 8"/>
          <p:cNvSpPr txBox="1"/>
          <p:nvPr/>
        </p:nvSpPr>
        <p:spPr>
          <a:xfrm>
            <a:off x="777240" y="3291840"/>
            <a:ext cx="3108960" cy="237744"/>
          </a:xfrm>
          <a:prstGeom prst="rect">
            <a:avLst/>
          </a:prstGeom>
          <a:noFill/>
          <a:ln/>
        </p:spPr>
        <p:txBody>
          <a:bodyPr wrap="square" lIns="0" tIns="0" rIns="0" bIns="0" rtlCol="0" anchor="t"/>
          <a:lstStyle/>
          <a:p>
            <a:pPr algn="l" indent="0" marL="0">
              <a:buNone/>
            </a:pPr>
            <a:r>
              <a:rPr lang="en-US" sz="1050" dirty="0">
                <a:solidFill>
                  <a:schemeClr val="tx2"/>
                </a:solidFill>
              </a:rPr>
              <a:t>passed per record; error when failed</a:t>
            </a:r>
            <a:endParaRPr lang="en-US" sz="1050" dirty="0"/>
          </a:p>
        </p:txBody>
      </p:sp>
      <p:sp>
        <p:nvSpPr>
          <p:cNvPr id="12" name="Shape 9"/>
          <p:cNvSpPr/>
          <p:nvPr/>
        </p:nvSpPr>
        <p:spPr>
          <a:xfrm>
            <a:off x="4663440" y="1417320"/>
            <a:ext cx="3291840" cy="2423160"/>
          </a:xfrm>
          <a:prstGeom prst="roundRect">
            <a:avLst>
              <a:gd name="adj" fmla="val 2264"/>
            </a:avLst>
          </a:prstGeom>
          <a:solidFill>
            <a:schemeClr val="bg1"/>
          </a:solidFill>
          <a:ln w="12700">
            <a:solidFill>
              <a:schemeClr val="tx1"/>
            </a:solidFill>
            <a:prstDash val="solid"/>
          </a:ln>
        </p:spPr>
      </p:sp>
      <p:sp>
        <p:nvSpPr>
          <p:cNvPr id="13" name="Text 10"/>
          <p:cNvSpPr txBox="1"/>
          <p:nvPr/>
        </p:nvSpPr>
        <p:spPr>
          <a:xfrm>
            <a:off x="4800600" y="1508760"/>
            <a:ext cx="3017520" cy="256032"/>
          </a:xfrm>
          <a:prstGeom prst="rect">
            <a:avLst/>
          </a:prstGeom>
          <a:noFill/>
          <a:ln/>
        </p:spPr>
        <p:txBody>
          <a:bodyPr wrap="square" lIns="0" tIns="0" rIns="0" bIns="0" rtlCol="0" anchor="t"/>
          <a:lstStyle/>
          <a:p>
            <a:pPr algn="l" indent="0" marL="0">
              <a:buNone/>
            </a:pPr>
            <a:r>
              <a:rPr lang="en-US" sz="1100" b="1" dirty="0">
                <a:solidFill>
                  <a:schemeClr val="tx1"/>
                </a:solidFill>
                <a:latin typeface="Courier New" pitchFamily="34" charset="0"/>
                <a:ea typeface="Courier New" pitchFamily="34" charset="-122"/>
                <a:cs typeface="Courier New" pitchFamily="34" charset="-120"/>
              </a:rPr>
              <a:t>make_report.py</a:t>
            </a:r>
            <a:endParaRPr lang="en-US" sz="1100" dirty="0"/>
          </a:p>
        </p:txBody>
      </p:sp>
      <p:sp>
        <p:nvSpPr>
          <p:cNvPr id="14" name="Text 11"/>
          <p:cNvSpPr txBox="1"/>
          <p:nvPr/>
        </p:nvSpPr>
        <p:spPr>
          <a:xfrm>
            <a:off x="4800600" y="1828800"/>
            <a:ext cx="3017520" cy="237744"/>
          </a:xfrm>
          <a:prstGeom prst="rect">
            <a:avLst/>
          </a:prstGeom>
          <a:noFill/>
          <a:ln/>
        </p:spPr>
        <p:txBody>
          <a:bodyPr wrap="square" lIns="0" tIns="0" rIns="0" bIns="0" rtlCol="0" anchor="t"/>
          <a:lstStyle/>
          <a:p>
            <a:pPr algn="l" indent="0" marL="0">
              <a:buNone/>
            </a:pPr>
            <a:r>
              <a:rPr lang="en-US" sz="1000" dirty="0">
                <a:solidFill>
                  <a:schemeClr val="tx1"/>
                </a:solidFill>
              </a:rPr>
              <a:t>exactly one environment, schema 2</a:t>
            </a:r>
            <a:endParaRPr lang="en-US" sz="1000" dirty="0"/>
          </a:p>
        </p:txBody>
      </p:sp>
      <p:sp>
        <p:nvSpPr>
          <p:cNvPr id="15" name="Text 12"/>
          <p:cNvSpPr txBox="1"/>
          <p:nvPr/>
        </p:nvSpPr>
        <p:spPr>
          <a:xfrm>
            <a:off x="4800600" y="2093976"/>
            <a:ext cx="3017520" cy="237744"/>
          </a:xfrm>
          <a:prstGeom prst="rect">
            <a:avLst/>
          </a:prstGeom>
          <a:noFill/>
          <a:ln/>
        </p:spPr>
        <p:txBody>
          <a:bodyPr wrap="square" lIns="0" tIns="0" rIns="0" bIns="0" rtlCol="0" anchor="t"/>
          <a:lstStyle/>
          <a:p>
            <a:pPr algn="l" indent="0" marL="0">
              <a:buNone/>
            </a:pPr>
            <a:r>
              <a:rPr lang="en-US" sz="1000" dirty="0">
                <a:solidFill>
                  <a:schemeClr val="tx1"/>
                </a:solidFill>
              </a:rPr>
              <a:t>16 fixtures, distinct seeds, levels in {2, 3}</a:t>
            </a:r>
            <a:endParaRPr lang="en-US" sz="1000" dirty="0"/>
          </a:p>
        </p:txBody>
      </p:sp>
      <p:sp>
        <p:nvSpPr>
          <p:cNvPr id="16" name="Text 13"/>
          <p:cNvSpPr txBox="1"/>
          <p:nvPr/>
        </p:nvSpPr>
        <p:spPr>
          <a:xfrm>
            <a:off x="4800600" y="2359152"/>
            <a:ext cx="3017520" cy="237744"/>
          </a:xfrm>
          <a:prstGeom prst="rect">
            <a:avLst/>
          </a:prstGeom>
          <a:noFill/>
          <a:ln/>
        </p:spPr>
        <p:txBody>
          <a:bodyPr wrap="square" lIns="0" tIns="0" rIns="0" bIns="0" rtlCol="0" anchor="t"/>
          <a:lstStyle/>
          <a:p>
            <a:pPr algn="l" indent="0" marL="0">
              <a:buNone/>
            </a:pPr>
            <a:r>
              <a:rPr lang="en-US" sz="1000" dirty="0">
                <a:solidFill>
                  <a:schemeClr val="tx1"/>
                </a:solidFill>
              </a:rPr>
              <a:t>cases = fixtures × seeds × levels, no extras</a:t>
            </a:r>
            <a:endParaRPr lang="en-US" sz="1000" dirty="0"/>
          </a:p>
        </p:txBody>
      </p:sp>
      <p:sp>
        <p:nvSpPr>
          <p:cNvPr id="17" name="Text 14"/>
          <p:cNvSpPr txBox="1"/>
          <p:nvPr/>
        </p:nvSpPr>
        <p:spPr>
          <a:xfrm>
            <a:off x="4800600" y="2624328"/>
            <a:ext cx="3017520" cy="237744"/>
          </a:xfrm>
          <a:prstGeom prst="rect">
            <a:avLst/>
          </a:prstGeom>
          <a:noFill/>
          <a:ln/>
        </p:spPr>
        <p:txBody>
          <a:bodyPr wrap="square" lIns="0" tIns="0" rIns="0" bIns="0" rtlCol="0" anchor="t"/>
          <a:lstStyle/>
          <a:p>
            <a:pPr algn="l" indent="0" marL="0">
              <a:buNone/>
            </a:pPr>
            <a:r>
              <a:rPr lang="en-US" sz="1000" dirty="0">
                <a:solidFill>
                  <a:schemeClr val="tx1"/>
                </a:solidFill>
              </a:rPr>
              <a:t>self-checks, coverage, features: exact sets</a:t>
            </a:r>
            <a:endParaRPr lang="en-US" sz="1000" dirty="0"/>
          </a:p>
        </p:txBody>
      </p:sp>
      <p:sp>
        <p:nvSpPr>
          <p:cNvPr id="18" name="Text 15"/>
          <p:cNvSpPr txBox="1"/>
          <p:nvPr/>
        </p:nvSpPr>
        <p:spPr>
          <a:xfrm>
            <a:off x="4800600" y="2889504"/>
            <a:ext cx="3017520" cy="237744"/>
          </a:xfrm>
          <a:prstGeom prst="rect">
            <a:avLst/>
          </a:prstGeom>
          <a:noFill/>
          <a:ln/>
        </p:spPr>
        <p:txBody>
          <a:bodyPr wrap="square" lIns="0" tIns="0" rIns="0" bIns="0" rtlCol="0" anchor="t"/>
          <a:lstStyle/>
          <a:p>
            <a:pPr algn="l" indent="0" marL="0">
              <a:buNone/>
            </a:pPr>
            <a:r>
              <a:rPr lang="en-US" sz="1000" dirty="0">
                <a:solidFill>
                  <a:schemeClr val="tx1"/>
                </a:solidFill>
              </a:rPr>
              <a:t>passed cases: metrics sane, permutation valid</a:t>
            </a:r>
            <a:endParaRPr lang="en-US" sz="1000" dirty="0"/>
          </a:p>
        </p:txBody>
      </p:sp>
      <p:sp>
        <p:nvSpPr>
          <p:cNvPr id="19" name="Text 16"/>
          <p:cNvSpPr txBox="1"/>
          <p:nvPr/>
        </p:nvSpPr>
        <p:spPr>
          <a:xfrm>
            <a:off x="4800600" y="3154680"/>
            <a:ext cx="3017520" cy="237744"/>
          </a:xfrm>
          <a:prstGeom prst="rect">
            <a:avLst/>
          </a:prstGeom>
          <a:noFill/>
          <a:ln/>
        </p:spPr>
        <p:txBody>
          <a:bodyPr wrap="square" lIns="0" tIns="0" rIns="0" bIns="0" rtlCol="0" anchor="t"/>
          <a:lstStyle/>
          <a:p>
            <a:pPr algn="l" indent="0" marL="0">
              <a:buNone/>
            </a:pPr>
            <a:r>
              <a:rPr lang="en-US" sz="1000" dirty="0">
                <a:solidFill>
                  <a:schemeClr val="tx1"/>
                </a:solidFill>
              </a:rPr>
              <a:t>coverage totals recomputed, moves above zero</a:t>
            </a:r>
            <a:endParaRPr lang="en-US" sz="1000" dirty="0"/>
          </a:p>
        </p:txBody>
      </p:sp>
      <p:sp>
        <p:nvSpPr>
          <p:cNvPr id="20" name="Text 17"/>
          <p:cNvSpPr txBox="1"/>
          <p:nvPr/>
        </p:nvSpPr>
        <p:spPr>
          <a:xfrm>
            <a:off x="4800600" y="3419856"/>
            <a:ext cx="3017520" cy="237744"/>
          </a:xfrm>
          <a:prstGeom prst="rect">
            <a:avLst/>
          </a:prstGeom>
          <a:noFill/>
          <a:ln/>
        </p:spPr>
        <p:txBody>
          <a:bodyPr wrap="square" lIns="0" tIns="0" rIns="0" bIns="0" rtlCol="0" anchor="t"/>
          <a:lstStyle/>
          <a:p>
            <a:pPr algn="l" indent="0" marL="0">
              <a:buNone/>
            </a:pPr>
            <a:r>
              <a:rPr lang="en-US" sz="1000" dirty="0">
                <a:solidFill>
                  <a:schemeClr val="tx1"/>
                </a:solidFill>
              </a:rPr>
              <a:t>settings match, no failed record</a:t>
            </a:r>
            <a:endParaRPr lang="en-US" sz="1000" dirty="0"/>
          </a:p>
        </p:txBody>
      </p:sp>
      <p:sp>
        <p:nvSpPr>
          <p:cNvPr id="21" name="Shape 18"/>
          <p:cNvSpPr/>
          <p:nvPr/>
        </p:nvSpPr>
        <p:spPr>
          <a:xfrm>
            <a:off x="9052560" y="1691640"/>
            <a:ext cx="2560320" cy="731520"/>
          </a:xfrm>
          <a:prstGeom prst="roundRect">
            <a:avLst>
              <a:gd name="adj" fmla="val 7500"/>
            </a:avLst>
          </a:prstGeom>
          <a:solidFill>
            <a:srgbClr val="DCEFE3"/>
          </a:solidFill>
          <a:ln w="15875">
            <a:solidFill>
              <a:schemeClr val="accent3"/>
            </a:solidFill>
            <a:prstDash val="solid"/>
          </a:ln>
        </p:spPr>
      </p:sp>
      <p:sp>
        <p:nvSpPr>
          <p:cNvPr id="22" name="Text 19"/>
          <p:cNvSpPr txBox="1"/>
          <p:nvPr/>
        </p:nvSpPr>
        <p:spPr>
          <a:xfrm>
            <a:off x="9189720" y="1764792"/>
            <a:ext cx="2286000" cy="274320"/>
          </a:xfrm>
          <a:prstGeom prst="rect">
            <a:avLst/>
          </a:prstGeom>
          <a:noFill/>
          <a:ln/>
        </p:spPr>
        <p:txBody>
          <a:bodyPr wrap="square" lIns="0" tIns="0" rIns="0" bIns="0" rtlCol="0" anchor="t"/>
          <a:lstStyle/>
          <a:p>
            <a:pPr algn="l" indent="0" marL="0">
              <a:buNone/>
            </a:pPr>
            <a:r>
              <a:rPr lang="en-US" sz="1250" b="1" dirty="0">
                <a:solidFill>
                  <a:schemeClr val="accent3"/>
                </a:solidFill>
              </a:rPr>
              <a:t>report.md: PASS</a:t>
            </a:r>
            <a:endParaRPr lang="en-US" sz="1250" dirty="0"/>
          </a:p>
        </p:txBody>
      </p:sp>
      <p:sp>
        <p:nvSpPr>
          <p:cNvPr id="23" name="Text 20"/>
          <p:cNvSpPr txBox="1"/>
          <p:nvPr/>
        </p:nvSpPr>
        <p:spPr>
          <a:xfrm>
            <a:off x="9189720" y="2057400"/>
            <a:ext cx="2286000" cy="237744"/>
          </a:xfrm>
          <a:prstGeom prst="rect">
            <a:avLst/>
          </a:prstGeom>
          <a:noFill/>
          <a:ln/>
        </p:spPr>
        <p:txBody>
          <a:bodyPr wrap="square" lIns="0" tIns="0" rIns="0" bIns="0" rtlCol="0" anchor="t"/>
          <a:lstStyle/>
          <a:p>
            <a:pPr algn="l" indent="0" marL="0">
              <a:buNone/>
            </a:pPr>
            <a:r>
              <a:rPr lang="en-US" sz="1050" dirty="0">
                <a:solidFill>
                  <a:schemeClr val="tx2"/>
                </a:solidFill>
              </a:rPr>
              <a:t>exit code 0</a:t>
            </a:r>
            <a:endParaRPr lang="en-US" sz="1050" dirty="0"/>
          </a:p>
        </p:txBody>
      </p:sp>
      <p:sp>
        <p:nvSpPr>
          <p:cNvPr id="24" name="Shape 21"/>
          <p:cNvSpPr/>
          <p:nvPr/>
        </p:nvSpPr>
        <p:spPr>
          <a:xfrm>
            <a:off x="9052560" y="2880360"/>
            <a:ext cx="2560320" cy="731520"/>
          </a:xfrm>
          <a:prstGeom prst="roundRect">
            <a:avLst>
              <a:gd name="adj" fmla="val 7500"/>
            </a:avLst>
          </a:prstGeom>
          <a:solidFill>
            <a:srgbClr val="F8DDDA"/>
          </a:solidFill>
          <a:ln w="15875">
            <a:solidFill>
              <a:schemeClr val="accent4"/>
            </a:solidFill>
            <a:prstDash val="solid"/>
          </a:ln>
        </p:spPr>
      </p:sp>
      <p:sp>
        <p:nvSpPr>
          <p:cNvPr id="25" name="Text 22"/>
          <p:cNvSpPr txBox="1"/>
          <p:nvPr/>
        </p:nvSpPr>
        <p:spPr>
          <a:xfrm>
            <a:off x="9189720" y="2953512"/>
            <a:ext cx="2286000" cy="274320"/>
          </a:xfrm>
          <a:prstGeom prst="rect">
            <a:avLst/>
          </a:prstGeom>
          <a:noFill/>
          <a:ln/>
        </p:spPr>
        <p:txBody>
          <a:bodyPr wrap="square" lIns="0" tIns="0" rIns="0" bIns="0" rtlCol="0" anchor="t"/>
          <a:lstStyle/>
          <a:p>
            <a:pPr algn="l" indent="0" marL="0">
              <a:buNone/>
            </a:pPr>
            <a:r>
              <a:rPr lang="en-US" sz="1250" b="1" dirty="0">
                <a:solidFill>
                  <a:schemeClr val="accent4"/>
                </a:solidFill>
              </a:rPr>
              <a:t>report.md: FAIL</a:t>
            </a:r>
            <a:endParaRPr lang="en-US" sz="1250" dirty="0"/>
          </a:p>
        </p:txBody>
      </p:sp>
      <p:sp>
        <p:nvSpPr>
          <p:cNvPr id="26" name="Text 23"/>
          <p:cNvSpPr txBox="1"/>
          <p:nvPr/>
        </p:nvSpPr>
        <p:spPr>
          <a:xfrm>
            <a:off x="9189720" y="3246120"/>
            <a:ext cx="2286000" cy="237744"/>
          </a:xfrm>
          <a:prstGeom prst="rect">
            <a:avLst/>
          </a:prstGeom>
          <a:noFill/>
          <a:ln/>
        </p:spPr>
        <p:txBody>
          <a:bodyPr wrap="square" lIns="0" tIns="0" rIns="0" bIns="0" rtlCol="0" anchor="t"/>
          <a:lstStyle/>
          <a:p>
            <a:pPr algn="l" indent="0" marL="0">
              <a:buNone/>
            </a:pPr>
            <a:r>
              <a:rPr lang="en-US" sz="1050" dirty="0">
                <a:solidFill>
                  <a:schemeClr val="tx2"/>
                </a:solidFill>
              </a:rPr>
              <a:t>exit code 1, every reason listed</a:t>
            </a:r>
            <a:endParaRPr lang="en-US" sz="1050" dirty="0"/>
          </a:p>
        </p:txBody>
      </p:sp>
      <p:sp>
        <p:nvSpPr>
          <p:cNvPr id="27" name="Shape 24"/>
          <p:cNvSpPr/>
          <p:nvPr/>
        </p:nvSpPr>
        <p:spPr>
          <a:xfrm>
            <a:off x="4023360" y="2651760"/>
            <a:ext cx="640080" cy="0"/>
          </a:xfrm>
          <a:prstGeom prst="line">
            <a:avLst/>
          </a:prstGeom>
          <a:noFill/>
          <a:ln w="15875">
            <a:solidFill>
              <a:schemeClr val="tx1"/>
            </a:solidFill>
            <a:prstDash val="solid"/>
            <a:tailEnd type="triangle"/>
          </a:ln>
        </p:spPr>
      </p:sp>
      <p:sp>
        <p:nvSpPr>
          <p:cNvPr id="28" name="Text 25"/>
          <p:cNvSpPr txBox="1"/>
          <p:nvPr/>
        </p:nvSpPr>
        <p:spPr>
          <a:xfrm>
            <a:off x="3977640" y="2395728"/>
            <a:ext cx="731520" cy="201168"/>
          </a:xfrm>
          <a:prstGeom prst="rect">
            <a:avLst/>
          </a:prstGeom>
          <a:noFill/>
          <a:ln/>
        </p:spPr>
        <p:txBody>
          <a:bodyPr wrap="square" lIns="0" tIns="0" rIns="0" bIns="0" rtlCol="0" anchor="ctr"/>
          <a:lstStyle/>
          <a:p>
            <a:pPr algn="ctr" indent="0" marL="0">
              <a:buNone/>
            </a:pPr>
            <a:r>
              <a:rPr lang="en-US" sz="950" dirty="0">
                <a:solidFill>
                  <a:schemeClr val="tx2"/>
                </a:solidFill>
              </a:rPr>
              <a:t>json lines</a:t>
            </a:r>
            <a:endParaRPr lang="en-US" sz="950" dirty="0"/>
          </a:p>
        </p:txBody>
      </p:sp>
      <p:sp>
        <p:nvSpPr>
          <p:cNvPr id="29" name="Shape 26"/>
          <p:cNvSpPr/>
          <p:nvPr/>
        </p:nvSpPr>
        <p:spPr>
          <a:xfrm>
            <a:off x="7955280" y="2057400"/>
            <a:ext cx="1097280" cy="0"/>
          </a:xfrm>
          <a:prstGeom prst="line">
            <a:avLst/>
          </a:prstGeom>
          <a:noFill/>
          <a:ln w="15875">
            <a:solidFill>
              <a:schemeClr val="tx1"/>
            </a:solidFill>
            <a:prstDash val="solid"/>
            <a:tailEnd type="triangle"/>
          </a:ln>
        </p:spPr>
      </p:sp>
      <p:sp>
        <p:nvSpPr>
          <p:cNvPr id="30" name="Text 27"/>
          <p:cNvSpPr txBox="1"/>
          <p:nvPr/>
        </p:nvSpPr>
        <p:spPr>
          <a:xfrm>
            <a:off x="7955280" y="1810512"/>
            <a:ext cx="1097280" cy="201168"/>
          </a:xfrm>
          <a:prstGeom prst="rect">
            <a:avLst/>
          </a:prstGeom>
          <a:noFill/>
          <a:ln/>
        </p:spPr>
        <p:txBody>
          <a:bodyPr wrap="square" lIns="0" tIns="0" rIns="0" bIns="0" rtlCol="0" anchor="ctr"/>
          <a:lstStyle/>
          <a:p>
            <a:pPr algn="ctr" indent="0" marL="0">
              <a:buNone/>
            </a:pPr>
            <a:r>
              <a:rPr lang="en-US" sz="950" dirty="0">
                <a:solidFill>
                  <a:schemeClr val="tx2"/>
                </a:solidFill>
              </a:rPr>
              <a:t>all gates hold</a:t>
            </a:r>
            <a:endParaRPr lang="en-US" sz="950" dirty="0"/>
          </a:p>
        </p:txBody>
      </p:sp>
      <p:sp>
        <p:nvSpPr>
          <p:cNvPr id="31" name="Shape 28"/>
          <p:cNvSpPr/>
          <p:nvPr/>
        </p:nvSpPr>
        <p:spPr>
          <a:xfrm>
            <a:off x="7955280" y="3246120"/>
            <a:ext cx="1097280" cy="0"/>
          </a:xfrm>
          <a:prstGeom prst="line">
            <a:avLst/>
          </a:prstGeom>
          <a:noFill/>
          <a:ln w="15875">
            <a:solidFill>
              <a:schemeClr val="tx1"/>
            </a:solidFill>
            <a:prstDash val="solid"/>
            <a:tailEnd type="triangle"/>
          </a:ln>
        </p:spPr>
      </p:sp>
      <p:sp>
        <p:nvSpPr>
          <p:cNvPr id="32" name="Text 29"/>
          <p:cNvSpPr txBox="1"/>
          <p:nvPr/>
        </p:nvSpPr>
        <p:spPr>
          <a:xfrm>
            <a:off x="7955280" y="2999232"/>
            <a:ext cx="1097280" cy="201168"/>
          </a:xfrm>
          <a:prstGeom prst="rect">
            <a:avLst/>
          </a:prstGeom>
          <a:noFill/>
          <a:ln/>
        </p:spPr>
        <p:txBody>
          <a:bodyPr wrap="square" lIns="0" tIns="0" rIns="0" bIns="0" rtlCol="0" anchor="ctr"/>
          <a:lstStyle/>
          <a:p>
            <a:pPr algn="ctr" indent="0" marL="0">
              <a:buNone/>
            </a:pPr>
            <a:r>
              <a:rPr lang="en-US" sz="950" dirty="0">
                <a:solidFill>
                  <a:schemeClr val="tx2"/>
                </a:solidFill>
              </a:rPr>
              <a:t>any gate fails</a:t>
            </a:r>
            <a:endParaRPr lang="en-US" sz="950" dirty="0"/>
          </a:p>
        </p:txBody>
      </p:sp>
      <p:sp>
        <p:nvSpPr>
          <p:cNvPr id="33" name="Text 30"/>
          <p:cNvSpPr txBox="1"/>
          <p:nvPr/>
        </p:nvSpPr>
        <p:spPr>
          <a:xfrm>
            <a:off x="548640" y="4114800"/>
            <a:ext cx="5440680" cy="2103120"/>
          </a:xfrm>
          <a:prstGeom prst="rect">
            <a:avLst/>
          </a:prstGeom>
          <a:noFill/>
          <a:ln/>
        </p:spPr>
        <p:txBody>
          <a:bodyPr wrap="square" lIns="0" tIns="0" rIns="0" bIns="0" rtlCol="0" anchor="t"/>
          <a:lstStyle/>
          <a:p>
            <a:pPr algn="l" indent="0" marL="0">
              <a:lnSpc>
                <a:spcPct val="108000"/>
              </a:lnSpc>
              <a:buNone/>
            </a:pPr>
            <a:r>
              <a:rPr lang="en-US" sz="1150" b="1" dirty="0">
                <a:solidFill>
                  <a:schemeClr val="tx1"/>
                </a:solidFill>
              </a:rPr>
              <a:t>Environment record: </a:t>
            </a:r>
            <a:pPr algn="l" indent="0" marL="0">
              <a:lnSpc>
                <a:spcPct val="108000"/>
              </a:lnSpc>
              <a:buNone/>
            </a:pPr>
            <a:r>
              <a:rPr lang="en-US" sz="1150" dirty="0">
                <a:solidFill>
                  <a:schemeClr val="tx1"/>
                </a:solidFill>
              </a:rPr>
              <a:t>schema_version, sha, qiskit_version, qiskit_source, accelerate_file, accelerate_sha256, python, timestamp, fixtures, seeds, optimization_levels, basis_gates, coupling_map, layout_method, routing_method, translation_method, approximation_degree, qubits_initially_zero, routing_trials. The reporter checks the settings against the values the suite claims, so a run with other settings cannot be reported as this suite's PASS.</a:t>
            </a:r>
            <a:endParaRPr lang="en-US" sz="1150" dirty="0"/>
          </a:p>
        </p:txBody>
      </p:sp>
      <p:sp>
        <p:nvSpPr>
          <p:cNvPr id="34" name="Text 31"/>
          <p:cNvSpPr txBox="1"/>
          <p:nvPr/>
        </p:nvSpPr>
        <p:spPr>
          <a:xfrm>
            <a:off x="6199632" y="4114800"/>
            <a:ext cx="5440680" cy="2103120"/>
          </a:xfrm>
          <a:prstGeom prst="rect">
            <a:avLst/>
          </a:prstGeom>
          <a:noFill/>
          <a:ln/>
        </p:spPr>
        <p:txBody>
          <a:bodyPr wrap="square" lIns="0" tIns="0" rIns="0" bIns="0" rtlCol="0" anchor="t"/>
          <a:lstStyle/>
          <a:p>
            <a:pPr algn="l" indent="0" marL="0">
              <a:lnSpc>
                <a:spcPct val="108000"/>
              </a:lnSpc>
              <a:buNone/>
            </a:pPr>
            <a:r>
              <a:rPr lang="en-US" sz="1150" b="1" dirty="0">
                <a:solidFill>
                  <a:schemeClr val="tx1"/>
                </a:solidFill>
              </a:rPr>
              <a:t>Case record: </a:t>
            </a:r>
            <a:pPr algn="l" indent="0" marL="0">
              <a:lnSpc>
                <a:spcPct val="108000"/>
              </a:lnSpc>
              <a:buNone/>
            </a:pPr>
            <a:r>
              <a:rPr lang="en-US" sz="1150" dirty="0">
                <a:solidFill>
                  <a:schemeClr val="tx1"/>
                </a:solidFill>
              </a:rPr>
              <a:t>fixture, seed, optimization_level, passed, absorption_runs, absorption_moves, absorption_swaps_seen, depth, two_qubit_gates, final_permutation, and error with the exception's repr when something failed. Depth and gate counts are diagnostics only; the suite does not require them to improve.</a:t>
            </a:r>
            <a:endParaRPr lang="en-US" sz="11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Running and extending the suite</a:t>
            </a:r>
            <a:endParaRPr lang="en-US" sz="3000" dirty="0"/>
          </a:p>
        </p:txBody>
      </p:sp>
      <p:sp>
        <p:nvSpPr>
          <p:cNvPr id="4" name="Text 1"/>
          <p:cNvSpPr txBox="1"/>
          <p:nvPr/>
        </p:nvSpPr>
        <p:spPr>
          <a:xfrm>
            <a:off x="548640" y="1371600"/>
            <a:ext cx="11091672" cy="2377440"/>
          </a:xfrm>
          <a:prstGeom prst="rect">
            <a:avLst/>
          </a:prstGeom>
          <a:solidFill>
            <a:schemeClr val="bg2"/>
          </a:solidFill>
          <a:ln w="9525">
            <a:solidFill>
              <a:srgbClr val="C8D0D3"/>
            </a:solidFill>
          </a:ln>
        </p:spPr>
        <p:txBody>
          <a:bodyPr wrap="square" lIns="1524" tIns="1524" rIns="1524" bIns="1524" rtlCol="0" anchor="t"/>
          <a:lstStyle/>
          <a:p>
            <a:pPr algn="l" indent="0" marL="0">
              <a:buNone/>
            </a:pPr>
            <a:r>
              <a:rPr lang="en-US" sz="1050" dirty="0">
                <a:solidFill>
                  <a:schemeClr val="tx1"/>
                </a:solidFill>
                <a:latin typeface="Courier New" pitchFamily="34" charset="0"/>
                <a:ea typeface="Courier New" pitchFamily="34" charset="-122"/>
                <a:cs typeface="Courier New" pitchFamily="34" charset="-120"/>
              </a:rPr>
              <a:t># full matrix: 192 cases, about 25 minutes on this machine</a:t>
            </a: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../qiskit-evolved/.venv/bin/python run_validation.py --qiskit-src ../qiskit-swap-absorption</a:t>
            </a: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../qiskit-evolved/.venv/bin/python make_report.py</a:t>
            </a:r>
            <a:endParaRPr lang="en-US" sz="1050" dirty="0"/>
          </a:p>
          <a:p>
            <a:pPr algn="l" indent="0" marL="0">
              <a:buNone/>
            </a:pP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 smaller runs</a:t>
            </a: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../qiskit-evolved/.venv/bin/python run_validation.py --seeds 0 --optimization-levels 2 --out results/smoke.jsonl</a:t>
            </a: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../qiskit-evolved/.venv/bin/python make_report.py --results results/smoke.jsonl --out smoke.md</a:t>
            </a:r>
            <a:endParaRPr lang="en-US" sz="1050" dirty="0"/>
          </a:p>
          <a:p>
            <a:pPr algn="l" indent="0" marL="0">
              <a:buNone/>
            </a:pP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 rebuild the extension after any Rust change (inside the checkout)</a:t>
            </a: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cd ../qiskit-swap-absorption &amp;&amp; ../qiskit-evolved/.venv/bin/python setup.py build_rust --inplace --release</a:t>
            </a:r>
            <a:endParaRPr lang="en-US" sz="1050" dirty="0"/>
          </a:p>
          <a:p>
            <a:pPr algn="l" indent="0" marL="0">
              <a:buNone/>
            </a:pP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 unit tests of the reporter and the source-tree guards, no Qiskit needed</a:t>
            </a:r>
            <a:endParaRPr lang="en-US" sz="1050" dirty="0"/>
          </a:p>
          <a:p>
            <a:pPr algn="l" indent="0" marL="0">
              <a:buNone/>
            </a:pPr>
            <a:r>
              <a:rPr lang="en-US" sz="1050" dirty="0">
                <a:solidFill>
                  <a:schemeClr val="tx1"/>
                </a:solidFill>
                <a:latin typeface="Courier New" pitchFamily="34" charset="0"/>
                <a:ea typeface="Courier New" pitchFamily="34" charset="-122"/>
                <a:cs typeface="Courier New" pitchFamily="34" charset="-120"/>
              </a:rPr>
              <a:t>python3 -m unittest test_make_report test_run_validation</a:t>
            </a:r>
            <a:endParaRPr lang="en-US" sz="1050" dirty="0"/>
          </a:p>
        </p:txBody>
      </p:sp>
      <p:sp>
        <p:nvSpPr>
          <p:cNvPr id="5" name="Text 2"/>
          <p:cNvSpPr txBox="1"/>
          <p:nvPr/>
        </p:nvSpPr>
        <p:spPr>
          <a:xfrm>
            <a:off x="548640" y="4023360"/>
            <a:ext cx="11091672" cy="219456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b="1" dirty="0">
                <a:solidFill>
                  <a:schemeClr val="tx1"/>
                </a:solidFill>
              </a:rPr>
              <a:t>Both scripts exit non-zero on failure, </a:t>
            </a:r>
            <a:pPr indent="0" marL="0">
              <a:lnSpc>
                <a:spcPct val="105000"/>
              </a:lnSpc>
              <a:spcAft>
                <a:spcPts val="500"/>
              </a:spcAft>
              <a:buNone/>
            </a:pPr>
            <a:r>
              <a:rPr lang="en-US" sz="1250" dirty="0">
                <a:solidFill>
                  <a:schemeClr val="tx1"/>
                </a:solidFill>
              </a:rPr>
              <a:t>so they can gate a CI job directly.</a:t>
            </a:r>
            <a:endParaRPr lang="en-US" sz="1250" dirty="0"/>
          </a:p>
          <a:p>
            <a:pPr marL="342900" indent="-342900">
              <a:lnSpc>
                <a:spcPct val="105000"/>
              </a:lnSpc>
              <a:spcAft>
                <a:spcPts val="500"/>
              </a:spcAft>
              <a:buSzPct val="100000"/>
              <a:buChar char="•"/>
            </a:pPr>
            <a:r>
              <a:rPr lang="en-US" sz="1250" b="1" dirty="0">
                <a:solidFill>
                  <a:schemeClr val="tx1"/>
                </a:solidFill>
              </a:rPr>
              <a:t>Adding a fixture </a:t>
            </a:r>
            <a:pPr indent="0" marL="0">
              <a:lnSpc>
                <a:spcPct val="105000"/>
              </a:lnSpc>
              <a:spcAft>
                <a:spcPts val="500"/>
              </a:spcAft>
              <a:buNone/>
            </a:pPr>
            <a:r>
              <a:rPr lang="en-US" sz="1250" dirty="0">
                <a:solidFill>
                  <a:schemeClr val="tx1"/>
                </a:solidFill>
              </a:rPr>
              <a:t>means adding one builder to fixtures() and updating the fixture count the reporter expects; every builder must be deterministic and end with exactly 10 qubits.</a:t>
            </a:r>
            <a:endParaRPr lang="en-US" sz="1250" dirty="0"/>
          </a:p>
          <a:p>
            <a:pPr marL="342900" indent="-342900">
              <a:lnSpc>
                <a:spcPct val="105000"/>
              </a:lnSpc>
              <a:spcAft>
                <a:spcPts val="500"/>
              </a:spcAft>
              <a:buSzPct val="100000"/>
              <a:buChar char="•"/>
            </a:pPr>
            <a:r>
              <a:rPr lang="en-US" sz="1250" b="1" dirty="0">
                <a:solidFill>
                  <a:schemeClr val="tx1"/>
                </a:solidFill>
              </a:rPr>
              <a:t>Adding a focused check </a:t>
            </a:r>
            <a:pPr indent="0" marL="0">
              <a:lnSpc>
                <a:spcPct val="105000"/>
              </a:lnSpc>
              <a:spcAft>
                <a:spcPts val="500"/>
              </a:spcAft>
              <a:buNone/>
            </a:pPr>
            <a:r>
              <a:rPr lang="en-US" sz="1250" dirty="0">
                <a:solidFill>
                  <a:schemeClr val="tx1"/>
                </a:solidFill>
              </a:rPr>
              <a:t>means adding a name to FEATURE_CHECKS and a matching callable in feature_checks(); the two sequences are zipped strictly so they cannot drift apart.</a:t>
            </a:r>
            <a:endParaRPr lang="en-US" sz="1250" dirty="0"/>
          </a:p>
          <a:p>
            <a:pPr marL="342900" indent="-342900">
              <a:lnSpc>
                <a:spcPct val="105000"/>
              </a:lnSpc>
              <a:spcAft>
                <a:spcPts val="500"/>
              </a:spcAft>
              <a:buSzPct val="100000"/>
              <a:buChar char="•"/>
            </a:pPr>
            <a:r>
              <a:rPr lang="en-US" sz="1250" b="1" dirty="0">
                <a:solidFill>
                  <a:schemeClr val="tx1"/>
                </a:solidFill>
              </a:rPr>
              <a:t>Other levels or layouts </a:t>
            </a:r>
            <a:pPr indent="0" marL="0">
              <a:lnSpc>
                <a:spcPct val="105000"/>
              </a:lnSpc>
              <a:spcAft>
                <a:spcPts val="500"/>
              </a:spcAft>
              <a:buNone/>
            </a:pPr>
            <a:r>
              <a:rPr lang="en-US" sz="1250" dirty="0">
                <a:solidFill>
                  <a:schemeClr val="tx1"/>
                </a:solidFill>
              </a:rPr>
              <a:t>are deliberately rejected by the argument parser and the reporter: the suite's claims are specific to levels 2 and 3 on a trivial 10-qubit line.</a:t>
            </a:r>
            <a:endParaRPr lang="en-US" sz="125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731520"/>
          </a:xfrm>
          <a:prstGeom prst="rect">
            <a:avLst/>
          </a:prstGeom>
          <a:noFill/>
          <a:ln/>
        </p:spPr>
        <p:txBody>
          <a:bodyPr wrap="square" lIns="0" tIns="0" rIns="0" bIns="0" rtlCol="0" anchor="ctr"/>
          <a:lstStyle/>
          <a:p>
            <a:pPr algn="l" indent="0" marL="0">
              <a:buNone/>
            </a:pPr>
            <a:r>
              <a:rPr lang="en-US" sz="3000" b="1" dirty="0">
                <a:solidFill>
                  <a:schemeClr val="tx1"/>
                </a:solidFill>
              </a:rPr>
              <a:t>Review findings, 2026-10-28</a:t>
            </a:r>
            <a:endParaRPr lang="en-US" sz="3000" dirty="0"/>
          </a:p>
        </p:txBody>
      </p:sp>
      <p:sp>
        <p:nvSpPr>
          <p:cNvPr id="4" name="Text 1"/>
          <p:cNvSpPr txBox="1"/>
          <p:nvPr/>
        </p:nvSpPr>
        <p:spPr>
          <a:xfrm>
            <a:off x="548640" y="1371600"/>
            <a:ext cx="5394960" cy="274320"/>
          </a:xfrm>
          <a:prstGeom prst="rect">
            <a:avLst/>
          </a:prstGeom>
          <a:noFill/>
          <a:ln/>
        </p:spPr>
        <p:txBody>
          <a:bodyPr wrap="square" lIns="0" tIns="0" rIns="0" bIns="0" rtlCol="0" anchor="t"/>
          <a:lstStyle/>
          <a:p>
            <a:pPr algn="l" indent="0" marL="0">
              <a:buNone/>
            </a:pPr>
            <a:r>
              <a:rPr lang="en-US" sz="1400" b="1" dirty="0">
                <a:solidFill>
                  <a:schemeClr val="accent1"/>
                </a:solidFill>
              </a:rPr>
              <a:t>Changes made</a:t>
            </a:r>
            <a:endParaRPr lang="en-US" sz="1400" dirty="0"/>
          </a:p>
        </p:txBody>
      </p:sp>
      <p:sp>
        <p:nvSpPr>
          <p:cNvPr id="5" name="Text 2"/>
          <p:cNvSpPr txBox="1"/>
          <p:nvPr/>
        </p:nvSpPr>
        <p:spPr>
          <a:xfrm>
            <a:off x="548640" y="1737360"/>
            <a:ext cx="5394960" cy="29260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50" b="1" dirty="0">
                <a:solidFill>
                  <a:schemeClr val="tx1"/>
                </a:solidFill>
              </a:rPr>
              <a:t>Strict equality confirmed. </a:t>
            </a:r>
            <a:pPr indent="0" marL="0">
              <a:lnSpc>
                <a:spcPct val="105000"/>
              </a:lnSpc>
              <a:spcAft>
                <a:spcPts val="700"/>
              </a:spcAft>
              <a:buNone/>
            </a:pPr>
            <a:r>
              <a:rPr lang="en-US" sz="1250" dirty="0">
                <a:solidFill>
                  <a:schemeClr val="tx1"/>
                </a:solidFill>
              </a:rPr>
              <a:t>No part of the suite uses Operator.equiv; the comment at the comparison now states why == is required.</a:t>
            </a:r>
            <a:endParaRPr lang="en-US" sz="1250" dirty="0"/>
          </a:p>
          <a:p>
            <a:pPr marL="342900" indent="-342900">
              <a:lnSpc>
                <a:spcPct val="105000"/>
              </a:lnSpc>
              <a:spcAft>
                <a:spcPts val="700"/>
              </a:spcAft>
              <a:buSzPct val="100000"/>
              <a:buChar char="•"/>
            </a:pPr>
            <a:r>
              <a:rPr lang="en-US" sz="1250" b="1" dirty="0">
                <a:solidFill>
                  <a:schemeClr val="tx1"/>
                </a:solidFill>
              </a:rPr>
              <a:t>Provenance guards added. </a:t>
            </a:r>
            <a:pPr indent="0" marL="0">
              <a:lnSpc>
                <a:spcPct val="105000"/>
              </a:lnSpc>
              <a:spcAft>
                <a:spcPts val="700"/>
              </a:spcAft>
              <a:buNone/>
            </a:pPr>
            <a:r>
              <a:rPr lang="en-US" sz="1250" dirty="0">
                <a:solidFill>
                  <a:schemeClr val="tx1"/>
                </a:solidFill>
              </a:rPr>
              <a:t>source_revision() in run_validation.py refuses a checkout with uncommitted or untracked changes under the code paths, and an extension older than any Rust source. Six unit tests in test_run_validation.py cover clean trees, untracked files, modified files, a stale extension, a REVISION file and changes outside the code paths.</a:t>
            </a:r>
            <a:endParaRPr lang="en-US" sz="1250" dirty="0"/>
          </a:p>
          <a:p>
            <a:pPr marL="342900" indent="-342900">
              <a:lnSpc>
                <a:spcPct val="105000"/>
              </a:lnSpc>
              <a:spcAft>
                <a:spcPts val="700"/>
              </a:spcAft>
              <a:buSzPct val="100000"/>
              <a:buChar char="•"/>
            </a:pPr>
            <a:r>
              <a:rPr lang="en-US" sz="1250" b="1" dirty="0">
                <a:solidFill>
                  <a:schemeClr val="tx1"/>
                </a:solidFill>
              </a:rPr>
              <a:t>Metrics kept on failure. </a:t>
            </a:r>
            <a:pPr indent="0" marL="0">
              <a:lnSpc>
                <a:spcPct val="105000"/>
              </a:lnSpc>
              <a:spcAft>
                <a:spcPts val="700"/>
              </a:spcAft>
              <a:buNone/>
            </a:pPr>
            <a:r>
              <a:rPr lang="en-US" sz="1250" dirty="0">
                <a:solidFill>
                  <a:schemeClr val="tx1"/>
                </a:solidFill>
              </a:rPr>
              <a:t>Depth and two-qubit counts are now recorded before the unitary comparison, as the docstring promised.</a:t>
            </a:r>
            <a:endParaRPr lang="en-US" sz="1250" dirty="0"/>
          </a:p>
          <a:p>
            <a:pPr marL="342900" indent="-342900">
              <a:lnSpc>
                <a:spcPct val="105000"/>
              </a:lnSpc>
              <a:spcAft>
                <a:spcPts val="700"/>
              </a:spcAft>
              <a:buSzPct val="100000"/>
              <a:buChar char="•"/>
            </a:pPr>
            <a:r>
              <a:rPr lang="en-US" sz="1250" b="1" dirty="0">
                <a:solidFill>
                  <a:schemeClr val="tx1"/>
                </a:solidFill>
              </a:rPr>
              <a:t>README </a:t>
            </a:r>
            <a:pPr indent="0" marL="0">
              <a:lnSpc>
                <a:spcPct val="105000"/>
              </a:lnSpc>
              <a:spcAft>
                <a:spcPts val="700"/>
              </a:spcAft>
              <a:buNone/>
            </a:pPr>
            <a:r>
              <a:rPr lang="en-US" sz="1250" dirty="0">
                <a:solidFill>
                  <a:schemeClr val="tx1"/>
                </a:solidFill>
              </a:rPr>
              <a:t>documents the guards and the rebuild command.</a:t>
            </a:r>
            <a:endParaRPr lang="en-US" sz="1250" dirty="0"/>
          </a:p>
        </p:txBody>
      </p:sp>
      <p:sp>
        <p:nvSpPr>
          <p:cNvPr id="6" name="Text 3"/>
          <p:cNvSpPr txBox="1"/>
          <p:nvPr/>
        </p:nvSpPr>
        <p:spPr>
          <a:xfrm>
            <a:off x="6263640" y="1371600"/>
            <a:ext cx="5394960" cy="274320"/>
          </a:xfrm>
          <a:prstGeom prst="rect">
            <a:avLst/>
          </a:prstGeom>
          <a:noFill/>
          <a:ln/>
        </p:spPr>
        <p:txBody>
          <a:bodyPr wrap="square" lIns="0" tIns="0" rIns="0" bIns="0" rtlCol="0" anchor="t"/>
          <a:lstStyle/>
          <a:p>
            <a:pPr algn="l" indent="0" marL="0">
              <a:buNone/>
            </a:pPr>
            <a:r>
              <a:rPr lang="en-US" sz="1400" b="1" dirty="0">
                <a:solidFill>
                  <a:schemeClr val="accent1"/>
                </a:solidFill>
              </a:rPr>
              <a:t>Observations that needed no change</a:t>
            </a:r>
            <a:endParaRPr lang="en-US" sz="1400" dirty="0"/>
          </a:p>
        </p:txBody>
      </p:sp>
      <p:sp>
        <p:nvSpPr>
          <p:cNvPr id="7" name="Text 4"/>
          <p:cNvSpPr txBox="1"/>
          <p:nvPr/>
        </p:nvSpPr>
        <p:spPr>
          <a:xfrm>
            <a:off x="6263640" y="1737360"/>
            <a:ext cx="5394960" cy="29260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250" dirty="0">
                <a:solidFill>
                  <a:schemeClr val="tx1"/>
                </a:solidFill>
              </a:rPr>
              <a:t>Identical level-2 and level-3 absorption statistics follow from the pinned layout and routing.</a:t>
            </a:r>
            <a:endParaRPr lang="en-US" sz="1250" dirty="0"/>
          </a:p>
          <a:p>
            <a:pPr marL="342900" indent="-342900">
              <a:lnSpc>
                <a:spcPct val="105000"/>
              </a:lnSpc>
              <a:spcAft>
                <a:spcPts val="700"/>
              </a:spcAft>
              <a:buSzPct val="100000"/>
              <a:buChar char="•"/>
            </a:pPr>
            <a:r>
              <a:rPr lang="en-US" sz="1250" dirty="0">
                <a:solidFill>
                  <a:schemeClr val="tx1"/>
                </a:solidFill>
              </a:rPr>
              <a:t>The optimization loop can re-enter the translation stage; the harness already counts executions instead of assuming one.</a:t>
            </a:r>
            <a:endParaRPr lang="en-US" sz="1250" dirty="0"/>
          </a:p>
          <a:p>
            <a:pPr marL="342900" indent="-342900">
              <a:lnSpc>
                <a:spcPct val="105000"/>
              </a:lnSpc>
              <a:spcAft>
                <a:spcPts val="700"/>
              </a:spcAft>
              <a:buSzPct val="100000"/>
              <a:buChar char="•"/>
            </a:pPr>
            <a:r>
              <a:rPr lang="en-US" sz="1250" dirty="0">
                <a:solidFill>
                  <a:schemeClr val="tx1"/>
                </a:solidFill>
              </a:rPr>
              <a:t>Gate counts and depth have no control run without the pass, so they cannot show an improvement; the README says they are not required to.</a:t>
            </a:r>
            <a:endParaRPr lang="en-US" sz="1250" dirty="0"/>
          </a:p>
          <a:p>
            <a:pPr marL="342900" indent="-342900">
              <a:lnSpc>
                <a:spcPct val="105000"/>
              </a:lnSpc>
              <a:spcAft>
                <a:spcPts val="700"/>
              </a:spcAft>
              <a:buSzPct val="100000"/>
              <a:buChar char="•"/>
            </a:pPr>
            <a:r>
              <a:rPr lang="en-US" sz="1250" dirty="0">
                <a:solidFill>
                  <a:schemeClr val="tx1"/>
                </a:solidFill>
              </a:rPr>
              <a:t>.gitignore still lists a qiskit-src/ folder from an earlier layout; harmless.</a:t>
            </a:r>
            <a:endParaRPr lang="en-US" sz="1250" dirty="0"/>
          </a:p>
        </p:txBody>
      </p:sp>
      <p:sp>
        <p:nvSpPr>
          <p:cNvPr id="8" name="Shape 5"/>
          <p:cNvSpPr/>
          <p:nvPr/>
        </p:nvSpPr>
        <p:spPr>
          <a:xfrm>
            <a:off x="548640" y="4754880"/>
            <a:ext cx="11091672" cy="1371600"/>
          </a:xfrm>
          <a:prstGeom prst="roundRect">
            <a:avLst>
              <a:gd name="adj" fmla="val 5333"/>
            </a:avLst>
          </a:prstGeom>
          <a:solidFill>
            <a:schemeClr val="bg2"/>
          </a:solidFill>
          <a:ln w="9525">
            <a:solidFill>
              <a:srgbClr val="C8D0D3"/>
            </a:solidFill>
            <a:prstDash val="solid"/>
          </a:ln>
        </p:spPr>
      </p:sp>
      <p:sp>
        <p:nvSpPr>
          <p:cNvPr id="9" name="Text 6"/>
          <p:cNvSpPr txBox="1"/>
          <p:nvPr/>
        </p:nvSpPr>
        <p:spPr>
          <a:xfrm>
            <a:off x="777240" y="4873752"/>
            <a:ext cx="10607040" cy="274320"/>
          </a:xfrm>
          <a:prstGeom prst="rect">
            <a:avLst/>
          </a:prstGeom>
          <a:noFill/>
          <a:ln/>
        </p:spPr>
        <p:txBody>
          <a:bodyPr wrap="square" lIns="0" tIns="0" rIns="0" bIns="0" rtlCol="0" anchor="t"/>
          <a:lstStyle/>
          <a:p>
            <a:pPr algn="l" indent="0" marL="0">
              <a:buNone/>
            </a:pPr>
            <a:r>
              <a:rPr lang="en-US" sz="1300" b="1" dirty="0">
                <a:solidFill>
                  <a:schemeClr val="accent1"/>
                </a:solidFill>
              </a:rPr>
              <a:t>Working tree after the review, nothing committed</a:t>
            </a:r>
            <a:endParaRPr lang="en-US" sz="1300" dirty="0"/>
          </a:p>
        </p:txBody>
      </p:sp>
      <p:sp>
        <p:nvSpPr>
          <p:cNvPr id="10" name="Text 7"/>
          <p:cNvSpPr txBox="1"/>
          <p:nvPr/>
        </p:nvSpPr>
        <p:spPr>
          <a:xfrm>
            <a:off x="777240" y="5166360"/>
            <a:ext cx="10607040" cy="868680"/>
          </a:xfrm>
          <a:prstGeom prst="rect">
            <a:avLst/>
          </a:prstGeom>
          <a:noFill/>
          <a:ln/>
        </p:spPr>
        <p:txBody>
          <a:bodyPr wrap="square" lIns="0" tIns="0" rIns="0" bIns="0" rtlCol="0" anchor="t"/>
          <a:lstStyle/>
          <a:p>
            <a:pPr algn="l" indent="0" marL="0">
              <a:lnSpc>
                <a:spcPct val="108000"/>
              </a:lnSpc>
              <a:buNone/>
            </a:pPr>
            <a:r>
              <a:rPr lang="en-US" sz="1200" dirty="0">
                <a:solidFill>
                  <a:schemeClr val="tx1"/>
                </a:solidFill>
              </a:rPr>
              <a:t>Modified: README.md, run_validation.py, and results/results.jsonl with report.md (timestamp only). New: test_run_validation.py. The extension binary from before the rebuild is backed up in the session scratchpad; it is identical to the rebuilt one.</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731520"/>
            <a:ext cx="10515600" cy="914400"/>
          </a:xfrm>
          <a:prstGeom prst="rect">
            <a:avLst/>
          </a:prstGeom>
          <a:noFill/>
          <a:ln/>
        </p:spPr>
        <p:txBody>
          <a:bodyPr wrap="square" lIns="0" tIns="0" rIns="0" bIns="0" rtlCol="0" anchor="ctr"/>
          <a:lstStyle/>
          <a:p>
            <a:pPr algn="l" indent="0" marL="0">
              <a:buNone/>
            </a:pPr>
            <a:r>
              <a:rPr lang="en-US" sz="4000" b="1" dirty="0">
                <a:solidFill>
                  <a:schemeClr val="bg1"/>
                </a:solidFill>
              </a:rPr>
              <a:t>Verification performed</a:t>
            </a:r>
            <a:endParaRPr lang="en-US" sz="4000" dirty="0"/>
          </a:p>
        </p:txBody>
      </p:sp>
      <p:sp>
        <p:nvSpPr>
          <p:cNvPr id="3" name="Shape 1"/>
          <p:cNvSpPr/>
          <p:nvPr/>
        </p:nvSpPr>
        <p:spPr>
          <a:xfrm>
            <a:off x="868680" y="1892808"/>
            <a:ext cx="365760" cy="365760"/>
          </a:xfrm>
          <a:prstGeom prst="ellipse">
            <a:avLst/>
          </a:prstGeom>
          <a:solidFill>
            <a:schemeClr val="accent3"/>
          </a:solidFill>
          <a:ln w="6350">
            <a:solidFill>
              <a:schemeClr val="accent3"/>
            </a:solidFill>
            <a:prstDash val="solid"/>
          </a:ln>
        </p:spPr>
      </p:sp>
      <p:sp>
        <p:nvSpPr>
          <p:cNvPr id="4" name="Text 2"/>
          <p:cNvSpPr txBox="1"/>
          <p:nvPr/>
        </p:nvSpPr>
        <p:spPr>
          <a:xfrm>
            <a:off x="868680" y="189280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5" name="Text 3"/>
          <p:cNvSpPr txBox="1"/>
          <p:nvPr/>
        </p:nvSpPr>
        <p:spPr>
          <a:xfrm>
            <a:off x="1417320" y="1874520"/>
            <a:ext cx="9966960" cy="566928"/>
          </a:xfrm>
          <a:prstGeom prst="rect">
            <a:avLst/>
          </a:prstGeom>
          <a:noFill/>
          <a:ln/>
        </p:spPr>
        <p:txBody>
          <a:bodyPr wrap="square" lIns="0" tIns="0" rIns="0" bIns="0" rtlCol="0" anchor="ctr"/>
          <a:lstStyle/>
          <a:p>
            <a:pPr algn="l" indent="0" marL="0">
              <a:lnSpc>
                <a:spcPct val="105000"/>
              </a:lnSpc>
              <a:buNone/>
            </a:pPr>
            <a:r>
              <a:rPr lang="en-US" sz="1450" dirty="0">
                <a:solidFill>
                  <a:schemeClr val="bg1"/>
                </a:solidFill>
              </a:rPr>
              <a:t>Unit tests: 14 of 14 pass on Python 3.9 and on the 3.11 environment.</a:t>
            </a:r>
            <a:endParaRPr lang="en-US" sz="1450" dirty="0"/>
          </a:p>
        </p:txBody>
      </p:sp>
      <p:sp>
        <p:nvSpPr>
          <p:cNvPr id="6" name="Shape 4"/>
          <p:cNvSpPr/>
          <p:nvPr/>
        </p:nvSpPr>
        <p:spPr>
          <a:xfrm>
            <a:off x="868680" y="2551176"/>
            <a:ext cx="365760" cy="365760"/>
          </a:xfrm>
          <a:prstGeom prst="ellipse">
            <a:avLst/>
          </a:prstGeom>
          <a:solidFill>
            <a:schemeClr val="accent3"/>
          </a:solidFill>
          <a:ln w="6350">
            <a:solidFill>
              <a:schemeClr val="accent3"/>
            </a:solidFill>
            <a:prstDash val="solid"/>
          </a:ln>
        </p:spPr>
      </p:sp>
      <p:sp>
        <p:nvSpPr>
          <p:cNvPr id="7" name="Text 5"/>
          <p:cNvSpPr txBox="1"/>
          <p:nvPr/>
        </p:nvSpPr>
        <p:spPr>
          <a:xfrm>
            <a:off x="868680" y="255117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8" name="Text 6"/>
          <p:cNvSpPr txBox="1"/>
          <p:nvPr/>
        </p:nvSpPr>
        <p:spPr>
          <a:xfrm>
            <a:off x="1417320" y="2532888"/>
            <a:ext cx="9966960" cy="566928"/>
          </a:xfrm>
          <a:prstGeom prst="rect">
            <a:avLst/>
          </a:prstGeom>
          <a:noFill/>
          <a:ln/>
        </p:spPr>
        <p:txBody>
          <a:bodyPr wrap="square" lIns="0" tIns="0" rIns="0" bIns="0" rtlCol="0" anchor="ctr"/>
          <a:lstStyle/>
          <a:p>
            <a:pPr algn="l" indent="0" marL="0">
              <a:lnSpc>
                <a:spcPct val="105000"/>
              </a:lnSpc>
              <a:buNone/>
            </a:pPr>
            <a:r>
              <a:rPr lang="en-US" sz="1450" dirty="0">
                <a:solidFill>
                  <a:schemeClr val="bg1"/>
                </a:solidFill>
              </a:rPr>
              <a:t>Extension rebuilt from the current source: byte-identical to the recorded one, SHA-256 627034a6….</a:t>
            </a:r>
            <a:endParaRPr lang="en-US" sz="1450" dirty="0"/>
          </a:p>
        </p:txBody>
      </p:sp>
      <p:sp>
        <p:nvSpPr>
          <p:cNvPr id="9" name="Shape 7"/>
          <p:cNvSpPr/>
          <p:nvPr/>
        </p:nvSpPr>
        <p:spPr>
          <a:xfrm>
            <a:off x="868680" y="3209544"/>
            <a:ext cx="365760" cy="365760"/>
          </a:xfrm>
          <a:prstGeom prst="ellipse">
            <a:avLst/>
          </a:prstGeom>
          <a:solidFill>
            <a:schemeClr val="accent3"/>
          </a:solidFill>
          <a:ln w="6350">
            <a:solidFill>
              <a:schemeClr val="accent3"/>
            </a:solidFill>
            <a:prstDash val="solid"/>
          </a:ln>
        </p:spPr>
      </p:sp>
      <p:sp>
        <p:nvSpPr>
          <p:cNvPr id="10" name="Text 8"/>
          <p:cNvSpPr txBox="1"/>
          <p:nvPr/>
        </p:nvSpPr>
        <p:spPr>
          <a:xfrm>
            <a:off x="868680" y="320954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1" name="Text 9"/>
          <p:cNvSpPr txBox="1"/>
          <p:nvPr/>
        </p:nvSpPr>
        <p:spPr>
          <a:xfrm>
            <a:off x="1417320" y="3191256"/>
            <a:ext cx="9966960" cy="566928"/>
          </a:xfrm>
          <a:prstGeom prst="rect">
            <a:avLst/>
          </a:prstGeom>
          <a:noFill/>
          <a:ln/>
        </p:spPr>
        <p:txBody>
          <a:bodyPr wrap="square" lIns="0" tIns="0" rIns="0" bIns="0" rtlCol="0" anchor="ctr"/>
          <a:lstStyle/>
          <a:p>
            <a:pPr algn="l" indent="0" marL="0">
              <a:lnSpc>
                <a:spcPct val="105000"/>
              </a:lnSpc>
              <a:buNone/>
            </a:pPr>
            <a:r>
              <a:rPr lang="en-US" sz="1450" dirty="0">
                <a:solidFill>
                  <a:schemeClr val="bg1"/>
                </a:solidFill>
              </a:rPr>
              <a:t>Smoke run with the guarded harness, seed 0, level 2: 16 of 16 cases, 2 of 2 negative controls, 10 of 10 focused checks.</a:t>
            </a:r>
            <a:endParaRPr lang="en-US" sz="1450" dirty="0"/>
          </a:p>
        </p:txBody>
      </p:sp>
      <p:sp>
        <p:nvSpPr>
          <p:cNvPr id="12" name="Shape 10"/>
          <p:cNvSpPr/>
          <p:nvPr/>
        </p:nvSpPr>
        <p:spPr>
          <a:xfrm>
            <a:off x="868680" y="3867912"/>
            <a:ext cx="365760" cy="365760"/>
          </a:xfrm>
          <a:prstGeom prst="ellipse">
            <a:avLst/>
          </a:prstGeom>
          <a:solidFill>
            <a:schemeClr val="accent3"/>
          </a:solidFill>
          <a:ln w="6350">
            <a:solidFill>
              <a:schemeClr val="accent3"/>
            </a:solidFill>
            <a:prstDash val="solid"/>
          </a:ln>
        </p:spPr>
      </p:sp>
      <p:sp>
        <p:nvSpPr>
          <p:cNvPr id="13" name="Text 11"/>
          <p:cNvSpPr txBox="1"/>
          <p:nvPr/>
        </p:nvSpPr>
        <p:spPr>
          <a:xfrm>
            <a:off x="868680" y="38679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4" name="Text 12"/>
          <p:cNvSpPr txBox="1"/>
          <p:nvPr/>
        </p:nvSpPr>
        <p:spPr>
          <a:xfrm>
            <a:off x="1417320" y="3849624"/>
            <a:ext cx="9966960" cy="566928"/>
          </a:xfrm>
          <a:prstGeom prst="rect">
            <a:avLst/>
          </a:prstGeom>
          <a:noFill/>
          <a:ln/>
        </p:spPr>
        <p:txBody>
          <a:bodyPr wrap="square" lIns="0" tIns="0" rIns="0" bIns="0" rtlCol="0" anchor="ctr"/>
          <a:lstStyle/>
          <a:p>
            <a:pPr algn="l" indent="0" marL="0">
              <a:lnSpc>
                <a:spcPct val="105000"/>
              </a:lnSpc>
              <a:buNone/>
            </a:pPr>
            <a:r>
              <a:rPr lang="en-US" sz="1450" dirty="0">
                <a:solidFill>
                  <a:schemeClr val="bg1"/>
                </a:solidFill>
              </a:rPr>
              <a:t>Full matrix with the guarded harness and the rebuilt extension: 192 of 192 cases, 4 of 4 controls, 10 of 10 focused checks in 23 minutes; the regenerated results differ from the committed ones only in the run timestamp.</a:t>
            </a:r>
            <a:endParaRPr lang="en-US" sz="1450" dirty="0"/>
          </a:p>
        </p:txBody>
      </p:sp>
      <p:sp>
        <p:nvSpPr>
          <p:cNvPr id="15" name="Shape 13"/>
          <p:cNvSpPr/>
          <p:nvPr/>
        </p:nvSpPr>
        <p:spPr>
          <a:xfrm>
            <a:off x="868680" y="4526280"/>
            <a:ext cx="365760" cy="365760"/>
          </a:xfrm>
          <a:prstGeom prst="ellipse">
            <a:avLst/>
          </a:prstGeom>
          <a:solidFill>
            <a:schemeClr val="accent3"/>
          </a:solidFill>
          <a:ln w="6350">
            <a:solidFill>
              <a:schemeClr val="accent3"/>
            </a:solidFill>
            <a:prstDash val="solid"/>
          </a:ln>
        </p:spPr>
      </p:sp>
      <p:sp>
        <p:nvSpPr>
          <p:cNvPr id="16" name="Text 14"/>
          <p:cNvSpPr txBox="1"/>
          <p:nvPr/>
        </p:nvSpPr>
        <p:spPr>
          <a:xfrm>
            <a:off x="868680" y="45262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7" name="Text 15"/>
          <p:cNvSpPr txBox="1"/>
          <p:nvPr/>
        </p:nvSpPr>
        <p:spPr>
          <a:xfrm>
            <a:off x="1417320" y="4507992"/>
            <a:ext cx="9966960" cy="566928"/>
          </a:xfrm>
          <a:prstGeom prst="rect">
            <a:avLst/>
          </a:prstGeom>
          <a:noFill/>
          <a:ln/>
        </p:spPr>
        <p:txBody>
          <a:bodyPr wrap="square" lIns="0" tIns="0" rIns="0" bIns="0" rtlCol="0" anchor="ctr"/>
          <a:lstStyle/>
          <a:p>
            <a:pPr algn="l" indent="0" marL="0">
              <a:lnSpc>
                <a:spcPct val="105000"/>
              </a:lnSpc>
              <a:buNone/>
            </a:pPr>
            <a:r>
              <a:rPr lang="en-US" sz="1450" dirty="0">
                <a:solidFill>
                  <a:schemeClr val="bg1"/>
                </a:solidFill>
              </a:rPr>
              <a:t>Qiskit's own tests for the pass and the commutation checker: 147 of 147 pass against the rebuilt extension.</a:t>
            </a:r>
            <a:endParaRPr lang="en-US" sz="1450" dirty="0"/>
          </a:p>
        </p:txBody>
      </p:sp>
      <p:sp>
        <p:nvSpPr>
          <p:cNvPr id="18" name="Shape 16"/>
          <p:cNvSpPr/>
          <p:nvPr/>
        </p:nvSpPr>
        <p:spPr>
          <a:xfrm>
            <a:off x="868680" y="5184648"/>
            <a:ext cx="365760" cy="365760"/>
          </a:xfrm>
          <a:prstGeom prst="ellipse">
            <a:avLst/>
          </a:prstGeom>
          <a:solidFill>
            <a:schemeClr val="accent3"/>
          </a:solidFill>
          <a:ln w="6350">
            <a:solidFill>
              <a:schemeClr val="accent3"/>
            </a:solidFill>
            <a:prstDash val="solid"/>
          </a:ln>
        </p:spPr>
      </p:sp>
      <p:sp>
        <p:nvSpPr>
          <p:cNvPr id="19" name="Text 17"/>
          <p:cNvSpPr txBox="1"/>
          <p:nvPr/>
        </p:nvSpPr>
        <p:spPr>
          <a:xfrm>
            <a:off x="868680" y="518464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0" name="Text 18"/>
          <p:cNvSpPr txBox="1"/>
          <p:nvPr/>
        </p:nvSpPr>
        <p:spPr>
          <a:xfrm>
            <a:off x="1417320" y="5166360"/>
            <a:ext cx="9966960" cy="566928"/>
          </a:xfrm>
          <a:prstGeom prst="rect">
            <a:avLst/>
          </a:prstGeom>
          <a:noFill/>
          <a:ln/>
        </p:spPr>
        <p:txBody>
          <a:bodyPr wrap="square" lIns="0" tIns="0" rIns="0" bIns="0" rtlCol="0" anchor="ctr"/>
          <a:lstStyle/>
          <a:p>
            <a:pPr algn="l" indent="0" marL="0">
              <a:lnSpc>
                <a:spcPct val="105000"/>
              </a:lnSpc>
              <a:buNone/>
            </a:pPr>
            <a:r>
              <a:rPr lang="en-US" sz="1450" dirty="0">
                <a:solidFill>
                  <a:schemeClr val="bg1"/>
                </a:solidFill>
              </a:rPr>
              <a:t>Strict-equality copy of test_swap_absorption.py: 43 of 43 pass.</a:t>
            </a:r>
            <a:endParaRPr lang="en-US" sz="1450" dirty="0"/>
          </a:p>
        </p:txBody>
      </p:sp>
      <p:sp>
        <p:nvSpPr>
          <p:cNvPr id="21" name="Text 19"/>
          <p:cNvSpPr txBox="1"/>
          <p:nvPr/>
        </p:nvSpPr>
        <p:spPr>
          <a:xfrm>
            <a:off x="868680" y="6035040"/>
            <a:ext cx="10515600" cy="274320"/>
          </a:xfrm>
          <a:prstGeom prst="rect">
            <a:avLst/>
          </a:prstGeom>
          <a:noFill/>
          <a:ln/>
        </p:spPr>
        <p:txBody>
          <a:bodyPr wrap="square" lIns="0" tIns="0" rIns="0" bIns="0" rtlCol="0" anchor="t"/>
          <a:lstStyle/>
          <a:p>
            <a:pPr algn="l" indent="0" marL="0">
              <a:buNone/>
            </a:pPr>
            <a:r>
              <a:rPr lang="en-US" sz="1100" dirty="0">
                <a:solidFill>
                  <a:schemeClr val="accent5"/>
                </a:solidFill>
              </a:rPr>
              <a:t>Web version of this walkthrough: https://claude.ai/code/artifact/f5786fe6-3312-4bf4-abf9-48815da263f3</a:t>
            </a:r>
            <a:endParaRPr lang="en-US" sz="1100" dirty="0"/>
          </a:p>
        </p:txBody>
      </p:sp>
    </p:spTree>
  </p:cSld>
  <p:clrMapOvr>
    <a:masterClrMapping/>
  </p:clrMapOvr>
</p:sld>
</file>

<file path=ppt/theme/theme1.xml><?xml version="1.0" encoding="utf-8"?>
<a:theme xmlns:a="http://schemas.openxmlformats.org/drawingml/2006/main" name="Swap Absorption">
  <a:themeElements>
    <a:clrScheme name="Swap Absorption">
      <a:dk1>
        <a:srgbClr val="1A1F23"/>
      </a:dk1>
      <a:lt1>
        <a:srgbClr val="FFFFFF"/>
      </a:lt1>
      <a:dk2>
        <a:srgbClr val="5B6670"/>
      </a:dk2>
      <a:lt2>
        <a:srgbClr val="F4F6F5"/>
      </a:lt2>
      <a:accent1>
        <a:srgbClr val="0E6B86"/>
      </a:accent1>
      <a:accent2>
        <a:srgbClr val="B5641B"/>
      </a:accent2>
      <a:accent3>
        <a:srgbClr val="2A7A4B"/>
      </a:accent3>
      <a:accent4>
        <a:srgbClr val="B3261E"/>
      </a:accent4>
      <a:accent5>
        <a:srgbClr val="D8EBF1"/>
      </a:accent5>
      <a:accent6>
        <a:srgbClr val="F7E5D2"/>
      </a:accent6>
      <a:hlink>
        <a:srgbClr val="0E6B86"/>
      </a:hlink>
      <a:folHlink>
        <a:srgbClr val="5B6670"/>
      </a:folHlink>
    </a:clrScheme>
    <a:fontScheme name="Swap Absorp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SWAP-Absorption Validation</dc:title>
  <dc:subject>How the validation harness works and what it proves</dc:subject>
  <dc:creator>ophir</dc:creator>
  <cp:lastModifiedBy>ophir</cp:lastModifiedBy>
  <cp:revision>1</cp:revision>
  <dcterms:created xsi:type="dcterms:W3CDTF">2026-10-28T17:31:31Z</dcterms:created>
  <dcterms:modified xsi:type="dcterms:W3CDTF">2026-10-28T17:31:31Z</dcterms:modified>
</cp:coreProperties>
</file>